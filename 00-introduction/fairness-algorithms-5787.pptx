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5" r:id="rId7"/>
    <p:sldId id="266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2026-10-18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1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f.tools/rent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budget-sua.csariel.xyz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faircourse.csariel.xyz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3F5991-0964-FA2F-54B3-1600A1403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lang="he-IL" sz="8800"/>
            </a:br>
            <a:r>
              <a:rPr lang="he-IL" sz="8800"/>
              <a:t>אלגוריתמים כלכליים</a:t>
            </a:r>
            <a:endParaRPr lang="he-IL" sz="88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3883E05-984F-EE3E-B50E-7370ED033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336729"/>
          </a:xfrm>
        </p:spPr>
        <p:txBody>
          <a:bodyPr>
            <a:noAutofit/>
          </a:bodyPr>
          <a:lstStyle/>
          <a:p>
            <a:pPr algn="ctr"/>
            <a:r>
              <a:rPr lang="he-IL" sz="3600"/>
              <a:t>אראל סגל-הלוי</a:t>
            </a:r>
          </a:p>
          <a:p>
            <a:pPr algn="ctr"/>
            <a:r>
              <a:rPr lang="he-IL" sz="3600"/>
              <a:t>סמסטר חורף ה'תשפ"ז</a:t>
            </a:r>
          </a:p>
        </p:txBody>
      </p:sp>
    </p:spTree>
    <p:extLst>
      <p:ext uri="{BB962C8B-B14F-4D97-AF65-F5344CB8AC3E}">
        <p14:creationId xmlns:p14="http://schemas.microsoft.com/office/powerpoint/2010/main" val="45546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6600" dirty="0"/>
              <a:t>החזון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F5CFB7-B483-68C9-7159-67FA49997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e-IL" sz="4000" dirty="0"/>
              <a:t>כאנשי מדעי-המחשב, אנחנו יכולים לתרום לחברה טובה והוגנת יותר על-ידי פיתוח אלגוריתמים.</a:t>
            </a:r>
          </a:p>
        </p:txBody>
      </p:sp>
    </p:spTree>
    <p:extLst>
      <p:ext uri="{BB962C8B-B14F-4D97-AF65-F5344CB8AC3E}">
        <p14:creationId xmlns:p14="http://schemas.microsoft.com/office/powerpoint/2010/main" val="3630289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CFEF6E00-2D3C-FA6D-8D8D-F014F18BCCFA}"/>
              </a:ext>
            </a:extLst>
          </p:cNvPr>
          <p:cNvSpPr txBox="1">
            <a:spLocks/>
          </p:cNvSpPr>
          <p:nvPr/>
        </p:nvSpPr>
        <p:spPr>
          <a:xfrm>
            <a:off x="6386296" y="2115587"/>
            <a:ext cx="5661204" cy="72234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א</a:t>
            </a:r>
            <a:r>
              <a:rPr lang="he-IL" sz="4000" dirty="0"/>
              <a:t>: משא ומתן / ריב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509E56E6-87C3-AC8D-6355-9BCFC0B3999D}"/>
              </a:ext>
            </a:extLst>
          </p:cNvPr>
          <p:cNvSpPr txBox="1">
            <a:spLocks/>
          </p:cNvSpPr>
          <p:nvPr/>
        </p:nvSpPr>
        <p:spPr>
          <a:xfrm>
            <a:off x="-8128" y="2115587"/>
            <a:ext cx="6364224" cy="43837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ב</a:t>
            </a:r>
            <a:r>
              <a:rPr lang="he-IL" sz="4000" dirty="0"/>
              <a:t>: אלגוריתם:</a:t>
            </a:r>
          </a:p>
          <a:p>
            <a:pPr marL="0" indent="0">
              <a:buFont typeface="Wingdings 2" charset="2"/>
              <a:buNone/>
            </a:pPr>
            <a:r>
              <a:rPr lang="he-IL" sz="3200" dirty="0"/>
              <a:t>כל דייר אומר כמה שווה לו כל חדר.</a:t>
            </a:r>
          </a:p>
          <a:p>
            <a:r>
              <a:rPr lang="he-IL" sz="3200" dirty="0"/>
              <a:t>לכל חדר נקבע </a:t>
            </a:r>
            <a:r>
              <a:rPr lang="he-IL" sz="3200" b="1" dirty="0"/>
              <a:t>מחיר</a:t>
            </a:r>
            <a:r>
              <a:rPr lang="he-IL" sz="3200" dirty="0"/>
              <a:t>, כך שסכום המחירים שווה לשכר הדירה.</a:t>
            </a:r>
          </a:p>
          <a:p>
            <a:r>
              <a:rPr lang="he-IL" sz="3200" dirty="0"/>
              <a:t>כל דייר מקבל </a:t>
            </a:r>
            <a:r>
              <a:rPr lang="he-IL" sz="3200" b="1" dirty="0"/>
              <a:t>חדר</a:t>
            </a:r>
            <a:r>
              <a:rPr lang="he-IL" sz="3200" dirty="0"/>
              <a:t>, שנחשב בעיניו הטוב ביותר במחירים הנתונים.</a:t>
            </a:r>
          </a:p>
          <a:p>
            <a:pPr marL="0" indent="0">
              <a:buNone/>
            </a:pPr>
            <a:r>
              <a:rPr lang="he-IL" sz="3200" dirty="0">
                <a:sym typeface="Wingdings" panose="05000000000000000000" pitchFamily="2" charset="2"/>
              </a:rPr>
              <a:t> </a:t>
            </a:r>
            <a:r>
              <a:rPr lang="he-IL" sz="3200" dirty="0"/>
              <a:t>אף דייר לא מקנא בדיירים האחרים!</a:t>
            </a:r>
          </a:p>
        </p:txBody>
      </p:sp>
      <p:sp>
        <p:nvSpPr>
          <p:cNvPr id="11" name="כותרת 1">
            <a:extLst>
              <a:ext uri="{FF2B5EF4-FFF2-40B4-BE49-F238E27FC236}">
                <a16:creationId xmlns:a16="http://schemas.microsoft.com/office/drawing/2014/main" id="{5CFFEB16-EB94-CA9B-9A5D-7E273508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789604"/>
            <a:ext cx="5721604" cy="970450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 dirty="0"/>
              <a:t>בעיה 1</a:t>
            </a:r>
            <a:r>
              <a:rPr lang="he-IL" sz="6000"/>
              <a:t>: </a:t>
            </a:r>
            <a:br>
              <a:rPr lang="en-US" sz="6000"/>
            </a:br>
            <a:r>
              <a:rPr lang="he-IL" sz="6000"/>
              <a:t>חלוקת שכר דירה</a:t>
            </a:r>
            <a:endParaRPr lang="he-IL" sz="6000" dirty="0"/>
          </a:p>
        </p:txBody>
      </p:sp>
      <p:sp>
        <p:nvSpPr>
          <p:cNvPr id="12" name="מציין מיקום תוכן 2">
            <a:extLst>
              <a:ext uri="{FF2B5EF4-FFF2-40B4-BE49-F238E27FC236}">
                <a16:creationId xmlns:a16="http://schemas.microsoft.com/office/drawing/2014/main" id="{83D6E35B-75CC-8192-32F7-19CC8FB6BAAB}"/>
              </a:ext>
            </a:extLst>
          </p:cNvPr>
          <p:cNvSpPr txBox="1">
            <a:spLocks/>
          </p:cNvSpPr>
          <p:nvPr/>
        </p:nvSpPr>
        <p:spPr>
          <a:xfrm>
            <a:off x="-406400" y="-376973"/>
            <a:ext cx="6502400" cy="262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3600"/>
              <a:t>אתם שוכרים דירה עם שותפים. בדירה יש חדרים בגדלים שונים. כמה ישלם כל דייר?</a:t>
            </a:r>
            <a:endParaRPr lang="he-IL" sz="3600" dirty="0"/>
          </a:p>
        </p:txBody>
      </p:sp>
      <p:pic>
        <p:nvPicPr>
          <p:cNvPr id="13" name="תמונה 12" descr="תמונה שמכילה מלבן&#10;&#10;התיאור נוצר באופן אוטומטי">
            <a:extLst>
              <a:ext uri="{FF2B5EF4-FFF2-40B4-BE49-F238E27FC236}">
                <a16:creationId xmlns:a16="http://schemas.microsoft.com/office/drawing/2014/main" id="{CB444ACF-5101-4C5F-613B-E05319A3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035" y="2907178"/>
            <a:ext cx="3842538" cy="3842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812E4F-D713-1F82-B4DE-56628CE9CD4B}"/>
              </a:ext>
            </a:extLst>
          </p:cNvPr>
          <p:cNvSpPr txBox="1"/>
          <p:nvPr/>
        </p:nvSpPr>
        <p:spPr>
          <a:xfrm>
            <a:off x="4092381" y="6434526"/>
            <a:ext cx="2661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>
                <a:hlinkClick r:id="rId3"/>
              </a:rPr>
              <a:t>https://pref.tools/rent/</a:t>
            </a:r>
            <a:r>
              <a:rPr lang="en-US"/>
              <a:t> </a:t>
            </a:r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B1B59-0DEB-6A4A-6943-5EFDD9727838}"/>
              </a:ext>
            </a:extLst>
          </p:cNvPr>
          <p:cNvSpPr txBox="1"/>
          <p:nvPr/>
        </p:nvSpPr>
        <p:spPr>
          <a:xfrm>
            <a:off x="61043" y="6434526"/>
            <a:ext cx="3321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/>
              <a:t>http://spliddit.org/apps/rent</a:t>
            </a:r>
          </a:p>
        </p:txBody>
      </p:sp>
    </p:spTree>
    <p:extLst>
      <p:ext uri="{BB962C8B-B14F-4D97-AF65-F5344CB8AC3E}">
        <p14:creationId xmlns:p14="http://schemas.microsoft.com/office/powerpoint/2010/main" val="102029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60959"/>
            <a:ext cx="5721604" cy="1759713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/>
              <a:t>בעיה 2: </a:t>
            </a:r>
            <a:br>
              <a:rPr lang="en-US" sz="6000" dirty="0"/>
            </a:br>
            <a:r>
              <a:rPr lang="he-IL" sz="6000" dirty="0"/>
              <a:t>בחירת וועדה</a:t>
            </a: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44C39810-A0E3-8D0E-78D6-72F80A394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6400" y="-376973"/>
            <a:ext cx="6502400" cy="26256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3600" dirty="0"/>
              <a:t>איך לבחור וועדה (כגון: הוועדה לבחירת שופטים)</a:t>
            </a:r>
            <a:r>
              <a:rPr lang="en-US" sz="3600" dirty="0"/>
              <a:t> </a:t>
            </a:r>
            <a:r>
              <a:rPr lang="he-IL" sz="3600" dirty="0"/>
              <a:t>כך שיהיה ייצוג הוגן לכולם?</a:t>
            </a: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CFEF6E00-2D3C-FA6D-8D8D-F014F18BCCFA}"/>
              </a:ext>
            </a:extLst>
          </p:cNvPr>
          <p:cNvSpPr txBox="1">
            <a:spLocks/>
          </p:cNvSpPr>
          <p:nvPr/>
        </p:nvSpPr>
        <p:spPr>
          <a:xfrm>
            <a:off x="6356096" y="2293146"/>
            <a:ext cx="5661204" cy="72234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א</a:t>
            </a:r>
            <a:r>
              <a:rPr lang="he-IL" sz="4000" dirty="0"/>
              <a:t>: משא ומתן / ריב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509E56E6-87C3-AC8D-6355-9BCFC0B3999D}"/>
              </a:ext>
            </a:extLst>
          </p:cNvPr>
          <p:cNvSpPr txBox="1">
            <a:spLocks/>
          </p:cNvSpPr>
          <p:nvPr/>
        </p:nvSpPr>
        <p:spPr>
          <a:xfrm>
            <a:off x="0" y="2248636"/>
            <a:ext cx="6388608" cy="43837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ב</a:t>
            </a:r>
            <a:r>
              <a:rPr lang="he-IL" sz="4000" dirty="0"/>
              <a:t>: אלגוריתם:</a:t>
            </a:r>
          </a:p>
          <a:p>
            <a:pPr marL="0" indent="0">
              <a:buFont typeface="Wingdings 2" charset="2"/>
              <a:buNone/>
            </a:pPr>
            <a:r>
              <a:rPr lang="he-IL" sz="3200" dirty="0"/>
              <a:t>כל אזרח מסמן את המועמד/ים המייצגים אותו.</a:t>
            </a:r>
          </a:p>
          <a:p>
            <a:r>
              <a:rPr lang="he-IL" sz="3200" dirty="0"/>
              <a:t>נבחרת וועדה בגודל </a:t>
            </a:r>
            <a:r>
              <a:rPr lang="en-US" sz="3200" i="1" dirty="0"/>
              <a:t>n</a:t>
            </a:r>
            <a:r>
              <a:rPr lang="he-IL" sz="3200" dirty="0"/>
              <a:t>, כך שלכל קבוצה בגודל </a:t>
            </a:r>
            <a:r>
              <a:rPr lang="en-US" sz="3200" i="1" dirty="0"/>
              <a:t>k</a:t>
            </a:r>
            <a:r>
              <a:rPr lang="en-US" sz="3200" dirty="0"/>
              <a:t>/</a:t>
            </a:r>
            <a:r>
              <a:rPr lang="en-US" sz="3200" i="1" dirty="0"/>
              <a:t>n</a:t>
            </a:r>
            <a:r>
              <a:rPr lang="he-IL" sz="3200" dirty="0"/>
              <a:t> </a:t>
            </a:r>
            <a:r>
              <a:rPr lang="he-IL" sz="3200" dirty="0" err="1"/>
              <a:t>מהאוכלוסיה</a:t>
            </a:r>
            <a:r>
              <a:rPr lang="he-IL" sz="3200" dirty="0"/>
              <a:t>, יש </a:t>
            </a:r>
            <a:r>
              <a:rPr lang="he-IL" sz="3200" b="1" dirty="0"/>
              <a:t>לפחות </a:t>
            </a:r>
            <a:r>
              <a:rPr lang="en-US" sz="3200" b="1" dirty="0"/>
              <a:t>k</a:t>
            </a:r>
            <a:r>
              <a:rPr lang="he-IL" sz="3200" b="1" dirty="0"/>
              <a:t> נציגים בוועדה</a:t>
            </a:r>
            <a:r>
              <a:rPr lang="he-IL" sz="3200" dirty="0"/>
              <a:t>.</a:t>
            </a:r>
          </a:p>
          <a:p>
            <a:pPr marL="0" indent="0">
              <a:buNone/>
            </a:pPr>
            <a:r>
              <a:rPr lang="he-IL" sz="3200" dirty="0">
                <a:sym typeface="Wingdings" panose="05000000000000000000" pitchFamily="2" charset="2"/>
              </a:rPr>
              <a:t> </a:t>
            </a:r>
            <a:r>
              <a:rPr lang="he-IL" sz="3200" dirty="0"/>
              <a:t>כל קבוצה מיוצגת בהתאם לגודלה.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B031D-DB9A-4FB8-6B30-772812298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561" y="2855020"/>
            <a:ext cx="4574834" cy="400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5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60959"/>
            <a:ext cx="5721604" cy="1759713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/>
              <a:t>בעיה 3: </a:t>
            </a:r>
            <a:br>
              <a:rPr lang="en-US" sz="6000" dirty="0"/>
            </a:br>
            <a:r>
              <a:rPr lang="he-IL" sz="6000" dirty="0"/>
              <a:t>תקציב המדינה</a:t>
            </a: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44C39810-A0E3-8D0E-78D6-72F80A394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40"/>
            <a:ext cx="6136640" cy="1835949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he-IL" sz="3600" dirty="0"/>
              <a:t>איך לחלק את תקציב המדינה כך שכל האנשים והמגזרים ירגישו שהם קיבלו חלק הוגן?</a:t>
            </a: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CFEF6E00-2D3C-FA6D-8D8D-F014F18BCCFA}"/>
              </a:ext>
            </a:extLst>
          </p:cNvPr>
          <p:cNvSpPr txBox="1">
            <a:spLocks/>
          </p:cNvSpPr>
          <p:nvPr/>
        </p:nvSpPr>
        <p:spPr>
          <a:xfrm>
            <a:off x="6319520" y="2254252"/>
            <a:ext cx="5661204" cy="72234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א</a:t>
            </a:r>
            <a:r>
              <a:rPr lang="he-IL" sz="4000" dirty="0"/>
              <a:t>: משא ומתן / ריב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509E56E6-87C3-AC8D-6355-9BCFC0B3999D}"/>
              </a:ext>
            </a:extLst>
          </p:cNvPr>
          <p:cNvSpPr txBox="1">
            <a:spLocks/>
          </p:cNvSpPr>
          <p:nvPr/>
        </p:nvSpPr>
        <p:spPr>
          <a:xfrm>
            <a:off x="4064" y="2248636"/>
            <a:ext cx="5835905" cy="43837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ב</a:t>
            </a:r>
            <a:r>
              <a:rPr lang="he-IL" sz="4000" dirty="0"/>
              <a:t>: אלגוריתם:</a:t>
            </a:r>
          </a:p>
          <a:p>
            <a:pPr marL="0" indent="0">
              <a:buFont typeface="Wingdings 2" charset="2"/>
              <a:buNone/>
            </a:pPr>
            <a:r>
              <a:rPr lang="he-IL" sz="3200" dirty="0"/>
              <a:t>כל אזרח / חבר-כנסת אומר מה התקציב הרצוי בעיניו.</a:t>
            </a:r>
          </a:p>
          <a:p>
            <a:pPr lvl="1"/>
            <a:r>
              <a:rPr lang="he-IL" sz="3000" dirty="0"/>
              <a:t>נקבע תקציב לכל סעיף, כך שכל קבוצה</a:t>
            </a:r>
            <a:r>
              <a:rPr lang="he-IL" sz="3000" b="1" dirty="0"/>
              <a:t> </a:t>
            </a:r>
            <a:r>
              <a:rPr lang="he-IL" sz="3000" dirty="0"/>
              <a:t>של אזרחים מקבלת תקציב לנושאים החשובים לה, </a:t>
            </a:r>
            <a:r>
              <a:rPr lang="he-IL" sz="3000" b="1" dirty="0"/>
              <a:t>בהתאם לגודל הקבוצה</a:t>
            </a:r>
            <a:r>
              <a:rPr lang="he-IL" sz="3000" dirty="0"/>
              <a:t>.</a:t>
            </a:r>
          </a:p>
          <a:p>
            <a:pPr marL="400050" lvl="1" indent="0">
              <a:buNone/>
            </a:pPr>
            <a:r>
              <a:rPr lang="he-IL" sz="3000" dirty="0">
                <a:sym typeface="Wingdings" panose="05000000000000000000" pitchFamily="2" charset="2"/>
              </a:rPr>
              <a:t> </a:t>
            </a:r>
            <a:r>
              <a:rPr lang="he-IL" sz="3000" dirty="0"/>
              <a:t>אף מגזר לא מקופח ולא מנוצל.</a:t>
            </a:r>
          </a:p>
        </p:txBody>
      </p:sp>
      <p:pic>
        <p:nvPicPr>
          <p:cNvPr id="4" name="תמונה 3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C783674C-9360-7EAE-D2FE-9D5A6337C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94" y="3117496"/>
            <a:ext cx="5598208" cy="1289177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AA859B28-5D07-52FD-1105-469333126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19" y="3762084"/>
            <a:ext cx="3830958" cy="317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1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75C9-D2A2-79DF-85BE-82144964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5138AA-3FCF-A4E9-C2DB-68A8355F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60959"/>
            <a:ext cx="5721604" cy="1759713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>
                <a:solidFill>
                  <a:schemeClr val="tx1"/>
                </a:solidFill>
              </a:rPr>
              <a:t>יישום 1:</a:t>
            </a:r>
            <a:r>
              <a:rPr lang="en-US" sz="6000">
                <a:solidFill>
                  <a:schemeClr val="tx1"/>
                </a:solidFill>
              </a:rPr>
              <a:t> </a:t>
            </a:r>
            <a:r>
              <a:rPr lang="he-IL" sz="6000">
                <a:solidFill>
                  <a:schemeClr val="tx1"/>
                </a:solidFill>
              </a:rPr>
              <a:t>תקציב אגודת הסטודנטים</a:t>
            </a:r>
            <a:endParaRPr lang="he-IL" sz="6000" dirty="0">
              <a:solidFill>
                <a:schemeClr val="tx1"/>
              </a:solidFill>
            </a:endParaRP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BFE9FE9E-5073-A851-CF43-176DBDB99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40"/>
            <a:ext cx="6136640" cy="1835949"/>
          </a:xfrm>
        </p:spPr>
        <p:txBody>
          <a:bodyPr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he-IL" sz="3600" dirty="0"/>
              <a:t>איך לחלק את </a:t>
            </a:r>
            <a:r>
              <a:rPr lang="he-IL" sz="3600"/>
              <a:t>תקציב </a:t>
            </a:r>
            <a:r>
              <a:rPr lang="he-IL" sz="3600">
                <a:solidFill>
                  <a:srgbClr val="FFFF00"/>
                </a:solidFill>
              </a:rPr>
              <a:t>אגודת הסטודנטים באריאל</a:t>
            </a:r>
            <a:r>
              <a:rPr lang="he-IL" sz="3600"/>
              <a:t> </a:t>
            </a:r>
            <a:r>
              <a:rPr lang="he-IL" sz="3600" dirty="0"/>
              <a:t>כך </a:t>
            </a:r>
            <a:r>
              <a:rPr lang="he-IL" sz="3600"/>
              <a:t>שכל הסטודנטים והמגזרים </a:t>
            </a:r>
            <a:r>
              <a:rPr lang="he-IL" sz="3600" dirty="0"/>
              <a:t>ירגישו שהם קיבלו חלק הוגן?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92AE4-6EB9-8C59-E1C2-B13CF72CB0D3}"/>
              </a:ext>
            </a:extLst>
          </p:cNvPr>
          <p:cNvSpPr txBox="1"/>
          <p:nvPr/>
        </p:nvSpPr>
        <p:spPr>
          <a:xfrm>
            <a:off x="990602" y="6415678"/>
            <a:ext cx="372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https://budget-sua.csariel.xyz/</a:t>
            </a:r>
            <a:endParaRPr lang="he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ADD122-F3E9-B431-6C04-8871A953F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529" y="2011329"/>
            <a:ext cx="5073172" cy="4708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624D9A-5AD1-53C4-CD57-B3B6F90E2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21" y="2011329"/>
            <a:ext cx="5951621" cy="446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3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B5D0-7325-1440-1456-F1F726A7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69D2CA-B8D1-7E0E-D878-656CF6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60959"/>
            <a:ext cx="5721604" cy="1759713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>
                <a:solidFill>
                  <a:schemeClr val="tx1"/>
                </a:solidFill>
              </a:rPr>
              <a:t>יישום 2:</a:t>
            </a:r>
            <a:r>
              <a:rPr lang="en-US" sz="6000">
                <a:solidFill>
                  <a:schemeClr val="tx1"/>
                </a:solidFill>
              </a:rPr>
              <a:t> </a:t>
            </a:r>
            <a:r>
              <a:rPr lang="he-IL" sz="6000">
                <a:solidFill>
                  <a:schemeClr val="tx1"/>
                </a:solidFill>
              </a:rPr>
              <a:t>חלוקת </a:t>
            </a:r>
            <a:br>
              <a:rPr lang="en-US" sz="6000">
                <a:solidFill>
                  <a:schemeClr val="tx1"/>
                </a:solidFill>
              </a:rPr>
            </a:br>
            <a:r>
              <a:rPr lang="he-IL" sz="6000">
                <a:solidFill>
                  <a:schemeClr val="tx1"/>
                </a:solidFill>
              </a:rPr>
              <a:t>קורסי בחירה</a:t>
            </a:r>
            <a:endParaRPr lang="he-IL" sz="6000" dirty="0">
              <a:solidFill>
                <a:schemeClr val="tx1"/>
              </a:solidFill>
            </a:endParaRP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8EDF3006-01EC-27C9-1BE2-E6E0777CD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40"/>
            <a:ext cx="6136640" cy="1835949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he-IL" sz="3600" dirty="0"/>
              <a:t>איך לחלק </a:t>
            </a:r>
            <a:r>
              <a:rPr lang="he-IL" sz="3600"/>
              <a:t>את </a:t>
            </a:r>
            <a:r>
              <a:rPr lang="he-IL" sz="3600">
                <a:solidFill>
                  <a:srgbClr val="FFFF00"/>
                </a:solidFill>
              </a:rPr>
              <a:t>המקומות בקורסי הבחירה בין הסטודנטים</a:t>
            </a:r>
            <a:r>
              <a:rPr lang="he-IL" sz="3600"/>
              <a:t>, כך שכל הסטודנטים יקבלו </a:t>
            </a:r>
            <a:r>
              <a:rPr lang="he-IL" sz="3600" dirty="0"/>
              <a:t>חלק הוגן?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4F86D-6BA5-7A75-63CC-D86F28529110}"/>
              </a:ext>
            </a:extLst>
          </p:cNvPr>
          <p:cNvSpPr txBox="1"/>
          <p:nvPr/>
        </p:nvSpPr>
        <p:spPr>
          <a:xfrm>
            <a:off x="1116933" y="6461435"/>
            <a:ext cx="372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https://faircourse.csariel.xyz</a:t>
            </a:r>
            <a:r>
              <a:rPr lang="en-US"/>
              <a:t> </a:t>
            </a:r>
            <a:endParaRPr lang="he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9D8571-1B1C-30A2-CA33-692AC0D47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563" y="1979877"/>
            <a:ext cx="5005137" cy="4719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1A0CF8-EDCF-3115-B2A2-EEF39E69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93" y="1979877"/>
            <a:ext cx="5005138" cy="444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0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59"/>
            <a:ext cx="12077700" cy="1759713"/>
          </a:xfrm>
        </p:spPr>
        <p:txBody>
          <a:bodyPr>
            <a:normAutofit fontScale="90000"/>
          </a:bodyPr>
          <a:lstStyle/>
          <a:p>
            <a:pPr algn="ctr"/>
            <a:r>
              <a:rPr lang="he-IL" sz="6000" dirty="0"/>
              <a:t>בעיות נוספות </a:t>
            </a:r>
            <a:br>
              <a:rPr lang="en-US" sz="6000" dirty="0"/>
            </a:br>
            <a:r>
              <a:rPr lang="he-IL" sz="6000" dirty="0"/>
              <a:t>שיש להן פתרון אלגוריתמי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509E56E6-87C3-AC8D-6355-9BCFC0B3999D}"/>
              </a:ext>
            </a:extLst>
          </p:cNvPr>
          <p:cNvSpPr txBox="1">
            <a:spLocks/>
          </p:cNvSpPr>
          <p:nvPr/>
        </p:nvSpPr>
        <p:spPr>
          <a:xfrm>
            <a:off x="0" y="2248636"/>
            <a:ext cx="12001500" cy="43837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4000" dirty="0"/>
              <a:t>חלוקה הוגנת של קרקעות ומשאבי-טבע בין אזרחים;</a:t>
            </a:r>
          </a:p>
          <a:p>
            <a:r>
              <a:rPr lang="he-IL" sz="4000" dirty="0"/>
              <a:t>חלוקה הוגנת של תיקים בין מפלגות הקואליציה – </a:t>
            </a:r>
            <a:br>
              <a:rPr lang="en-US" sz="4000" dirty="0"/>
            </a:br>
            <a:r>
              <a:rPr lang="he-IL" sz="4000" dirty="0"/>
              <a:t>להקים ממשלה בדקה במקום בחודש;</a:t>
            </a:r>
          </a:p>
          <a:p>
            <a:r>
              <a:rPr lang="he-IL" sz="4000" dirty="0"/>
              <a:t>החלפה הוגנת של איברים להשתלה;</a:t>
            </a:r>
          </a:p>
          <a:p>
            <a:r>
              <a:rPr lang="he-IL" sz="4000" dirty="0"/>
              <a:t>...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A0B51457-8959-B860-3BF6-B211404BBCA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2959" y="4151155"/>
            <a:ext cx="3780854" cy="2572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2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6600"/>
              <a:t>האתגר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F5CFB7-B483-68C9-7159-67FA49997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226351"/>
            <a:ext cx="10554574" cy="3902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4000" dirty="0"/>
              <a:t>האלגוריתמים קיימים. </a:t>
            </a:r>
          </a:p>
          <a:p>
            <a:pPr marL="0" indent="0">
              <a:buNone/>
            </a:pPr>
            <a:r>
              <a:rPr lang="he-IL" sz="4000" dirty="0"/>
              <a:t>חלקם כבר מיושמים.</a:t>
            </a:r>
          </a:p>
          <a:p>
            <a:pPr marL="0" indent="0">
              <a:buNone/>
            </a:pPr>
            <a:r>
              <a:rPr lang="he-IL" sz="4000" dirty="0"/>
              <a:t>חלקם עדיין מחכים לאנשים שיישמו אותם.</a:t>
            </a:r>
          </a:p>
          <a:p>
            <a:pPr marL="0" indent="0">
              <a:buNone/>
            </a:pPr>
            <a:r>
              <a:rPr lang="he-IL" sz="4000"/>
              <a:t>אולי </a:t>
            </a:r>
            <a:r>
              <a:rPr lang="he-IL" sz="4000" b="1" dirty="0"/>
              <a:t>אתם</a:t>
            </a:r>
            <a:r>
              <a:rPr lang="he-IL" sz="4000"/>
              <a:t>, לאחר שתלמדו את הקורס, </a:t>
            </a:r>
            <a:br>
              <a:rPr lang="en-US" sz="4000"/>
            </a:br>
            <a:r>
              <a:rPr lang="he-IL" sz="4000"/>
              <a:t>תוכלו </a:t>
            </a:r>
            <a:r>
              <a:rPr lang="he-IL" sz="4000" dirty="0"/>
              <a:t>לעשות זאת?</a:t>
            </a:r>
          </a:p>
        </p:txBody>
      </p:sp>
    </p:spTree>
    <p:extLst>
      <p:ext uri="{BB962C8B-B14F-4D97-AF65-F5344CB8AC3E}">
        <p14:creationId xmlns:p14="http://schemas.microsoft.com/office/powerpoint/2010/main" val="3847776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ראוי לציטוט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TM03457503[[fn=ראוי לציטוט]]</Template>
  <TotalTime>459</TotalTime>
  <Words>385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Century Gothic</vt:lpstr>
      <vt:lpstr>Wingdings</vt:lpstr>
      <vt:lpstr>Wingdings 2</vt:lpstr>
      <vt:lpstr>ראוי לציטוט</vt:lpstr>
      <vt:lpstr> אלגוריתמים כלכליים</vt:lpstr>
      <vt:lpstr>החזון</vt:lpstr>
      <vt:lpstr>בעיה 1:  חלוקת שכר דירה</vt:lpstr>
      <vt:lpstr>בעיה 2:  בחירת וועדה</vt:lpstr>
      <vt:lpstr>בעיה 3:  תקציב המדינה</vt:lpstr>
      <vt:lpstr>יישום 1: תקציב אגודת הסטודנטים</vt:lpstr>
      <vt:lpstr>יישום 2: חלוקת  קורסי בחירה</vt:lpstr>
      <vt:lpstr>בעיות נוספות  שיש להן פתרון אלגוריתמי</vt:lpstr>
      <vt:lpstr>האתגר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אלגוריתמים לחברה הוגנת יותר</dc:title>
  <dc:creator>Erel</dc:creator>
  <cp:lastModifiedBy>Erel Segal-Halevi</cp:lastModifiedBy>
  <cp:revision>66</cp:revision>
  <dcterms:created xsi:type="dcterms:W3CDTF">2023-04-30T09:24:12Z</dcterms:created>
  <dcterms:modified xsi:type="dcterms:W3CDTF">2026-10-18T12:53:48Z</dcterms:modified>
</cp:coreProperties>
</file>