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4" r:id="rId4"/>
    <p:sldMasterId id="2147483696" r:id="rId5"/>
  </p:sldMasterIdLst>
  <p:notesMasterIdLst>
    <p:notesMasterId r:id="rId27"/>
  </p:notesMasterIdLst>
  <p:handoutMasterIdLst>
    <p:handoutMasterId r:id="rId28"/>
  </p:handout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7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0080625" cy="7559675"/>
  <p:notesSz cx="7772400" cy="10058400"/>
  <p:defaultTextStyle>
    <a:defPPr>
      <a:defRPr lang="he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1DE6031-A4E8-4E9B-B324-C14811A253A9}" styleName="">
    <a:wholeTbl>
      <a:tcStyle>
        <a:tcBdr/>
      </a:tcStyle>
    </a:wholeTbl>
    <a:band1H>
      <a:tcStyle>
        <a:tcBdr/>
      </a:tcStyle>
    </a:band1H>
    <a:band1V>
      <a:tcStyle>
        <a:tcBdr/>
      </a:tcStyle>
    </a:band1V>
    <a:lastCol>
      <a:tcStyle>
        <a:tcBdr/>
      </a:tcStyle>
    </a:lastCol>
    <a:firstCol>
      <a:tcStyle>
        <a:tcBdr/>
      </a:tcStyle>
    </a:firstCol>
    <a:lastRow>
      <a:tcStyle>
        <a:tcBdr/>
      </a:tcStyle>
    </a:lastRow>
    <a:firstRow>
      <a:tcStyle>
        <a:tcBdr/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1219" y="-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5C8316-087E-8E6E-4729-32EF0CEA77AA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996" cy="50259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BF22794-0C1D-509A-0102-17752FF58ACC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399368" y="0"/>
            <a:ext cx="3372996" cy="50259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F8DF87-1528-01CC-C216-AF3F50CD9F91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9555647"/>
            <a:ext cx="3372996" cy="50259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29E45F-4ADB-BC7F-1F84-F0FCD8C47B5F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399368" y="9555647"/>
            <a:ext cx="3372996" cy="50259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7330D55D-6720-46E2-9CD5-D6BA3C1D9FEE}" type="slidenum">
              <a:t>‹#›</a:t>
            </a:fld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33108611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B54330-1E34-596F-678B-21C1ECC972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07000" y="812520"/>
            <a:ext cx="5345280" cy="4008959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0906F9-51AE-9A71-85E1-B25D7ADE051E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BC75A43D-74A5-3B7E-2528-09B42F80C254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96480A-780D-507A-AC0D-1E1D071F6094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49861F-1C8A-57DF-9802-E585C1F10FA3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F02830-5EE4-1178-0B7B-8E24CE1EC2B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fld id="{E9649CA9-174D-4EC8-9CFB-5A3B2C0E533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0409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hangingPunct="0">
      <a:tabLst/>
      <a:defRPr lang="en-US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  <a:cs typeface="Nachlieli CLM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3D2D87BB-2346-8FB9-84C9-5741FCBD623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E57BD84-FD18-44F6-996B-6FC4D8B7B495}" type="slidenum"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08E78A-BD54-4D3A-BC3F-F3570A10B55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58025FEB-B264-438F-B42E-DA86FA49ADB9}" type="slidenum">
              <a:t>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EB6CD2-EDB4-6EA5-013F-9203BBE956F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214F38E-2E7D-9D82-53D3-684AC10D1F1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6D7F86-CB18-80A4-86A5-A72974F5C0BE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FACC9927-D746-4EC4-A93A-85616C18B273}" type="slidenum">
              <a:t>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FAE914-6B69-9D33-ADD3-1D6EBCC1FD6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828914-E110-393C-E7B7-BFA5A33F282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9F7E32-60CC-CECE-2CAF-02C1F10568C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5046E6E2-A8A9-4E1F-9EFE-5B4484C4D4D8}" type="slidenum">
              <a:t>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65E44A-BB34-D85F-68AE-631808B9009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10902C-E1F7-59C0-BA9F-7D08402CC16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37C52-13AD-6F7D-80C5-E24E9FE62AE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133E231-5E20-46D6-A906-A21C50BF5381}" type="slidenum">
              <a:t>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CBDAF8-A1FE-4CE4-968E-62BB44402340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08E68B-A98C-3417-06AA-3FAA59A1F59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4406D6-6349-DBEC-988D-C916872D9BB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64E57E09-CCDD-4141-B118-1B7EB065211C}" type="slidenum">
              <a:t>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611809-F29D-C73F-8567-62CD62100D8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BE372E-7199-1D62-A67F-EFD4D3E52E08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F3028C-DAE0-EB15-096A-A379308D544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E05F6E2-A8FB-4DEA-80A7-495E9A7EA44C}" type="slidenum">
              <a:t>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509B25-4272-B904-1CD7-56D2C3AF850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498055-F6A7-4EC6-C34E-210713B2157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21D4FE-3714-8E6D-7DB6-4C7E3288BE8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3463EA2-D4BB-4E74-A429-B3D15C0B0C30}" type="slidenum">
              <a:t>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72ADC9-4E7A-E945-3F2F-27E9BF0F36B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4D8ADA-81F4-D188-433F-3998D32AA01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1473C5-91B6-B589-C26F-54348D312AF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5EE37CA-6601-45D4-A564-E863E66207DC}" type="slidenum">
              <a:t>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EA72FF-BDE2-A71E-ECE1-AA18EB56BFE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8B72ED-01CF-6EE6-794E-8CA2B0A3DBB9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E8D86E-3380-A424-672A-F99097F8227A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8E8CA7F-254A-4733-8B9F-DE7173E8B684}" type="slidenum">
              <a:t>10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A31E92-B75A-F96C-0406-ECF413C3954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20A1BD-BB15-F6E7-87E4-C706E81F84D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FD39E5-EC8E-DC19-F06E-7B4084541E3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8543F1D-3A81-4CCC-A703-C99EA3F62278}" type="slidenum">
              <a:t>11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0330D8-0BAA-1E54-5BAD-C9A9ADEB1CDA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E5F137-022A-9CF7-4F5E-5A19EEEAECF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30348D-D0C3-DEC6-8297-E87EC2FBB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EB651-FFEA-2563-C287-9F9B57698EA3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28543F1D-3A81-4CCC-A703-C99EA3F62278}" type="slidenum">
              <a:t>12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38AD57-BD9C-7B3C-29F6-765A59DF255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595E463-3D75-288F-9007-FAF058FDCDA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4853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6DA7BB-EB2B-C1A4-5AB8-E0E2225E00D4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9442EBF-D784-443B-BAB6-4022FBCC5BE8}" type="slidenum">
              <a:t>13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25485E-AE49-CB33-7722-DA93CCA1BCEC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800216-3434-AAF1-A225-A990D52122F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878D89-9D3C-63CF-1529-0125D6DB2BBF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AF19337C-9A59-476E-99BE-B74FB8B35399}" type="slidenum">
              <a:t>14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A79F17-2FEC-38DB-C57D-B72E3C2C0D51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01028C-8D2B-9514-3D28-BD9B7DCA8B21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CED5D4-9603-5DBD-6C9D-38353525D31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90C85C5A-E7AD-4BDB-9DCC-A9230EBC58EA}" type="slidenum">
              <a:t>15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2C5D67-23BC-8C30-DCB3-180F391D6A75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CC570C-9977-8753-8A5E-77EFD389AC6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12B84C-B9D2-0711-3517-C795722A7F49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56542D89-ECDD-43CB-AAEB-C44992BAE715}" type="slidenum">
              <a:t>16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FEE545-CB22-CCA6-5FD3-5C4E0FF7106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FE088A-BDF5-8DF2-D46D-D8D40AAD7A9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738AA3-8B6C-638F-74AB-A10660E8ED11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06D25475-5487-4ADB-A1A0-824DE55F04FB}" type="slidenum">
              <a:t>17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32B667-55B2-AF2F-8DF1-D19A74DA6554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C3344A-DE87-B916-37E2-03F13A85749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72661B-095F-EBA9-E884-1C41BF1AD78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FD08987-E07B-4A70-9D76-E15E59BB3D97}" type="slidenum">
              <a:t>18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947D3C-3377-37D5-7CC0-AF4EA9EA7A6F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242E43-489B-0F0A-8C8A-6EC42EEC788D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620019-CCFA-E400-A82B-47F0CE631EB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B2074228-9180-49BA-B717-7D98AAC868AD}" type="slidenum">
              <a:t>19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FC7AE1E-06C2-72B3-F95A-0DB2CB53120E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EA8F80-7F83-82B3-DF0C-774D7767812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EFA421-42B2-0DB6-CDBC-60404F4CB466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C4ABC53E-206D-43EB-9389-4FFE4E5558D9}" type="slidenum">
              <a:t>20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5414F9-3C09-B93D-2038-9F2E781735C2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EBDA44-6CBF-577A-6D2B-323E60A5F0E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D47DFC-38D6-7612-95A5-69676E377262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EFAD62D9-196D-4640-9667-818AFAFDECFF}" type="slidenum">
              <a:t>21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7A7079-7E5C-A13D-7228-448E01FB87B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1371600" y="763588"/>
            <a:ext cx="5029200" cy="3771900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D1DD26-4582-8C66-8658-2ABD8818A75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39" y="4777560"/>
            <a:ext cx="6217560" cy="4525920"/>
          </a:xfrm>
        </p:spPr>
        <p:txBody>
          <a:bodyPr vert="horz"/>
          <a:lstStyle/>
          <a:p>
            <a:pPr rtl="0"/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CDB13-BC71-F024-01CA-4435453D44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0BF2A9-ABCF-D2A0-42D3-2D08275D61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D9211-0988-B95C-98F9-EC508E583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7384FE-3700-10E1-D9CD-3A0C49DD2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9677E9-5AC4-AC6E-F5DE-6A9AAD0D1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2233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C793E-E4A2-ED60-1666-571FDA362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001A0-1FF5-3B35-6CEE-E9A353182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F03F6A-7E97-35FD-6F9E-B508D6E40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C9D6A-1F96-D3F2-EB2D-60AAB15BE9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41E4DF-F5ED-0EBF-6AD6-EACFFC7CB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918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DE91C-A3D5-3C54-9A1B-BE30D00F9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2DD4B-AB75-6290-B78B-25C7BDA9D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6F02C-CB0A-242B-B26A-DB6DC6C54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DFFF5-B690-1550-0722-CDC0CD4A1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7331F9-E5A6-7FB2-7E7C-DB09606E4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572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145FD-9E6B-BD0C-C881-C7F65A892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C0FC1-4A12-F933-6C88-D9FA4503F4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79613" y="1768475"/>
            <a:ext cx="3810000" cy="43830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CCF707-F261-A727-7C59-BEB1D34033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42013" y="1768475"/>
            <a:ext cx="3811587" cy="43830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2D71FF-B787-148E-1DA2-00B06452A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1BA8D7-25E2-8AE6-380E-8EECEF806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E28F06-BC99-3D1C-B008-E7B59C30E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578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8FA6C7-13AD-1678-DB6F-7F2ACD469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CF63F8-BF6C-23D9-8356-D3113AB771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9C892D-1094-7682-6BAD-75F49E1189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F888B0-9897-42BB-A0D0-B0CC4C58B7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7BB98E-D349-2CD9-45C6-518F803709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EAA1C3-A77A-CAD7-F6CD-BF46F72A7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969AD8-02BB-58A8-2A26-5C79717D88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94A8C3-EF45-9C50-C789-62E1D9B6F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980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26D1D-51A2-7CFF-B895-DA95CDB638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7D2E352-AF6A-665B-EB6B-317F52C89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99332C-306A-ED03-DF26-6DB00B111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3F70A0-BDC1-D577-968D-CD4DAE5992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7980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E525A6-CC97-18A8-025E-1BEDC91C3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E82D5DF-FF52-AAA4-9B65-D31727147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87A2E8-3083-6F89-60DE-C0C3EB8A4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8247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A7DA1-6ED5-B2F6-5F7C-16BD84A3C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77B147-CEE3-3905-2110-451ED0D88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13A1A8-E419-22F4-518E-AA79E0EFD8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54C334-6860-ED80-AACF-140FBEC61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BD579F-491A-53DA-32D0-A5330B8BA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B80023-1833-1B2F-623F-981D09FBFE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3478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55699-2C37-C996-A238-82F2345FE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C1DE4E-70EE-6B34-9D9A-07F191D3EB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21160C-59C8-4556-9C6C-B084D1AECE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417B77-CA56-811C-B890-A83F258A50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8FFD82-C4A6-F897-EDF3-BE15F40B6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726C85-1917-CD6B-39A7-BB165FE36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835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BD2F2B-393F-EA1E-EDE7-33F066798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FAB33F-A398-808D-B5DB-E5E2FB668D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715C8B-AAF1-69B2-62DE-20D292F0C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33684A-5A5D-5FB7-C09B-9BC36A6CC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FCF7FB-4D69-35D7-0038-5F979C931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182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75E8AE-A123-A78C-FE6C-97799B23E7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837488" y="301625"/>
            <a:ext cx="1952625" cy="58499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2E4E5F-4C2C-4447-D893-BDA1BA9D26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979613" y="301625"/>
            <a:ext cx="5705475" cy="58499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8B446-7B74-6A61-FFEE-73FED5A76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7DA238-07A8-F6D9-84F1-7AD224C9F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C92A5-03FF-A6DD-6FA6-11675A4B3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8678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12E7D-D21D-1255-6116-1B4814C184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7F31E4-308D-26A7-453E-7BCBE5CBE2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F532BF-26D2-51D0-2339-30154F41D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6BD5B3-5CE0-A6BD-6BFF-F67E0BE39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80C0F4-8409-041A-E014-5DE62C7EE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4346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3793A-45B3-99AE-623F-31954B518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7D4F3E-CAD4-5C82-02DB-E50E68E45D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DFED52-EC11-6DFD-663A-06662BE88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1156E-7167-BACF-D098-619935B9A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EDBEAA-7E17-A1E5-F72D-D9D5EFE60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6407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DFA28-AE22-F8C3-1F73-4B414F118C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6DBCB8-B6C8-8FE4-061D-F358B07831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67A0D1-6175-A9A3-B740-5C8D1456B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41EA7-3FB0-6746-64DB-E34BB1609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F84A73-74B8-6BC9-17C0-0A1B58820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94224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35C83-BD35-AF6C-06E1-1E8702BA6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E116E-5034-9189-AB9D-E2023AD457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79613" y="1924050"/>
            <a:ext cx="3811587" cy="47371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502BF8-9F46-3342-1F97-1EED8FA322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43600" y="1924050"/>
            <a:ext cx="3811588" cy="47371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4DFEE6-BBB7-53C2-7D9F-1B819C119E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FD1A2F-5DA1-811A-E599-E27EBEAF3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DDF1F5-584E-D436-E8FB-4BF4AA2E6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3106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BE8E7-1BA5-5D87-408E-4CB5EA80DC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4972F9-41B3-2BED-B1E7-B76663A156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96687F-90B4-58B8-1333-AE24E68C94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225E51-09E0-F662-4241-A347C4798C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427D86-8A84-38B9-895C-0BFCFD5578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4E68E75-FDBE-1357-F722-20CB70504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430CED-5BF2-42C7-1837-E5E93CE0E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BFB268-9E16-503E-4DE0-F1D2CB4F6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8392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7F6A6-07B8-1C59-F493-B3803218C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330B37-E9B0-0FAD-A913-6469A7218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E86F44-60BF-C5BD-2FDE-75E317FE21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BEF782-8E3D-E3B2-A797-3C99263C9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2588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D4D4B2-EB1D-A138-FCD3-BB901A94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E2E134-1400-5C7F-8246-F946DB1DE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FD54AA-0AEE-5C8F-6BFE-625127EB4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9662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E0918-53E7-4F26-12E8-DE533152B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761D5B-B501-61A9-C868-2D9A30E6F6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1A7077-9871-220F-1A45-A0EA2F0C43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3C9D9-44C1-0990-C444-42C7929ACB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E780E0-BBD1-0300-417E-E99628107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5EC0E5-4518-B88E-04CA-607FF8153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77050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3F1C6-8373-3945-47A1-A90758175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7E68C-C226-07AA-3ACF-7487B87B70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2DD0EE-5041-09FC-C57C-460B313DCF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9875FF-F81B-4851-92B2-AE5FEA7D4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91F0CF-5901-B881-1FBE-61EAEA5BD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B7C7BE-D6C5-81B3-9021-27E86898D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5113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EA1B5-7B69-1B4E-8BA9-42CC2EC49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D9D285-57FC-798A-60BC-0A68D7B253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743AB-EB56-D9AD-E50B-EF2655CE8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BBC0F-78D5-7FBC-63A7-3B123FBFFE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9BE700-703F-BD2C-79ED-C92B6B216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9508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CF1703-04B4-51A7-7117-E243EB036B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908925" y="457200"/>
            <a:ext cx="1974850" cy="620395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7257BD-A175-778C-0504-58914E8C54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979613" y="457200"/>
            <a:ext cx="5776912" cy="620395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3F21E8-A5A6-F6E0-DA4B-080E96407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5CE359-A838-5730-D9C9-5E3956CD19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418F8B-AE7F-F0A1-5AC0-ACEB1F62E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3977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2E741-58A9-51EC-5E4D-F9DC87D984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5E35DE-BE70-0A9D-CF1F-5A47FCF016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253772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E23F2-7AFF-0BC0-86C3-C259CE071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9C4D8-0FA0-F34B-841B-097323A1CE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255426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DFC3F2-E227-0114-432C-442F61ED8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682CE-BB5F-4CBF-A082-BAB6195B5D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02736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90226-336D-81F1-C750-AEF3CAC22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F6D0A-A0BA-4FFE-E5DD-672869448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4459287" cy="43846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C8A0C-EAFC-2664-2506-82C22BFB2A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768475"/>
            <a:ext cx="4460875" cy="43846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01797466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1F434F-3B58-0B66-D195-1E4E215145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466784-90C1-9AE5-4399-8DF2AC3EF4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C89F35-23D5-DF4D-4EFD-AD8E687BE1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F5326C-F289-3CAE-E3CD-77FFE5808B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1A10A0-6605-D44C-05B5-D45F000E30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073878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F6D3A-7719-7F36-5C6A-DBA81FAB4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522184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0912121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5746B-246F-4789-77F0-F99BA45BF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E52DDD-C025-2C48-07EF-FF71E7F3B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EA81B5-CDA4-9DA1-C588-51C282E9DC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7107248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9F908-BC52-09DD-B830-6A4C170117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63F91F-5C48-1A71-8BB9-C52C3469C3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6CC6C7-B92C-60F5-A736-1DADC16CD6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4904903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4C7B8-8888-CD98-BA5E-F7EB8309B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DCFE3A-F5F7-FA3E-C500-A882BFBA56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545642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FAA37F-3971-721F-FFC0-AEDD2D0F65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301625"/>
            <a:ext cx="226695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85D899-0AF2-AA83-7587-AA09E2847F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53212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616965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2BEB-B319-1B84-50CF-82A1F8D236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9A98D8-B190-84B8-C7EB-59AFA83F1C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3F0E0E-E239-10EC-8651-180C3C76E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42427-F07F-4004-869E-31B27D62AE65}" type="datetimeFigureOut">
              <a:rPr lang="he-IL" smtClean="0"/>
              <a:t>ט'/אייר/תשפ"ו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13EA84-A331-DDFC-4727-779B62209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BA0BB-9BCE-1226-A157-92434A3B2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5A4990-2629-4B0E-8ACA-D757A72DAF17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8048299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1BC6B-A3B6-3CCC-26E0-1F0D1F49D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5314C-B9A7-5973-F17B-D2F029845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CF7F0-FA07-6CF4-B1A7-9541D2D591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42427-F07F-4004-869E-31B27D62AE65}" type="datetimeFigureOut">
              <a:rPr lang="he-IL" smtClean="0"/>
              <a:t>ט'/אייר/תשפ"ו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901A5B-4510-9362-FF42-7AB005E801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3A91A9-FC27-755B-04FB-AD8DF8DA7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F00C5-CEB0-43AB-A6EE-4C3A01036611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843051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DA8C1-2E22-7E64-AFC2-69334EA86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C5DE7F-7C06-5547-2D7C-57F496B53B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4A4A8-B3E4-1696-49C0-937E5040B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42427-F07F-4004-869E-31B27D62AE65}" type="datetimeFigureOut">
              <a:rPr lang="he-IL" smtClean="0"/>
              <a:t>ט'/אייר/תשפ"ו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804D2C-D06A-2F10-ED4E-FCF863788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5D784F-1861-4D59-4A0A-4595F81D1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5A362F-991D-4CDF-A6DC-89195939F753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5149028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39932-6B8C-DB60-A95D-C3D8A0A43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49D01-9E93-CAAE-A8F9-C3F1B175D7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3738" y="2012950"/>
            <a:ext cx="4270375" cy="47958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125577B-BAB2-6D4B-854E-C7EBF0C1C6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6513" y="2012950"/>
            <a:ext cx="4270375" cy="47958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6DE536-FB22-E476-80F8-B711488C3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42427-F07F-4004-869E-31B27D62AE65}" type="datetimeFigureOut">
              <a:rPr lang="he-IL" smtClean="0"/>
              <a:t>ט'/אייר/תשפ"ו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B9F32A-3167-289F-1431-CC818ADBF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6712AE-842D-CAD6-CC9F-20BA0B41D8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F22387-1715-4312-9D33-7D52143E81D6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3626986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54829-3459-524F-9683-2689A050C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841B47-2D72-A687-52D1-A1740DB0E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A6F876-DD46-83F7-29A6-A11307E4B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5F1A-91CB-785E-232C-9E3E6B0B0B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599D316-5A9D-0B93-1821-9958EA4D1E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50BCF5-98FB-AB44-61EB-971B4C88E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42427-F07F-4004-869E-31B27D62AE65}" type="datetimeFigureOut">
              <a:rPr lang="he-IL" smtClean="0"/>
              <a:t>ט'/אייר/תשפ"ו</a:t>
            </a:fld>
            <a:endParaRPr lang="he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006514-2405-40E3-78A4-341B1249D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322DB19-FA51-A7C9-2C85-4B677A495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F3CAA9-8E73-49A5-BC98-AA1832DBD101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7929817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5CE01-DDAA-F55F-64BA-051026F89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4BE0DE-6EEC-08AE-817A-3002A6997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42427-F07F-4004-869E-31B27D62AE65}" type="datetimeFigureOut">
              <a:rPr lang="he-IL" smtClean="0"/>
              <a:t>ט'/אייר/תשפ"ו</a:t>
            </a:fld>
            <a:endParaRPr lang="he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722177-F734-A8D3-D3AB-5715F1747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7C1D96-4C0C-79BA-E79B-6209D3F28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E576B6-7AC0-49E6-91B3-A7AB6E4E904A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0241498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474117-3225-EE82-9C3B-E7CED15FE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42427-F07F-4004-869E-31B27D62AE65}" type="datetimeFigureOut">
              <a:rPr lang="he-IL" smtClean="0"/>
              <a:t>ט'/אייר/תשפ"ו</a:t>
            </a:fld>
            <a:endParaRPr lang="he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2365EA-FDAE-D8DB-26B7-B937DB8DBB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CF1873-4B74-A9B0-5E46-1A5F63FA2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F1217F-D1C8-4499-80C7-F5467E91C987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0731720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0CA84-6566-7FD4-0420-335F79744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E892E-6EBA-FA26-125F-79E491B2CB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55E109-2785-34CE-164C-8D9B41C413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FAD59C-41B5-2138-F0D3-2AC694250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42427-F07F-4004-869E-31B27D62AE65}" type="datetimeFigureOut">
              <a:rPr lang="he-IL" smtClean="0"/>
              <a:t>ט'/אייר/תשפ"ו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011E01-928D-A32D-6003-8CC4A237FA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737EF0-B464-82E4-9F86-1422D45C4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378BF-4F72-41AF-B0B5-5D8B7CCD9DC9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8503988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6F394-5D82-9FBC-2D8E-90875D610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9365E9-6CF3-B461-2FC5-2EF09C5CC1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AF1CA0-5227-2FA6-1792-37C441103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93CB76-40F5-7296-CE0E-49619B845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42427-F07F-4004-869E-31B27D62AE65}" type="datetimeFigureOut">
              <a:rPr lang="he-IL" smtClean="0"/>
              <a:t>ט'/אייר/תשפ"ו</a:t>
            </a:fld>
            <a:endParaRPr lang="he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788833-7028-FFF9-D015-9025C8FCA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8991B0-D0A9-58D2-EA69-935FBBCBA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2DF6B-C97B-41D5-BC31-21A77BC840B6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6918133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6E46D-5FE2-2272-D057-1085C9F88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863F4F-07DD-1D91-F33A-A3D557F640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92F045-6CFD-DF71-A176-B0FF25F59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42427-F07F-4004-869E-31B27D62AE65}" type="datetimeFigureOut">
              <a:rPr lang="he-IL" smtClean="0"/>
              <a:t>ט'/אייר/תשפ"ו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DD7F7E-20FD-46BE-9FC6-D9561A219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2B5B18-7C67-2AB1-B2E7-1A3092C5D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0AC733-0E96-4B37-A0EC-047F81CD56B1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16906997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623066-0066-2371-6DBF-B5080796F3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213600" y="403225"/>
            <a:ext cx="2173288" cy="640556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E779C1-3363-BD02-C922-6E3A131CEA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93738" y="403225"/>
            <a:ext cx="6367462" cy="640556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D2BEE-5FB7-AB9E-AEBF-4D89BBD2AD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742427-F07F-4004-869E-31B27D62AE65}" type="datetimeFigureOut">
              <a:rPr lang="he-IL" smtClean="0"/>
              <a:t>ט'/אייר/תשפ"ו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24FE6-27CC-488F-9244-153DAD315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C2DCF4-2097-A7B6-043C-E02CE1D87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4FE07B-0545-43B4-B62A-422E81151C1A}" type="slidenum"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59845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3C289-D289-792F-9843-C28C3F76B3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0475" y="1236663"/>
            <a:ext cx="7559675" cy="2632075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2B7068-119E-BF2E-204D-9E6A4D4A3F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60475" y="3970338"/>
            <a:ext cx="7559675" cy="182562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2895B5-12A2-102A-8418-0DC1F0F16F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65C3CFA4-AB3D-44C2-8143-C9A8BD7743C0}" type="slidenum">
              <a:t>‹#›</a:t>
            </a:fld>
            <a:r>
              <a:rPr lang="en-US"/>
              <a:t> Nimrod Talmon</a:t>
            </a:r>
          </a:p>
        </p:txBody>
      </p:sp>
    </p:spTree>
    <p:extLst>
      <p:ext uri="{BB962C8B-B14F-4D97-AF65-F5344CB8AC3E}">
        <p14:creationId xmlns:p14="http://schemas.microsoft.com/office/powerpoint/2010/main" val="351771277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4E100-705C-531B-148C-95CC9A29C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0FF267-D89C-815E-3661-3C9F268A7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47FEE8-5AB0-2827-0984-6DF0BFFE25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4937DB8B-4E81-470E-8EE6-29CFDF31A869}" type="slidenum">
              <a:t>‹#›</a:t>
            </a:fld>
            <a:r>
              <a:rPr lang="en-US"/>
              <a:t> Nimrod Talmon</a:t>
            </a:r>
          </a:p>
        </p:txBody>
      </p:sp>
    </p:spTree>
    <p:extLst>
      <p:ext uri="{BB962C8B-B14F-4D97-AF65-F5344CB8AC3E}">
        <p14:creationId xmlns:p14="http://schemas.microsoft.com/office/powerpoint/2010/main" val="29179405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8F7A2-0FDF-1E63-5715-F4A686F7F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7388" y="1884363"/>
            <a:ext cx="8694737" cy="31448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04EEE5-4746-C5AA-882C-81B1CD5828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8" y="5059363"/>
            <a:ext cx="8694737" cy="16525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A42B6D-8B44-C6B1-916B-C180350AD6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D9A56324-4445-4C80-94B1-1B4B60906909}" type="slidenum">
              <a:t>‹#›</a:t>
            </a:fld>
            <a:r>
              <a:rPr lang="en-US"/>
              <a:t> Nimrod Talmon</a:t>
            </a:r>
          </a:p>
        </p:txBody>
      </p:sp>
    </p:spTree>
    <p:extLst>
      <p:ext uri="{BB962C8B-B14F-4D97-AF65-F5344CB8AC3E}">
        <p14:creationId xmlns:p14="http://schemas.microsoft.com/office/powerpoint/2010/main" val="19385307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AD28C-9EBF-DEF0-034D-9DE00DE7C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ACF9A-CC78-8804-90D1-9A7F893C1C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03238" y="1768475"/>
            <a:ext cx="4459287" cy="43846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A27EF2-8E65-1538-0777-82F8BC5CF9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14925" y="1768475"/>
            <a:ext cx="4460875" cy="43846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99C116-AE44-4821-ADB7-A0C7102AC3A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A58BD92A-9CB4-46D8-911F-639C8ECAEC4B}" type="slidenum">
              <a:t>‹#›</a:t>
            </a:fld>
            <a:r>
              <a:rPr lang="en-US"/>
              <a:t> Nimrod Talmon</a:t>
            </a:r>
          </a:p>
        </p:txBody>
      </p:sp>
    </p:spTree>
    <p:extLst>
      <p:ext uri="{BB962C8B-B14F-4D97-AF65-F5344CB8AC3E}">
        <p14:creationId xmlns:p14="http://schemas.microsoft.com/office/powerpoint/2010/main" val="279462391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F2D4C-DF4E-5CF9-73F5-E2516148A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4737" cy="14605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B8241C-2F23-F2C3-E27C-5B53BFBC8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1852613"/>
            <a:ext cx="426561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4D6B27-24CD-6C84-E2A9-2B9B4D7DD0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3738" y="2760663"/>
            <a:ext cx="426561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CB128A-C697-4AC9-0CB3-FED7600F44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03813" y="1852613"/>
            <a:ext cx="4284662" cy="9080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1C3671-87D0-03AA-F9E1-5D88F771C0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03813" y="2760663"/>
            <a:ext cx="4284662" cy="406241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61D9AF-9C7E-B91F-466E-1C91C1AAEF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3907DFB4-F186-4DE0-A696-873DC5CBBC1B}" type="slidenum">
              <a:t>‹#›</a:t>
            </a:fld>
            <a:r>
              <a:rPr lang="en-US"/>
              <a:t> Nimrod Talmon</a:t>
            </a:r>
          </a:p>
        </p:txBody>
      </p:sp>
    </p:spTree>
    <p:extLst>
      <p:ext uri="{BB962C8B-B14F-4D97-AF65-F5344CB8AC3E}">
        <p14:creationId xmlns:p14="http://schemas.microsoft.com/office/powerpoint/2010/main" val="154442787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000C0-D594-4807-1CF6-6BE7FD9F1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D7CF59-6A74-CA46-9A9B-FB4D9150CE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9FE06B75-9082-4234-BD3E-0022E98BF196}" type="slidenum">
              <a:t>‹#›</a:t>
            </a:fld>
            <a:r>
              <a:rPr lang="en-US"/>
              <a:t> Nimrod Talmon</a:t>
            </a:r>
          </a:p>
        </p:txBody>
      </p:sp>
    </p:spTree>
    <p:extLst>
      <p:ext uri="{BB962C8B-B14F-4D97-AF65-F5344CB8AC3E}">
        <p14:creationId xmlns:p14="http://schemas.microsoft.com/office/powerpoint/2010/main" val="170013371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F710BD-CDC7-76B6-333E-E424DEAFE9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103B5A50-034E-4584-AC3A-C69B12B3A5A8}" type="slidenum">
              <a:t>‹#›</a:t>
            </a:fld>
            <a:r>
              <a:rPr lang="en-US"/>
              <a:t> Nimrod Talmon</a:t>
            </a:r>
          </a:p>
        </p:txBody>
      </p:sp>
    </p:spTree>
    <p:extLst>
      <p:ext uri="{BB962C8B-B14F-4D97-AF65-F5344CB8AC3E}">
        <p14:creationId xmlns:p14="http://schemas.microsoft.com/office/powerpoint/2010/main" val="336069485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14317-6193-E7A1-E6D2-6D3B763CF1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8DCF70-8124-0D8B-F269-7716AA04FE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6EED63-643F-3E96-2BA3-16C25D3DCE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F4B4E3-83FE-E5D9-7756-A45746B8A0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D1F062AC-C0B3-4252-8CB8-C1ADC9B2EB68}" type="slidenum">
              <a:t>‹#›</a:t>
            </a:fld>
            <a:r>
              <a:rPr lang="en-US"/>
              <a:t> Nimrod Talmon</a:t>
            </a:r>
          </a:p>
        </p:txBody>
      </p:sp>
    </p:spTree>
    <p:extLst>
      <p:ext uri="{BB962C8B-B14F-4D97-AF65-F5344CB8AC3E}">
        <p14:creationId xmlns:p14="http://schemas.microsoft.com/office/powerpoint/2010/main" val="2710948710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98830-71A7-B9FA-1E85-D65589F75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503238"/>
            <a:ext cx="3251200" cy="17653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523386-95FB-98D0-9638-BDAD1AC539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86250" y="1089025"/>
            <a:ext cx="5102225" cy="5372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676EED-0561-950B-CC9E-1656CD255C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3738" y="2268538"/>
            <a:ext cx="3251200" cy="42005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BB6B9A-6DA0-DD9A-9152-1FE3F40271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FB90771C-1C69-47B9-A037-69396EF5923C}" type="slidenum">
              <a:t>‹#›</a:t>
            </a:fld>
            <a:r>
              <a:rPr lang="en-US"/>
              <a:t> Nimrod Talmon</a:t>
            </a:r>
          </a:p>
        </p:txBody>
      </p:sp>
    </p:spTree>
    <p:extLst>
      <p:ext uri="{BB962C8B-B14F-4D97-AF65-F5344CB8AC3E}">
        <p14:creationId xmlns:p14="http://schemas.microsoft.com/office/powerpoint/2010/main" val="224150287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D1CF39-3200-AC26-DAEE-6C9F808FD0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ED10A8-D8C2-9798-B0B7-E997D9B9DB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C9EDD4-3522-84F7-A0BE-358B596352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1628B91C-6822-41EC-B576-F971197EC33D}" type="slidenum">
              <a:t>‹#›</a:t>
            </a:fld>
            <a:r>
              <a:rPr lang="en-US"/>
              <a:t> Nimrod Talmon</a:t>
            </a:r>
          </a:p>
        </p:txBody>
      </p:sp>
    </p:spTree>
    <p:extLst>
      <p:ext uri="{BB962C8B-B14F-4D97-AF65-F5344CB8AC3E}">
        <p14:creationId xmlns:p14="http://schemas.microsoft.com/office/powerpoint/2010/main" val="397123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35882A-DB84-D702-3799-2418FD2FDB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308850" y="301625"/>
            <a:ext cx="226695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4BA785-95B4-D100-0C0D-7EA57EA842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38" y="301625"/>
            <a:ext cx="6653212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1ABEF0-9280-6602-EC64-1190DF77A85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/>
            <a:fld id="{CD99624B-86AF-4A58-9B6B-53076B2F9EBF}" type="slidenum">
              <a:t>‹#›</a:t>
            </a:fld>
            <a:r>
              <a:rPr lang="en-US"/>
              <a:t> Nimrod Talmon</a:t>
            </a:r>
          </a:p>
        </p:txBody>
      </p:sp>
    </p:spTree>
    <p:extLst>
      <p:ext uri="{BB962C8B-B14F-4D97-AF65-F5344CB8AC3E}">
        <p14:creationId xmlns:p14="http://schemas.microsoft.com/office/powerpoint/2010/main" val="769555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1">
            <a:extLst>
              <a:ext uri="{FF2B5EF4-FFF2-40B4-BE49-F238E27FC236}">
                <a16:creationId xmlns:a16="http://schemas.microsoft.com/office/drawing/2014/main" id="{F89198A1-EF4E-F0E0-CD10-3D2F231974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35279" y="301680"/>
            <a:ext cx="6154200" cy="12600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ctr">
            <a:noAutofit/>
          </a:bodyPr>
          <a:lstStyle/>
          <a:p>
            <a:pPr lvl="0"/>
            <a:endParaRPr lang="en-US"/>
          </a:p>
        </p:txBody>
      </p:sp>
      <p:sp>
        <p:nvSpPr>
          <p:cNvPr id="3" name="Shape 22">
            <a:extLst>
              <a:ext uri="{FF2B5EF4-FFF2-40B4-BE49-F238E27FC236}">
                <a16:creationId xmlns:a16="http://schemas.microsoft.com/office/drawing/2014/main" id="{74ABC1A4-CC39-E77E-1792-4A0AF33B0B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979640" y="1768320"/>
            <a:ext cx="7773480" cy="43826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Shape 23">
            <a:extLst>
              <a:ext uri="{FF2B5EF4-FFF2-40B4-BE49-F238E27FC236}">
                <a16:creationId xmlns:a16="http://schemas.microsoft.com/office/drawing/2014/main" id="{7C540D45-4B0C-266B-03CC-1F03392B1914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1763640" y="6094439"/>
            <a:ext cx="234612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Shape 24">
            <a:extLst>
              <a:ext uri="{FF2B5EF4-FFF2-40B4-BE49-F238E27FC236}">
                <a16:creationId xmlns:a16="http://schemas.microsoft.com/office/drawing/2014/main" id="{17B85FD4-DD5D-33CA-5ED9-92154B448F20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203720" y="6707160"/>
            <a:ext cx="319356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hape 25">
            <a:extLst>
              <a:ext uri="{FF2B5EF4-FFF2-40B4-BE49-F238E27FC236}">
                <a16:creationId xmlns:a16="http://schemas.microsoft.com/office/drawing/2014/main" id="{89B4655B-E5EC-5E83-FCA8-7601F93E4F3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515360" y="6707160"/>
            <a:ext cx="234612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rtl="0" hangingPunct="0">
        <a:lnSpc>
          <a:spcPct val="100000"/>
        </a:lnSpc>
        <a:buNone/>
        <a:tabLst/>
        <a:defRPr lang="en-US" sz="1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ea typeface="Arial"/>
          <a:cs typeface="Arial"/>
        </a:defRPr>
      </a:lvl1pPr>
    </p:titleStyle>
    <p:bodyStyle>
      <a:lvl1pPr marL="0" marR="0" indent="0" algn="l" hangingPunct="0">
        <a:lnSpc>
          <a:spcPct val="100000"/>
        </a:lnSpc>
        <a:spcBef>
          <a:spcPts val="1417"/>
        </a:spcBef>
        <a:spcAft>
          <a:spcPts val="0"/>
        </a:spcAft>
        <a:tabLst/>
        <a:defRPr lang="en-US" sz="1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cs typeface="Arial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7">
            <a:extLst>
              <a:ext uri="{FF2B5EF4-FFF2-40B4-BE49-F238E27FC236}">
                <a16:creationId xmlns:a16="http://schemas.microsoft.com/office/drawing/2014/main" id="{36FA5F54-E67B-7BCB-15B0-62ADE166E7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200400" y="457200"/>
            <a:ext cx="6683040" cy="126180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ctr">
            <a:noAutofit/>
          </a:bodyPr>
          <a:lstStyle/>
          <a:p>
            <a:pPr lvl="0"/>
            <a:endParaRPr lang="en-US"/>
          </a:p>
        </p:txBody>
      </p:sp>
      <p:sp>
        <p:nvSpPr>
          <p:cNvPr id="3" name="Shape 28">
            <a:extLst>
              <a:ext uri="{FF2B5EF4-FFF2-40B4-BE49-F238E27FC236}">
                <a16:creationId xmlns:a16="http://schemas.microsoft.com/office/drawing/2014/main" id="{3B28ABA9-5527-FA70-F655-AB8249061E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979640" y="1924200"/>
            <a:ext cx="7775280" cy="47368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Shape 29">
            <a:extLst>
              <a:ext uri="{FF2B5EF4-FFF2-40B4-BE49-F238E27FC236}">
                <a16:creationId xmlns:a16="http://schemas.microsoft.com/office/drawing/2014/main" id="{A7EB76C4-963E-4568-4D47-92BEC5BE05B7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1763640" y="6094439"/>
            <a:ext cx="234612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Shape 30">
            <a:extLst>
              <a:ext uri="{FF2B5EF4-FFF2-40B4-BE49-F238E27FC236}">
                <a16:creationId xmlns:a16="http://schemas.microsoft.com/office/drawing/2014/main" id="{B75E99C3-7009-3F3C-521D-A7A20B7EF79B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203720" y="6707160"/>
            <a:ext cx="319356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hape 31">
            <a:extLst>
              <a:ext uri="{FF2B5EF4-FFF2-40B4-BE49-F238E27FC236}">
                <a16:creationId xmlns:a16="http://schemas.microsoft.com/office/drawing/2014/main" id="{AC7BEFC0-719B-02D6-885C-39FBA71D57D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515360" y="6707160"/>
            <a:ext cx="2346120" cy="5187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91440" rIns="91440" bIns="91440" anchor="t" anchorCtr="0">
            <a:noAutofit/>
          </a:bodyPr>
          <a:lstStyle>
            <a:lvl1pPr lvl="0" rtl="0" hangingPunct="0">
              <a:buNone/>
              <a:tabLst/>
              <a:defRPr lang="en-US" sz="2400" kern="1200">
                <a:latin typeface="Liberation Serif" pitchFamily="18"/>
                <a:ea typeface="DejaVu Sans" pitchFamily="2"/>
                <a:cs typeface="DejaVu Sans" pitchFamily="2"/>
              </a:defRPr>
            </a:lvl1pPr>
          </a:lstStyle>
          <a:p>
            <a:pPr lvl="0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0" marR="0" lvl="0" indent="0" algn="l" rtl="0" hangingPunct="0">
        <a:lnSpc>
          <a:spcPct val="100000"/>
        </a:lnSpc>
        <a:buNone/>
        <a:tabLst/>
        <a:defRPr lang="en-US" sz="1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ea typeface="Arial"/>
          <a:cs typeface="Arial"/>
        </a:defRPr>
      </a:lvl1pPr>
    </p:titleStyle>
    <p:bodyStyle>
      <a:lvl1pPr marL="0" marR="0" indent="0" algn="l" hangingPunct="0">
        <a:lnSpc>
          <a:spcPct val="100000"/>
        </a:lnSpc>
        <a:spcBef>
          <a:spcPts val="1417"/>
        </a:spcBef>
        <a:spcAft>
          <a:spcPts val="0"/>
        </a:spcAft>
        <a:tabLst/>
        <a:defRPr lang="en-US" sz="1400" b="0" i="0" u="none" strike="noStrike" kern="1200" cap="none" spc="0" baseline="0">
          <a:ln>
            <a:noFill/>
          </a:ln>
          <a:solidFill>
            <a:srgbClr val="000000"/>
          </a:solidFill>
          <a:highlight>
            <a:scrgbClr r="0" g="0" b="0">
              <a:alpha val="0"/>
            </a:scrgbClr>
          </a:highlight>
          <a:latin typeface="Arial"/>
          <a:cs typeface="Arial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5E6DBD-D103-32D2-3CCF-9557CAA4D78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6361FD-43FA-5E24-2683-FB655058E0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hangingPunct="0">
        <a:tabLst/>
        <a:defRPr lang="en-US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  <a:cs typeface="Nachlieli CLM" pitchFamily="2"/>
        </a:defRPr>
      </a:lvl1pPr>
    </p:titleStyle>
    <p:bodyStyle>
      <a:lvl1pPr hangingPunct="0">
        <a:spcBef>
          <a:spcPts val="1417"/>
        </a:spcBef>
        <a:spcAft>
          <a:spcPts val="0"/>
        </a:spcAft>
        <a:tabLst/>
        <a:defRPr lang="en-US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  <a:cs typeface="Nachlieli CLM" pitchFamily="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6CCCD7-5F9E-428A-94FF-1D270D439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3738" y="403225"/>
            <a:ext cx="8693150" cy="1460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he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DF4725-92D1-0B0E-AD62-A8F0EC696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3738" y="2012950"/>
            <a:ext cx="8693150" cy="47958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he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E89F64-8207-CB56-E431-0E55D82F77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3738" y="7007225"/>
            <a:ext cx="22669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742427-F07F-4004-869E-31B27D62AE65}" type="datetimeFigureOut">
              <a:rPr lang="he-IL" smtClean="0"/>
              <a:t>ט'/אייר/תשפ"ו</a:t>
            </a:fld>
            <a:endParaRPr lang="he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8C07A-6A3D-D0DF-E0CD-55C3F9E0FA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38513" y="7007225"/>
            <a:ext cx="340360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91110-4158-ECBD-F2A9-C7B5087085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119938" y="7007225"/>
            <a:ext cx="2266950" cy="4016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B7076C-BD8C-4106-9566-AA0DBA707767}" type="slidenum"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E183D-800B-B633-7DC4-C8D6DCF50929}"/>
              </a:ext>
            </a:extLst>
          </p:cNvPr>
          <p:cNvSpPr txBox="1"/>
          <p:nvPr/>
        </p:nvSpPr>
        <p:spPr>
          <a:xfrm>
            <a:off x="692640" y="402120"/>
            <a:ext cx="8694360" cy="146088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compatLnSpc="0">
            <a:noAutofit/>
          </a:bodyPr>
          <a:lstStyle/>
          <a:p>
            <a:pPr lvl="0" algn="r" rtl="1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Calibri Light" pitchFamily="18"/>
                <a:ea typeface="Liberation Sans" pitchFamily="34"/>
                <a:cs typeface="DejaVu Sans" pitchFamily="2"/>
              </a:rPr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69C14-1348-2ECC-8D09-0A90B81D9FD8}"/>
              </a:ext>
            </a:extLst>
          </p:cNvPr>
          <p:cNvSpPr txBox="1"/>
          <p:nvPr/>
        </p:nvSpPr>
        <p:spPr>
          <a:xfrm>
            <a:off x="692640" y="2012040"/>
            <a:ext cx="8694360" cy="479628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compatLnSpc="0">
            <a:noAutofit/>
          </a:bodyPr>
          <a:lstStyle/>
          <a:p>
            <a:pPr marL="0" marR="0" lvl="0" indent="0" algn="r" rtl="1" hangingPunct="1">
              <a:lnSpc>
                <a:spcPct val="9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/>
            </a:pPr>
            <a:r>
              <a:rPr lang="en-US" sz="28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Calibri" pitchFamily="18"/>
                <a:ea typeface="Liberation Sans" pitchFamily="34"/>
                <a:cs typeface="DejaVu Sans" pitchFamily="2"/>
              </a:rPr>
              <a:t>Click to edit Master text styles</a:t>
            </a:r>
          </a:p>
          <a:p>
            <a:pPr marL="0" marR="0" lvl="1" indent="0" algn="r" rtl="1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/>
            </a:pPr>
            <a:r>
              <a:rPr lang="en-US" sz="24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Calibri" pitchFamily="18"/>
                <a:ea typeface="Liberation Sans" pitchFamily="34"/>
                <a:cs typeface="DejaVu Sans" pitchFamily="2"/>
              </a:rPr>
              <a:t>Second level</a:t>
            </a:r>
          </a:p>
          <a:p>
            <a:pPr marL="0" marR="0" lvl="2" indent="0" algn="r" rtl="1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/>
            </a:pPr>
            <a:r>
              <a:rPr lang="en-US" sz="20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Calibri" pitchFamily="18"/>
                <a:ea typeface="Liberation Sans" pitchFamily="34"/>
                <a:cs typeface="DejaVu Sans" pitchFamily="2"/>
              </a:rPr>
              <a:t>Third level</a:t>
            </a:r>
          </a:p>
          <a:p>
            <a:pPr marL="0" marR="0" lvl="3" indent="0" algn="r" rtl="1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/>
            </a:pPr>
            <a:r>
              <a:rPr lang="en-US" sz="18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Calibri" pitchFamily="18"/>
                <a:ea typeface="Liberation Sans" pitchFamily="34"/>
                <a:cs typeface="DejaVu Sans" pitchFamily="2"/>
              </a:rPr>
              <a:t>Fourth level</a:t>
            </a:r>
          </a:p>
          <a:p>
            <a:pPr marL="0" marR="0" lvl="4" indent="0" algn="r" rtl="1" hangingPunct="1">
              <a:lnSpc>
                <a:spcPct val="90000"/>
              </a:lnSpc>
              <a:spcBef>
                <a:spcPts val="499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itchFamily="34"/>
              <a:buChar char="•"/>
              <a:tabLst/>
            </a:pPr>
            <a:r>
              <a:rPr lang="en-US" sz="1800" b="0" i="0" u="none" strike="noStrike" kern="1200" cap="none" spc="0" baseline="0">
                <a:ln>
                  <a:noFill/>
                </a:ln>
                <a:solidFill>
                  <a:srgbClr val="000000"/>
                </a:solidFill>
                <a:latin typeface="Calibri" pitchFamily="18"/>
                <a:ea typeface="Liberation Sans" pitchFamily="34"/>
                <a:cs typeface="DejaVu Sans" pitchFamily="2"/>
              </a:rPr>
              <a:t>Fifth level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28EA13A1-1510-EDAF-81DA-1A856A10C0C0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118999" y="393120"/>
            <a:ext cx="2268000" cy="23364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compatLnSpc="0">
            <a:noAutofit/>
          </a:bodyPr>
          <a:lstStyle>
            <a:lvl1pPr marL="0" marR="0" lvl="0" indent="0" algn="r" rtl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B8B8B"/>
                </a:solidFill>
                <a:latin typeface="Calibri" pitchFamily="18"/>
                <a:ea typeface="Liberation Sans" pitchFamily="34"/>
                <a:cs typeface="DejaVu Sans" pitchFamily="2"/>
              </a:defRPr>
            </a:lvl1pPr>
          </a:lstStyle>
          <a:p>
            <a:pPr lvl="0"/>
            <a:fld id="{E455D7DC-E39B-4A0D-AA42-9848184D8582}" type="slidenum">
              <a:t>‹#›</a:t>
            </a:fld>
            <a:r>
              <a:rPr lang="en-US"/>
              <a:t> Nimrod Talmon</a:t>
            </a:r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C08BB566-460C-6C9D-23FB-0EA4584766E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9" y="301320"/>
            <a:ext cx="9072000" cy="1261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EDBBDBE-B5BC-C229-8987-F27FAD32F4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9" y="1768680"/>
            <a:ext cx="9072000" cy="438408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hangingPunct="0">
        <a:tabLst/>
        <a:defRPr lang="en-US" sz="44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  <a:cs typeface="Nachlieli CLM" pitchFamily="2"/>
        </a:defRPr>
      </a:lvl1pPr>
    </p:titleStyle>
    <p:bodyStyle>
      <a:lvl1pPr hangingPunct="0">
        <a:spcBef>
          <a:spcPts val="1417"/>
        </a:spcBef>
        <a:spcAft>
          <a:spcPts val="0"/>
        </a:spcAft>
        <a:tabLst/>
        <a:defRPr lang="en-US" sz="320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  <a:cs typeface="Nachlieli CLM" pitchFamily="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402.15904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45DCE7-AE44-21E7-9F26-2B402B20E0C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450720"/>
            <a:ext cx="10080720" cy="3480479"/>
          </a:xfrm>
        </p:spPr>
        <p:txBody>
          <a:bodyPr vert="horz"/>
          <a:lstStyle/>
          <a:p>
            <a:pPr lvl="0" rtl="1"/>
            <a:r>
              <a:rPr lang="he-IL" sz="5400" b="1">
                <a:solidFill>
                  <a:srgbClr val="0000FF"/>
                </a:solidFill>
                <a:latin typeface="Liberation Sans" pitchFamily="34"/>
                <a:cs typeface="Liberation Sans" pitchFamily="34"/>
              </a:rPr>
              <a:t>מיזוג הצעות תקציב</a:t>
            </a:r>
            <a:br>
              <a:rPr lang="en-US" sz="5400" b="1">
                <a:solidFill>
                  <a:srgbClr val="0000FF"/>
                </a:solidFill>
                <a:latin typeface="Liberation Sans" pitchFamily="34"/>
                <a:cs typeface="Liberation Sans" pitchFamily="34"/>
              </a:rPr>
            </a:br>
            <a:r>
              <a:rPr lang="en-US" sz="5400" b="1">
                <a:solidFill>
                  <a:srgbClr val="0000FF"/>
                </a:solidFill>
                <a:latin typeface="Liberation Sans" pitchFamily="34"/>
                <a:cs typeface="Liberation Sans" pitchFamily="34"/>
              </a:rPr>
              <a:t>budget-proposal aggregation</a:t>
            </a:r>
            <a:br>
              <a:rPr lang="en-US" sz="8000" b="1">
                <a:latin typeface="Liberation Sans" pitchFamily="34"/>
                <a:cs typeface="Liberation Sans" pitchFamily="34"/>
              </a:rPr>
            </a:br>
            <a:br>
              <a:rPr lang="en-US" sz="4000" b="1">
                <a:latin typeface="Liberation Sans" pitchFamily="34"/>
                <a:cs typeface="Liberation Sans" pitchFamily="34"/>
              </a:rPr>
            </a:br>
            <a:r>
              <a:rPr lang="he-IL" sz="4000" b="1">
                <a:latin typeface="Liberation Sans" pitchFamily="34"/>
                <a:cs typeface="Liberation Sans" pitchFamily="34"/>
              </a:rPr>
              <a:t>אראל סגל-הלוי ע"פ:</a:t>
            </a:r>
            <a:br>
              <a:rPr lang="en-US" sz="4000" b="1">
                <a:latin typeface="Liberation Sans" pitchFamily="34"/>
                <a:cs typeface="Liberation Sans" pitchFamily="34"/>
              </a:rPr>
            </a:br>
            <a:r>
              <a:rPr lang="en-US" sz="2800" b="1">
                <a:latin typeface="Liberation Sans" pitchFamily="34"/>
                <a:cs typeface="Liberation Sans" pitchFamily="34"/>
              </a:rPr>
              <a:t>Freeman, Pennock, Peters, Wortman (2021).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39D7C8E1-AD9B-8B53-71C5-ED9ED5055A21}"/>
              </a:ext>
            </a:extLst>
          </p:cNvPr>
          <p:cNvSpPr/>
          <p:nvPr/>
        </p:nvSpPr>
        <p:spPr>
          <a:xfrm>
            <a:off x="1440" y="0"/>
            <a:ext cx="10079280" cy="604080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noFill/>
          <a:ln>
            <a:noFill/>
            <a:prstDash val="solid"/>
          </a:ln>
        </p:spPr>
        <p:txBody>
          <a:bodyPr vert="horz" wrap="square" lIns="90000" tIns="46800" rIns="90000" bIns="46800" anchor="t" anchorCtr="0" compatLnSpc="0">
            <a:spAutoFit/>
          </a:bodyPr>
          <a:lstStyle/>
          <a:p>
            <a:pPr marL="0" marR="0" lvl="0" indent="0" algn="ctr" rtl="1" hangingPunct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Guttman Stam" pitchFamily="18"/>
                <a:ea typeface="Guttman Stam" pitchFamily="2"/>
                <a:cs typeface="Guttman Stam" pitchFamily="2"/>
              </a:rPr>
              <a:t>"וּנְחַלְתֶּם אוֹתָהּ אִישׁ כְּאָחִיו"</a:t>
            </a:r>
            <a:r>
              <a:rPr lang="he-IL" sz="1200" b="0" i="0" u="none" strike="noStrike" kern="1200" cap="none">
                <a:ln>
                  <a:noFill/>
                </a:ln>
                <a:latin typeface="Guttman Stam" pitchFamily="18"/>
                <a:ea typeface="Guttman Stam" pitchFamily="2"/>
                <a:cs typeface="Guttman Stam" pitchFamily="2"/>
              </a:rPr>
              <a:t> (יחזקאל מז 14)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D6E13FE4-D941-E3FB-4DA2-8D4AC9844829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0" y="4207320"/>
            <a:ext cx="10080720" cy="3352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C061A-F4E6-01BD-26E4-CA2E842B404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74320" y="-91440"/>
            <a:ext cx="960120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הקלט: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C90E4-71ED-0C71-53AD-D5737E3DD942}"/>
              </a:ext>
            </a:extLst>
          </p:cNvPr>
          <p:cNvSpPr txBox="1"/>
          <p:nvPr/>
        </p:nvSpPr>
        <p:spPr>
          <a:xfrm>
            <a:off x="457200" y="1188719"/>
            <a:ext cx="8694360" cy="479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compatLnSpc="0">
            <a:noAutofit/>
          </a:bodyPr>
          <a:lstStyle/>
          <a:p>
            <a:pPr marL="0" marR="0" lvl="0" indent="0" algn="l" hangingPunct="0">
              <a:spcBef>
                <a:spcPts val="2750"/>
              </a:spcBef>
              <a:spcAft>
                <a:spcPts val="0"/>
              </a:spcAft>
              <a:buNone/>
              <a:tabLst/>
            </a:pPr>
            <a:endParaRPr lang="en-US" sz="3000" b="0" i="0" u="none" strike="noStrike" kern="1200" spc="0">
              <a:ln>
                <a:noFill/>
              </a:ln>
              <a:solidFill>
                <a:srgbClr val="000000"/>
              </a:solidFill>
              <a:latin typeface="ＭＳ Ｐゴシック" pitchFamily="18"/>
              <a:ea typeface="Liberation Sans" pitchFamily="34"/>
              <a:cs typeface="DejaVu 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0FAF53-F7CB-4218-592E-AB11D40D6F10}"/>
              </a:ext>
            </a:extLst>
          </p:cNvPr>
          <p:cNvSpPr txBox="1"/>
          <p:nvPr/>
        </p:nvSpPr>
        <p:spPr>
          <a:xfrm>
            <a:off x="180709" y="695849"/>
            <a:ext cx="9694811" cy="3305541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כסף בקופה: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C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4000" b="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נושאים: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1,...,m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(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סעיפי תקציב</a:t>
            </a:r>
            <a:r>
              <a:rPr lang="he-IL" sz="4000"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).</a:t>
            </a:r>
            <a:endParaRPr lang="en-US" sz="4000" b="0" i="0" u="none" strike="noStrike" kern="1200" cap="none">
              <a:ln>
                <a:noFill/>
              </a:ln>
              <a:solidFill>
                <a:srgbClr val="00CC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אזרחים: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1,...,n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66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4000" b="0" i="0" u="none" strike="noStrike" kern="1200" cap="none">
              <a:ln>
                <a:noFill/>
              </a:ln>
              <a:solidFill>
                <a:srgbClr val="0066FF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לכל אזרח 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00FF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i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יש </a:t>
            </a:r>
            <a:r>
              <a:rPr lang="he-IL" sz="4000" b="1" i="0" u="none" strike="noStrike" kern="1200" cap="none">
                <a:ln>
                  <a:noFill/>
                </a:ln>
                <a:solidFill>
                  <a:srgbClr val="00FF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תקציב אידיאלי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en-US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p</a:t>
            </a:r>
            <a:r>
              <a:rPr lang="en-US" sz="4000" b="0" i="0" u="none" strike="noStrike" kern="1200" cap="none" baseline="-8000">
                <a:ln>
                  <a:noFill/>
                </a:ln>
                <a:solidFill>
                  <a:srgbClr val="00FFFF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i,1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,…,p</a:t>
            </a:r>
            <a:r>
              <a:rPr lang="en-US" sz="4000" b="0" i="0" u="none" strike="noStrike" kern="1200" cap="none" baseline="-8000">
                <a:ln>
                  <a:noFill/>
                </a:ln>
                <a:solidFill>
                  <a:srgbClr val="00FFFF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i,m ;            </a:t>
            </a:r>
            <a:r>
              <a:rPr lang="en-US" sz="4000" b="0" i="0" u="none" strike="noStrike" kern="1200" cap="none" baseline="0">
                <a:ln>
                  <a:noFill/>
                </a:ln>
                <a:solidFill>
                  <a:srgbClr val="00FFFF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p</a:t>
            </a:r>
            <a:r>
              <a:rPr lang="en-US" sz="4000" b="0" i="0" u="none" strike="noStrike" kern="1200" cap="none" baseline="-8000">
                <a:ln>
                  <a:noFill/>
                </a:ln>
                <a:solidFill>
                  <a:srgbClr val="00FFFF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i,1 + … + </a:t>
            </a:r>
            <a:r>
              <a:rPr lang="en-US" sz="4000" b="0" i="0" u="none" strike="noStrike" kern="1200" cap="none" baseline="0">
                <a:ln>
                  <a:noFill/>
                </a:ln>
                <a:solidFill>
                  <a:srgbClr val="00FFFF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p</a:t>
            </a:r>
            <a:r>
              <a:rPr lang="en-US" sz="4000" b="0" i="0" u="none" strike="noStrike" kern="1200" cap="none" baseline="-8000">
                <a:ln>
                  <a:noFill/>
                </a:ln>
                <a:solidFill>
                  <a:srgbClr val="00FFFF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i,m</a:t>
            </a:r>
            <a:r>
              <a:rPr lang="en-US" sz="4000" b="0" i="0" u="none" strike="noStrike" kern="1200" cap="none" baseline="0">
                <a:ln>
                  <a:noFill/>
                </a:ln>
                <a:solidFill>
                  <a:srgbClr val="00FFFF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  = C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 Regular" pitchFamily="2"/>
              <a:cs typeface="Nachlieli CLM" pitchFamily="2"/>
            </a:endParaRPr>
          </a:p>
        </p:txBody>
      </p:sp>
      <p:sp>
        <p:nvSpPr>
          <p:cNvPr id="5" name="Title 1_1">
            <a:extLst>
              <a:ext uri="{FF2B5EF4-FFF2-40B4-BE49-F238E27FC236}">
                <a16:creationId xmlns:a16="http://schemas.microsoft.com/office/drawing/2014/main" id="{E4A02ADF-81D7-1537-88CE-88993EC8531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66965" y="3637416"/>
            <a:ext cx="960120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הפלט: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C37DABC-B43F-CFF9-36F8-C4CD48B89554}"/>
              </a:ext>
            </a:extLst>
          </p:cNvPr>
          <p:cNvSpPr txBox="1"/>
          <p:nvPr/>
        </p:nvSpPr>
        <p:spPr>
          <a:xfrm>
            <a:off x="274320" y="4754879"/>
            <a:ext cx="9601200" cy="248004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וקטור </a:t>
            </a:r>
            <a:r>
              <a:rPr lang="en-US" sz="40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d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המייצג תקציב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: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d</a:t>
            </a:r>
            <a:r>
              <a:rPr lang="en-US" sz="4000" b="0" i="0" u="none" strike="noStrike" kern="1200" cap="none" baseline="-3300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1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,…,d</a:t>
            </a:r>
            <a:r>
              <a:rPr lang="en-US" sz="4000" b="0" i="0" u="none" strike="noStrike" kern="1200" cap="none" baseline="-3300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m</a:t>
            </a:r>
            <a:r>
              <a:rPr lang="he-IL" sz="4000"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4000" b="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571500" marR="0" lvl="1" indent="-57150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en-US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Times New Roman" pitchFamily="18"/>
                <a:ea typeface="David CLM" pitchFamily="2"/>
                <a:cs typeface="Liberation Sans" pitchFamily="34"/>
              </a:rPr>
              <a:t>d</a:t>
            </a:r>
            <a:r>
              <a:rPr lang="en-US" sz="4000" b="0" i="0" u="none" strike="noStrike" kern="1200" cap="none" baseline="-7000">
                <a:ln>
                  <a:noFill/>
                </a:ln>
                <a:solidFill>
                  <a:srgbClr val="00CC00"/>
                </a:solidFill>
                <a:latin typeface="Times New Roman" pitchFamily="18"/>
                <a:ea typeface="David CLM" pitchFamily="2"/>
                <a:cs typeface="Liberation Sans" pitchFamily="34"/>
              </a:rPr>
              <a:t>1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Times New Roman" pitchFamily="18"/>
                <a:ea typeface="David CLM" pitchFamily="2"/>
                <a:cs typeface="Liberation Sans" pitchFamily="34"/>
              </a:rPr>
              <a:t>+ … + d</a:t>
            </a:r>
            <a:r>
              <a:rPr lang="en-US" sz="4000" b="0" i="0" u="none" strike="noStrike" kern="1200" cap="none" baseline="-7000">
                <a:ln>
                  <a:noFill/>
                </a:ln>
                <a:solidFill>
                  <a:srgbClr val="00CC00"/>
                </a:solidFill>
                <a:latin typeface="Times New Roman" pitchFamily="18"/>
                <a:ea typeface="David CLM" pitchFamily="2"/>
                <a:cs typeface="Liberation Sans" pitchFamily="34"/>
              </a:rPr>
              <a:t>m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Times New Roman" pitchFamily="18"/>
                <a:ea typeface="David CLM" pitchFamily="2"/>
                <a:cs typeface="Liberation Sans" pitchFamily="34"/>
              </a:rPr>
              <a:t>=C</a:t>
            </a:r>
            <a:r>
              <a:rPr lang="en-US" sz="4000">
                <a:solidFill>
                  <a:srgbClr val="00CC00"/>
                </a:solidFill>
                <a:latin typeface="Times New Roman" pitchFamily="18"/>
                <a:ea typeface="David CLM" pitchFamily="2"/>
                <a:cs typeface="Liberation Sans" pitchFamily="34"/>
              </a:rPr>
              <a:t>.</a:t>
            </a:r>
            <a:endParaRPr lang="en-US" sz="4000" b="0" i="0" u="none" strike="noStrike" kern="1200" cap="none">
              <a:ln>
                <a:noFill/>
              </a:ln>
              <a:solidFill>
                <a:srgbClr val="00CC00"/>
              </a:solidFill>
              <a:latin typeface="Times New Roman" pitchFamily="18"/>
              <a:ea typeface="David CLM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Liberation Sans" pitchFamily="34"/>
                <a:ea typeface="David CLM" pitchFamily="2"/>
                <a:cs typeface="Liberation Sans" pitchFamily="34"/>
              </a:rPr>
              <a:t>התועלת של אזרח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Liberation Sans" pitchFamily="34"/>
                <a:ea typeface="David CLM" pitchFamily="2"/>
                <a:cs typeface="Liberation Sans" pitchFamily="34"/>
              </a:rPr>
              <a:t>i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Liberation Sans" pitchFamily="34"/>
                <a:ea typeface="David CLM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Liberation Sans" pitchFamily="34"/>
                <a:ea typeface="David CLM" pitchFamily="2"/>
                <a:cs typeface="Liberation Sans" pitchFamily="34"/>
              </a:rPr>
              <a:t>מהתקציב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Liberation Sans" pitchFamily="34"/>
                <a:ea typeface="David CLM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Liberation Sans" pitchFamily="34"/>
                <a:ea typeface="David CLM" pitchFamily="2"/>
                <a:cs typeface="Liberation Sans" pitchFamily="34"/>
              </a:rPr>
              <a:t>d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Liberation Sans" pitchFamily="34"/>
                <a:ea typeface="David CLM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Liberation Sans" pitchFamily="34"/>
                <a:ea typeface="David CLM" pitchFamily="2"/>
                <a:cs typeface="Liberation Sans" pitchFamily="34"/>
              </a:rPr>
              <a:t>היא:</a:t>
            </a:r>
          </a:p>
          <a:p>
            <a:pPr marL="571500" marR="0" lvl="0" indent="-57150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en-US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Times New Roman" pitchFamily="18"/>
                <a:ea typeface="David CLM" pitchFamily="2"/>
                <a:cs typeface="Liberation Sans" pitchFamily="34"/>
              </a:rPr>
              <a:t>u</a:t>
            </a:r>
            <a:r>
              <a:rPr lang="en-US" sz="4000" b="0" i="0" u="none" strike="noStrike" kern="1200" cap="none" baseline="-7000">
                <a:ln>
                  <a:noFill/>
                </a:ln>
                <a:solidFill>
                  <a:srgbClr val="00FFFF"/>
                </a:solidFill>
                <a:latin typeface="Times New Roman" pitchFamily="18"/>
                <a:ea typeface="David CLM" pitchFamily="2"/>
                <a:cs typeface="Liberation Sans" pitchFamily="34"/>
              </a:rPr>
              <a:t>i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Times New Roman" pitchFamily="18"/>
                <a:ea typeface="David CLM" pitchFamily="2"/>
                <a:cs typeface="Liberation Sans" pitchFamily="34"/>
              </a:rPr>
              <a:t>(d) = - Sum[j=1,…,m]  |</a:t>
            </a:r>
            <a:r>
              <a:rPr lang="en-US" sz="4000" b="0" i="0" u="none" strike="noStrike" kern="1200" cap="none" baseline="-7000">
                <a:ln>
                  <a:noFill/>
                </a:ln>
                <a:solidFill>
                  <a:srgbClr val="00FFFF"/>
                </a:solidFill>
                <a:latin typeface="Times New Roman" pitchFamily="18"/>
                <a:ea typeface="David CLM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FFFF"/>
                </a:solidFill>
                <a:latin typeface="Times New Roman" pitchFamily="18"/>
                <a:ea typeface="David CLM" pitchFamily="2"/>
                <a:cs typeface="Liberation Sans" pitchFamily="34"/>
              </a:rPr>
              <a:t>d</a:t>
            </a:r>
            <a:r>
              <a:rPr lang="en-US" sz="4000" b="0" i="0" u="none" strike="noStrike" kern="1200" cap="none" baseline="-7000">
                <a:ln>
                  <a:noFill/>
                </a:ln>
                <a:solidFill>
                  <a:srgbClr val="00FFFF"/>
                </a:solidFill>
                <a:latin typeface="Times New Roman" pitchFamily="18"/>
                <a:ea typeface="David CLM" pitchFamily="2"/>
                <a:cs typeface="Liberation Sans" pitchFamily="34"/>
              </a:rPr>
              <a:t>j –</a:t>
            </a:r>
            <a:r>
              <a:rPr lang="en-US" sz="4000" b="0" i="0" u="none" strike="noStrike" kern="1200" cap="none" baseline="0">
                <a:ln>
                  <a:noFill/>
                </a:ln>
                <a:solidFill>
                  <a:srgbClr val="00FFFF"/>
                </a:solidFill>
                <a:latin typeface="Times New Roman" pitchFamily="18"/>
                <a:ea typeface="David CLM" pitchFamily="2"/>
                <a:cs typeface="Liberation Sans" pitchFamily="34"/>
              </a:rPr>
              <a:t> p</a:t>
            </a:r>
            <a:r>
              <a:rPr lang="en-US" sz="4000" b="0" i="0" u="none" strike="noStrike" kern="1200" cap="none" baseline="-8000">
                <a:ln>
                  <a:noFill/>
                </a:ln>
                <a:solidFill>
                  <a:srgbClr val="00FFFF"/>
                </a:solidFill>
                <a:latin typeface="Times New Roman" pitchFamily="18"/>
                <a:ea typeface="David CLM" pitchFamily="2"/>
                <a:cs typeface="Liberation Sans" pitchFamily="34"/>
              </a:rPr>
              <a:t>i,j</a:t>
            </a:r>
            <a:r>
              <a:rPr lang="en-US" sz="4000" b="0" i="0" u="none" strike="noStrike" kern="1200" cap="none" baseline="0">
                <a:ln>
                  <a:noFill/>
                </a:ln>
                <a:solidFill>
                  <a:srgbClr val="00FFFF"/>
                </a:solidFill>
                <a:latin typeface="Times New Roman" pitchFamily="18"/>
                <a:ea typeface="David CLM" pitchFamily="2"/>
                <a:cs typeface="Liberation Sans" pitchFamily="34"/>
              </a:rPr>
              <a:t> |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Class="entr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_12">
            <a:extLst>
              <a:ext uri="{FF2B5EF4-FFF2-40B4-BE49-F238E27FC236}">
                <a16:creationId xmlns:a16="http://schemas.microsoft.com/office/drawing/2014/main" id="{45BBF5BE-737F-0C3D-CDA1-AC0E470618F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74320" y="-91440"/>
            <a:ext cx="960120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חימום: סעיף אחד</a:t>
            </a:r>
          </a:p>
        </p:txBody>
      </p:sp>
      <p:sp>
        <p:nvSpPr>
          <p:cNvPr id="3" name="Content Placeholder 2_12">
            <a:extLst>
              <a:ext uri="{FF2B5EF4-FFF2-40B4-BE49-F238E27FC236}">
                <a16:creationId xmlns:a16="http://schemas.microsoft.com/office/drawing/2014/main" id="{FDFC80B1-0AF9-21DF-3EA6-2759FD20BFB4}"/>
              </a:ext>
            </a:extLst>
          </p:cNvPr>
          <p:cNvSpPr txBox="1"/>
          <p:nvPr/>
        </p:nvSpPr>
        <p:spPr>
          <a:xfrm>
            <a:off x="457200" y="1188719"/>
            <a:ext cx="8694360" cy="479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compatLnSpc="0">
            <a:noAutofit/>
          </a:bodyPr>
          <a:lstStyle/>
          <a:p>
            <a:pPr marL="0" marR="0" lvl="0" indent="0" algn="l" hangingPunct="0">
              <a:spcBef>
                <a:spcPts val="2750"/>
              </a:spcBef>
              <a:spcAft>
                <a:spcPts val="0"/>
              </a:spcAft>
              <a:buNone/>
              <a:tabLst/>
            </a:pPr>
            <a:endParaRPr lang="en-US" sz="3000" b="0" i="0" u="none" strike="noStrike" kern="1200" spc="0">
              <a:ln>
                <a:noFill/>
              </a:ln>
              <a:solidFill>
                <a:srgbClr val="000000"/>
              </a:solidFill>
              <a:latin typeface="ＭＳ Ｐゴシック" pitchFamily="18"/>
              <a:ea typeface="Liberation Sans" pitchFamily="34"/>
              <a:cs typeface="DejaVu 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F3BD43-356C-9215-2E6C-1258D0F2AD37}"/>
              </a:ext>
            </a:extLst>
          </p:cNvPr>
          <p:cNvSpPr txBox="1"/>
          <p:nvPr/>
        </p:nvSpPr>
        <p:spPr>
          <a:xfrm>
            <a:off x="-122722" y="980545"/>
            <a:ext cx="10203347" cy="6579130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נניח שצריך להחליט רק על תקציב החינוך.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כל אזרח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i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אומר מספר </a:t>
            </a:r>
            <a:r>
              <a:rPr lang="en-US" sz="40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p</a:t>
            </a:r>
            <a:r>
              <a:rPr lang="en-US" sz="4000" b="0" i="1" u="none" strike="noStrike" kern="1200" cap="none" baseline="-800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i</a:t>
            </a:r>
            <a:r>
              <a:rPr lang="he-IL" sz="4000"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4000" b="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אלגוריתם א: רוב.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חסר משמעות; אולי לכל מספר יש תומך 1.</a:t>
            </a:r>
            <a:endParaRPr lang="en-US" sz="4000" b="0" i="0" u="none" strike="noStrike" kern="1200" cap="none">
              <a:ln>
                <a:noFill/>
              </a:ln>
              <a:solidFill>
                <a:srgbClr val="C9211E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אלגוריתם ב: ממוצע.</a:t>
            </a:r>
          </a:p>
          <a:p>
            <a:pPr marL="571500" marR="0" lvl="1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לא מגלה אמת, אפילו כשיש רק 2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אזרחים.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אלגוריתם ג: קבוע שרירותי.</a:t>
            </a:r>
          </a:p>
          <a:p>
            <a:pPr marL="571500" marR="0" lvl="1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לא יעיל פארטו.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אלגוריתם ד: דיקטטור.</a:t>
            </a:r>
          </a:p>
          <a:p>
            <a:pPr marL="571500" marR="0" lvl="1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לא </a:t>
            </a:r>
            <a:r>
              <a:rPr lang="he-IL" sz="4000" b="0" i="1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אנונימי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–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מפלה בין אזרחים שונים.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8D1D7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האם יש אלגוריתם מגלה-אמת, יעיל ואנונימי?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Class="entr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Class="entr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Class="entr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_13">
            <a:extLst>
              <a:ext uri="{FF2B5EF4-FFF2-40B4-BE49-F238E27FC236}">
                <a16:creationId xmlns:a16="http://schemas.microsoft.com/office/drawing/2014/main" id="{0DBF1629-BA54-DA82-7394-7A3041A377E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74320" y="-91440"/>
            <a:ext cx="960120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אלגוריתם החציון</a:t>
            </a:r>
          </a:p>
        </p:txBody>
      </p:sp>
      <p:sp>
        <p:nvSpPr>
          <p:cNvPr id="3" name="Content Placeholder 2_11">
            <a:extLst>
              <a:ext uri="{FF2B5EF4-FFF2-40B4-BE49-F238E27FC236}">
                <a16:creationId xmlns:a16="http://schemas.microsoft.com/office/drawing/2014/main" id="{E6DAD9E1-1484-36F1-BD7A-338F0B733825}"/>
              </a:ext>
            </a:extLst>
          </p:cNvPr>
          <p:cNvSpPr txBox="1"/>
          <p:nvPr/>
        </p:nvSpPr>
        <p:spPr>
          <a:xfrm>
            <a:off x="457200" y="1188719"/>
            <a:ext cx="8694360" cy="479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compatLnSpc="0">
            <a:noAutofit/>
          </a:bodyPr>
          <a:lstStyle/>
          <a:p>
            <a:pPr marL="0" marR="0" lvl="0" indent="0" algn="l" hangingPunct="0">
              <a:spcBef>
                <a:spcPts val="2750"/>
              </a:spcBef>
              <a:spcAft>
                <a:spcPts val="0"/>
              </a:spcAft>
              <a:buNone/>
              <a:tabLst/>
            </a:pPr>
            <a:endParaRPr lang="en-US" sz="3000" b="0" i="0" u="none" strike="noStrike" kern="1200" spc="0">
              <a:ln>
                <a:noFill/>
              </a:ln>
              <a:solidFill>
                <a:srgbClr val="000000"/>
              </a:solidFill>
              <a:latin typeface="ＭＳ Ｐゴシック" pitchFamily="18"/>
              <a:ea typeface="Liberation Sans" pitchFamily="34"/>
              <a:cs typeface="DejaVu 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822BAE-CDE3-FE49-2296-5A20809A8EE2}"/>
              </a:ext>
            </a:extLst>
          </p:cNvPr>
          <p:cNvSpPr txBox="1"/>
          <p:nvPr/>
        </p:nvSpPr>
        <p:spPr>
          <a:xfrm>
            <a:off x="274320" y="1005840"/>
            <a:ext cx="9806400" cy="705092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סדר את ההצבעות בסדר עולה: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tabLst/>
            </a:pP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p</a:t>
            </a:r>
            <a:r>
              <a:rPr lang="en-US" sz="4000" b="0" i="0" u="none" strike="noStrike" kern="1200" cap="none" baseline="-800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1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≤ p</a:t>
            </a:r>
            <a:r>
              <a:rPr lang="en-US" sz="4000" b="0" i="0" u="none" strike="noStrike" kern="1200" cap="none" baseline="-800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2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≤ … ≤ p</a:t>
            </a:r>
            <a:r>
              <a:rPr lang="en-US" sz="4000" b="0" i="0" u="none" strike="noStrike" kern="1200" cap="none" baseline="-800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n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 baseline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בחר את הצבעה מספר </a:t>
            </a:r>
            <a:r>
              <a:rPr lang="en-US" sz="4000" b="0" i="1" u="none" strike="noStrike" kern="1200" cap="none" baseline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n</a:t>
            </a:r>
            <a:r>
              <a:rPr lang="en-US" sz="4000" b="0" i="0" u="none" strike="noStrike" kern="1200" cap="none" baseline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/2</a:t>
            </a:r>
            <a:r>
              <a:rPr lang="he-IL" sz="4000" b="0" i="0" u="none" strike="noStrike" kern="1200" cap="none" baseline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(</a:t>
            </a:r>
            <a:r>
              <a:rPr lang="en-US" sz="4000" b="0" i="0" u="none" strike="noStrike" kern="1200" cap="none" baseline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עגל למעלה</a:t>
            </a:r>
            <a:r>
              <a:rPr lang="he-IL" sz="4000">
                <a:latin typeface="Liberation Sans" pitchFamily="34"/>
                <a:ea typeface="Noto Sans CJK SC Regular" pitchFamily="2"/>
                <a:cs typeface="Liberation Sans" pitchFamily="34"/>
              </a:rPr>
              <a:t>).</a:t>
            </a:r>
            <a:endParaRPr lang="en-US" sz="4000" b="0" i="0" u="none" strike="noStrike" kern="1200" cap="none" baseline="0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0" u="none" strike="noStrike" kern="1200" cap="none" baseline="0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 baseline="0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משפט.</a:t>
            </a:r>
            <a:r>
              <a:rPr lang="en-US" sz="4000" b="0" i="0" u="none" strike="noStrike" kern="1200" cap="none" baseline="0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אלגוריתם החציון אנונימי ויעיל-פארטו.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1" u="none" strike="noStrike" kern="1200" cap="none" baseline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הוכחה.</a:t>
            </a:r>
            <a:r>
              <a:rPr lang="en-US" sz="4000" b="0" i="0" u="none" strike="noStrike" kern="1200" cap="none" baseline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 baseline="0">
                <a:ln>
                  <a:noFill/>
                </a:ln>
                <a:solidFill>
                  <a:srgbClr val="77BC6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אנונימי –</a:t>
            </a:r>
            <a:r>
              <a:rPr lang="he-IL" sz="4000" b="0" i="0" u="none" strike="noStrike" kern="1200" cap="none" baseline="0">
                <a:ln>
                  <a:noFill/>
                </a:ln>
                <a:solidFill>
                  <a:srgbClr val="77BC6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 baseline="0">
                <a:ln>
                  <a:noFill/>
                </a:ln>
                <a:solidFill>
                  <a:srgbClr val="77BC6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ברור לפי הגדרה.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 baseline="0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יעיל-פארטו – כי יש אנשים שהצביעו מעל החציון – והם יפסידו אם הערך הנבחר יקטן; ויש אנשים שהצביעו מתחת לחציון – והם </a:t>
            </a:r>
            <a:r>
              <a:rPr lang="en-US" sz="4000" b="0" i="0" u="none" strike="noStrike" kern="1200" cap="none" baseline="0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4000" b="0" i="0" u="none" strike="noStrike" kern="1200" cap="none" baseline="0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יפסידו אם הערך הנבחר יגדל. </a:t>
            </a:r>
            <a:r>
              <a:rPr lang="en-US" sz="4000" b="0" i="0" u="none" strike="noStrike" kern="1200" cap="none" baseline="0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***</a:t>
            </a:r>
            <a:endParaRPr lang="he-IL" sz="4000" b="0" i="0" u="none" strike="noStrike" kern="1200" cap="none" baseline="0">
              <a:ln>
                <a:noFill/>
              </a:ln>
              <a:solidFill>
                <a:srgbClr val="2A6099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l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000"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5, 7, </a:t>
            </a:r>
            <a:r>
              <a:rPr lang="en-US" sz="2000" b="1"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9</a:t>
            </a:r>
            <a:r>
              <a:rPr lang="en-US" sz="2000"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14, 17.</a:t>
            </a:r>
          </a:p>
          <a:p>
            <a:pPr marL="0" marR="0" lvl="0" indent="0" algn="l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000" b="0" i="0" u="none" strike="noStrike" kern="1200" cap="none" baseline="0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-4, -2, 0,  -5,</a:t>
            </a:r>
            <a:r>
              <a:rPr lang="en-US" sz="2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 -8.</a:t>
            </a:r>
            <a:br>
              <a:rPr lang="en-US" sz="2000" b="0" i="0" u="none" strike="noStrike" kern="1200" cap="none" baseline="0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endParaRPr lang="en-US" sz="2000" b="0" i="0" u="none" strike="noStrike" kern="1200" cap="none" baseline="0">
              <a:ln>
                <a:noFill/>
              </a:ln>
              <a:solidFill>
                <a:srgbClr val="2A6099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_15">
            <a:extLst>
              <a:ext uri="{FF2B5EF4-FFF2-40B4-BE49-F238E27FC236}">
                <a16:creationId xmlns:a16="http://schemas.microsoft.com/office/drawing/2014/main" id="{A792FE1C-A06D-B82D-CC7C-DBC9C426413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74320" y="-91440"/>
            <a:ext cx="960120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אלגוריתם החציון</a:t>
            </a:r>
          </a:p>
        </p:txBody>
      </p:sp>
      <p:sp>
        <p:nvSpPr>
          <p:cNvPr id="3" name="Content Placeholder 2_14">
            <a:extLst>
              <a:ext uri="{FF2B5EF4-FFF2-40B4-BE49-F238E27FC236}">
                <a16:creationId xmlns:a16="http://schemas.microsoft.com/office/drawing/2014/main" id="{1FC1F403-3C73-2D7D-615A-270890729F1E}"/>
              </a:ext>
            </a:extLst>
          </p:cNvPr>
          <p:cNvSpPr txBox="1"/>
          <p:nvPr/>
        </p:nvSpPr>
        <p:spPr>
          <a:xfrm>
            <a:off x="457200" y="1188719"/>
            <a:ext cx="8694360" cy="479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compatLnSpc="0">
            <a:noAutofit/>
          </a:bodyPr>
          <a:lstStyle/>
          <a:p>
            <a:pPr marL="0" marR="0" lvl="0" indent="0" algn="l" hangingPunct="0">
              <a:spcBef>
                <a:spcPts val="2750"/>
              </a:spcBef>
              <a:spcAft>
                <a:spcPts val="0"/>
              </a:spcAft>
              <a:buNone/>
              <a:tabLst/>
            </a:pPr>
            <a:endParaRPr lang="en-US" sz="3000" b="0" i="0" u="none" strike="noStrike" kern="1200" spc="0">
              <a:ln>
                <a:noFill/>
              </a:ln>
              <a:solidFill>
                <a:srgbClr val="000000"/>
              </a:solidFill>
              <a:latin typeface="ＭＳ Ｐゴシック" pitchFamily="18"/>
              <a:ea typeface="Liberation Sans" pitchFamily="34"/>
              <a:cs typeface="DejaVu 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384F88-D666-3AF7-3161-E70D56BC5C2B}"/>
              </a:ext>
            </a:extLst>
          </p:cNvPr>
          <p:cNvSpPr txBox="1"/>
          <p:nvPr/>
        </p:nvSpPr>
        <p:spPr>
          <a:xfrm>
            <a:off x="274319" y="933840"/>
            <a:ext cx="9806399" cy="6701535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>
                <a:latin typeface="Liberation Sans" pitchFamily="34"/>
                <a:ea typeface="Noto Sans CJK SC Regular" pitchFamily="2"/>
                <a:cs typeface="Liberation Sans" pitchFamily="34"/>
              </a:rPr>
              <a:t>סדר את ההצבעות בסדר עולה:</a:t>
            </a:r>
          </a:p>
          <a:p>
            <a:pPr lvl="0" hangingPunct="0">
              <a:buSzPct val="45000"/>
            </a:pPr>
            <a:r>
              <a:rPr lang="en-US" sz="4000">
                <a:latin typeface="Liberation Sans" pitchFamily="34"/>
                <a:ea typeface="Noto Sans CJK SC Regular" pitchFamily="2"/>
                <a:cs typeface="Liberation Sans" pitchFamily="34"/>
              </a:rPr>
              <a:t>p</a:t>
            </a:r>
            <a:r>
              <a:rPr lang="en-US" sz="4000" baseline="-8000">
                <a:latin typeface="Liberation Sans" pitchFamily="34"/>
                <a:ea typeface="Noto Sans CJK SC Regular" pitchFamily="2"/>
                <a:cs typeface="Liberation Sans" pitchFamily="34"/>
              </a:rPr>
              <a:t>1</a:t>
            </a:r>
            <a:r>
              <a:rPr lang="en-US" sz="4000">
                <a:latin typeface="Liberation Sans" pitchFamily="34"/>
                <a:ea typeface="Noto Sans CJK SC Regular" pitchFamily="2"/>
                <a:cs typeface="Liberation Sans" pitchFamily="34"/>
              </a:rPr>
              <a:t> ≤ p</a:t>
            </a:r>
            <a:r>
              <a:rPr lang="en-US" sz="4000" baseline="-8000">
                <a:latin typeface="Liberation Sans" pitchFamily="34"/>
                <a:ea typeface="Noto Sans CJK SC Regular" pitchFamily="2"/>
                <a:cs typeface="Liberation Sans" pitchFamily="34"/>
              </a:rPr>
              <a:t>2</a:t>
            </a:r>
            <a:r>
              <a:rPr lang="en-US" sz="4000">
                <a:latin typeface="Liberation Sans" pitchFamily="34"/>
                <a:ea typeface="Noto Sans CJK SC Regular" pitchFamily="2"/>
                <a:cs typeface="Liberation Sans" pitchFamily="34"/>
              </a:rPr>
              <a:t> ≤ … ≤ p</a:t>
            </a:r>
            <a:r>
              <a:rPr lang="en-US" sz="4000" baseline="-8000">
                <a:latin typeface="Liberation Sans" pitchFamily="34"/>
                <a:ea typeface="Noto Sans CJK SC Regular" pitchFamily="2"/>
                <a:cs typeface="Liberation Sans" pitchFamily="34"/>
              </a:rPr>
              <a:t>n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>
                <a:latin typeface="Liberation Sans" pitchFamily="34"/>
                <a:ea typeface="Noto Sans CJK SC Regular" pitchFamily="2"/>
                <a:cs typeface="Liberation Sans" pitchFamily="34"/>
              </a:rPr>
              <a:t>בחר את הצבעה מספר </a:t>
            </a:r>
            <a:r>
              <a:rPr lang="en-US" sz="4000" i="1">
                <a:latin typeface="Liberation Sans" pitchFamily="34"/>
                <a:ea typeface="Noto Sans CJK SC Regular" pitchFamily="2"/>
                <a:cs typeface="Liberation Sans" pitchFamily="34"/>
              </a:rPr>
              <a:t>n</a:t>
            </a:r>
            <a:r>
              <a:rPr lang="en-US" sz="4000">
                <a:latin typeface="Liberation Sans" pitchFamily="34"/>
                <a:ea typeface="Noto Sans CJK SC Regular" pitchFamily="2"/>
                <a:cs typeface="Liberation Sans" pitchFamily="34"/>
              </a:rPr>
              <a:t>/2</a:t>
            </a:r>
            <a:r>
              <a:rPr lang="he-IL" sz="4000">
                <a:latin typeface="Liberation Sans" pitchFamily="34"/>
                <a:ea typeface="Noto Sans CJK SC Regular" pitchFamily="2"/>
                <a:cs typeface="Liberation Sans" pitchFamily="34"/>
              </a:rPr>
              <a:t> (</a:t>
            </a:r>
            <a:r>
              <a:rPr lang="en-US" sz="4000">
                <a:latin typeface="Liberation Sans" pitchFamily="34"/>
                <a:ea typeface="Noto Sans CJK SC Regular" pitchFamily="2"/>
                <a:cs typeface="Liberation Sans" pitchFamily="34"/>
              </a:rPr>
              <a:t>עגל למעלה</a:t>
            </a:r>
            <a:r>
              <a:rPr lang="he-IL" sz="4000">
                <a:latin typeface="Liberation Sans" pitchFamily="34"/>
                <a:ea typeface="Noto Sans CJK SC Regular" pitchFamily="2"/>
                <a:cs typeface="Liberation Sans" pitchFamily="34"/>
              </a:rPr>
              <a:t>).</a:t>
            </a:r>
            <a:endParaRPr lang="en-US" sz="4000"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 baseline="0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משפט.</a:t>
            </a:r>
            <a:r>
              <a:rPr lang="en-US" sz="4000" b="0" i="0" u="none" strike="noStrike" kern="1200" cap="none" baseline="0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אלגוריתם החציון מגלה-אמת.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1" u="none" strike="noStrike" kern="1200" cap="none" baseline="0">
                <a:ln>
                  <a:noFill/>
                </a:ln>
                <a:solidFill>
                  <a:srgbClr val="77BC6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הוכחה.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77BC6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נניח שהחציון האמיתי 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77BC6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הוא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77BC6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x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77BC6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77BC6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ואזרח כלשהו i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77BC6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77BC6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אינו מרוצה מהבחירה הזאת –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77BC6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77BC6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נניח כי </a:t>
            </a:r>
            <a:r>
              <a:rPr lang="en-US" sz="3600" b="0" i="1" u="none" strike="noStrike" kern="1200" cap="none" baseline="0">
                <a:ln>
                  <a:noFill/>
                </a:ln>
                <a:solidFill>
                  <a:srgbClr val="77BC65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p</a:t>
            </a:r>
            <a:r>
              <a:rPr lang="en-US" sz="3600" b="0" i="1" u="none" strike="noStrike" kern="1200" cap="none" baseline="-8000">
                <a:ln>
                  <a:noFill/>
                </a:ln>
                <a:solidFill>
                  <a:srgbClr val="77BC65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i 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77BC65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&lt; </a:t>
            </a:r>
            <a:r>
              <a:rPr lang="en-US" sz="3600" b="0" i="1" u="none" strike="noStrike" kern="1200" cap="none" baseline="0">
                <a:ln>
                  <a:noFill/>
                </a:ln>
                <a:solidFill>
                  <a:srgbClr val="77BC65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x</a:t>
            </a:r>
            <a:r>
              <a:rPr lang="he-IL" sz="3600">
                <a:solidFill>
                  <a:srgbClr val="77BC6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3600" b="0" i="0" u="none" strike="noStrike" kern="1200" cap="none" baseline="0">
              <a:ln>
                <a:noFill/>
              </a:ln>
              <a:solidFill>
                <a:srgbClr val="77BC65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החציון האמיתי הוא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x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ולכן יש n/2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אנשים שהצביעו לפחות x</a:t>
            </a:r>
            <a:r>
              <a:rPr lang="he-IL" sz="3600"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he-IL" sz="3600" i="1"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לא כולל</a:t>
            </a:r>
            <a:r>
              <a:rPr lang="he-IL" sz="3600"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i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3600" b="0" i="0" u="none" strike="noStrike" kern="1200" cap="none" baseline="0">
              <a:ln>
                <a:noFill/>
              </a:ln>
              <a:solidFill>
                <a:srgbClr val="2A6099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77BC6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לכן, אם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77BC6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i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77BC6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77BC6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ישנה את הצבעתו באופן כלשהו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77BC6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he-IL" sz="3600">
                <a:solidFill>
                  <a:srgbClr val="77BC6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עדיין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77BC6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יהיו לפחות n/2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77BC6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77BC6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אנשים שהצביעו לפחות x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77BC6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77BC6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והחציון יהיה לפחות x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77BC6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לכן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i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לא ירויח מהשינוי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         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 baseline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ההוכחה למקרה </a:t>
            </a:r>
            <a:r>
              <a:rPr lang="en-US" sz="3600" b="0" i="0" u="none" strike="noStrike" kern="1200" cap="none" baseline="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p</a:t>
            </a:r>
            <a:r>
              <a:rPr lang="en-US" sz="3600" b="0" i="0" u="none" strike="noStrike" kern="1200" cap="none" baseline="-33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i </a:t>
            </a:r>
            <a:r>
              <a:rPr lang="en-US" sz="3600" b="0" i="0" u="none" strike="noStrike" kern="1200" cap="none" baseline="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&gt; x</a:t>
            </a:r>
            <a:r>
              <a:rPr lang="he-IL" sz="3600" b="0" i="0" u="none" strike="noStrike" kern="1200" cap="none" baseline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baseline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דומה</a:t>
            </a:r>
            <a:r>
              <a:rPr lang="he-IL" sz="3600" b="0" i="0" u="none" strike="noStrike" kern="1200" cap="none" baseline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***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_14">
            <a:extLst>
              <a:ext uri="{FF2B5EF4-FFF2-40B4-BE49-F238E27FC236}">
                <a16:creationId xmlns:a16="http://schemas.microsoft.com/office/drawing/2014/main" id="{A06A852C-AF26-C4E2-E9E9-E309613FBA4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91440"/>
            <a:ext cx="1008072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אלגוריתם החציון – עוד שימושים</a:t>
            </a:r>
          </a:p>
        </p:txBody>
      </p:sp>
      <p:sp>
        <p:nvSpPr>
          <p:cNvPr id="3" name="Content Placeholder 2_13">
            <a:extLst>
              <a:ext uri="{FF2B5EF4-FFF2-40B4-BE49-F238E27FC236}">
                <a16:creationId xmlns:a16="http://schemas.microsoft.com/office/drawing/2014/main" id="{558FD997-38FD-246F-CBFB-42E02D52F2A3}"/>
              </a:ext>
            </a:extLst>
          </p:cNvPr>
          <p:cNvSpPr txBox="1"/>
          <p:nvPr/>
        </p:nvSpPr>
        <p:spPr>
          <a:xfrm>
            <a:off x="457200" y="1188719"/>
            <a:ext cx="8694360" cy="479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compatLnSpc="0">
            <a:noAutofit/>
          </a:bodyPr>
          <a:lstStyle/>
          <a:p>
            <a:pPr marL="0" marR="0" lvl="0" indent="0" algn="l" hangingPunct="0">
              <a:spcBef>
                <a:spcPts val="2750"/>
              </a:spcBef>
              <a:spcAft>
                <a:spcPts val="0"/>
              </a:spcAft>
              <a:buNone/>
              <a:tabLst/>
            </a:pPr>
            <a:endParaRPr lang="en-US" sz="3000" b="0" i="0" u="none" strike="noStrike" kern="1200" spc="0">
              <a:ln>
                <a:noFill/>
              </a:ln>
              <a:solidFill>
                <a:srgbClr val="000000"/>
              </a:solidFill>
              <a:latin typeface="ＭＳ Ｐゴシック" pitchFamily="18"/>
              <a:ea typeface="Liberation Sans" pitchFamily="34"/>
              <a:cs typeface="DejaVu 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A7B063-C67E-D366-8890-5256AA42F750}"/>
              </a:ext>
            </a:extLst>
          </p:cNvPr>
          <p:cNvSpPr txBox="1"/>
          <p:nvPr/>
        </p:nvSpPr>
        <p:spPr>
          <a:xfrm>
            <a:off x="0" y="933840"/>
            <a:ext cx="10080720" cy="5989288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 baseline="0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אלגוריתם החציון יכול לשמש לבחירת ערך בנושאים רבים נוספים שהם </a:t>
            </a:r>
            <a:r>
              <a:rPr lang="he-IL" sz="4000" b="0" i="1" u="none" strike="noStrike" kern="1200" cap="none" baseline="0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חד-ממדיים: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4000" b="0" i="1" u="none" strike="noStrike" kern="1200" cap="none" baseline="0">
              <a:ln>
                <a:noFill/>
              </a:ln>
              <a:solidFill>
                <a:srgbClr val="00A933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 baseline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כמה ימים בשנה צריך להיות שעון קיץ?</a:t>
            </a:r>
            <a:br>
              <a:rPr lang="en-US" sz="4000" b="0" i="0" u="none" strike="noStrike" kern="1200" cap="none" baseline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</a:br>
            <a:endParaRPr lang="en-US" sz="4000" b="0" i="0" u="none" strike="noStrike" kern="1200" cap="none" baseline="0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 baseline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מה צריך להיות מספר השרים בממשלה?</a:t>
            </a:r>
            <a:br>
              <a:rPr lang="en-US" sz="4000" b="0" i="0" u="none" strike="noStrike" kern="1200" cap="none" baseline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</a:br>
            <a:endParaRPr lang="en-US" sz="4000" b="0" i="0" u="none" strike="noStrike" kern="1200" cap="none" baseline="0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 baseline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מה יהיה גובה המס על שדות הגז?</a:t>
            </a:r>
            <a:br>
              <a:rPr lang="en-US" sz="4000" b="0" i="0" u="none" strike="noStrike" kern="1200" cap="none" baseline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</a:br>
            <a:endParaRPr lang="en-US" sz="4000" b="0" i="0" u="none" strike="noStrike" kern="1200" cap="none" baseline="0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 baseline="0">
                <a:ln>
                  <a:noFill/>
                </a:ln>
                <a:solidFill>
                  <a:srgbClr val="8D1D7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לאיזו טמפרטורה לכוון את המזגן במשרד?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_16">
            <a:extLst>
              <a:ext uri="{FF2B5EF4-FFF2-40B4-BE49-F238E27FC236}">
                <a16:creationId xmlns:a16="http://schemas.microsoft.com/office/drawing/2014/main" id="{9475D276-6C4F-8719-3643-799FC17CAE3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74320" y="-91440"/>
            <a:ext cx="960120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שני סעיפי תקציב</a:t>
            </a:r>
          </a:p>
        </p:txBody>
      </p:sp>
      <p:sp>
        <p:nvSpPr>
          <p:cNvPr id="3" name="Content Placeholder 2_15">
            <a:extLst>
              <a:ext uri="{FF2B5EF4-FFF2-40B4-BE49-F238E27FC236}">
                <a16:creationId xmlns:a16="http://schemas.microsoft.com/office/drawing/2014/main" id="{E898174F-B8DC-612A-FC64-CE27965BB2A3}"/>
              </a:ext>
            </a:extLst>
          </p:cNvPr>
          <p:cNvSpPr txBox="1"/>
          <p:nvPr/>
        </p:nvSpPr>
        <p:spPr>
          <a:xfrm>
            <a:off x="457200" y="1188719"/>
            <a:ext cx="8694360" cy="479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compatLnSpc="0">
            <a:noAutofit/>
          </a:bodyPr>
          <a:lstStyle/>
          <a:p>
            <a:pPr marL="0" marR="0" lvl="0" indent="0" algn="l" hangingPunct="0">
              <a:spcBef>
                <a:spcPts val="2750"/>
              </a:spcBef>
              <a:spcAft>
                <a:spcPts val="0"/>
              </a:spcAft>
              <a:buNone/>
              <a:tabLst/>
            </a:pPr>
            <a:endParaRPr lang="en-US" sz="3000" b="0" i="0" u="none" strike="noStrike" kern="1200" spc="0">
              <a:ln>
                <a:noFill/>
              </a:ln>
              <a:solidFill>
                <a:srgbClr val="000000"/>
              </a:solidFill>
              <a:latin typeface="ＭＳ Ｐゴシック" pitchFamily="18"/>
              <a:ea typeface="Liberation Sans" pitchFamily="34"/>
              <a:cs typeface="DejaVu 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62E4E1-FC26-3ABB-6198-13711A424BF2}"/>
              </a:ext>
            </a:extLst>
          </p:cNvPr>
          <p:cNvSpPr txBox="1"/>
          <p:nvPr/>
        </p:nvSpPr>
        <p:spPr>
          <a:xfrm>
            <a:off x="274320" y="1005840"/>
            <a:ext cx="9601200" cy="5399448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נניח שיש רק שני סעיפים בתקציב: התקציב לאיזור הצפון והתקציב לאיזור הדרום.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8D1D75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אפשר להשתמש באלגוריתם החציון לאיזור הצפון, ואת שאר התקציב לתת לדרום.</a:t>
            </a:r>
          </a:p>
          <a:p>
            <a:pPr marR="0" lvl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נניח ש:</a:t>
            </a:r>
          </a:p>
          <a:p>
            <a:pPr marL="571500" marR="0" lvl="1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51%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מהאזרחים בצפון, מצביעים 100%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;</a:t>
            </a:r>
            <a:endParaRPr lang="en-US" sz="4000" b="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571500" marR="0" lvl="1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49%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מהאזרחים בדרום, מצביעים 0%</a:t>
            </a:r>
            <a:r>
              <a:rPr lang="he-IL" sz="4000"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4000" b="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אלגוריתם החציון נותן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100%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לצפון.</a:t>
            </a:r>
          </a:p>
          <a:p>
            <a:pPr marL="571500" marR="0" lvl="1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לא הוגן כלפי תושבי הדרום.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1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1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1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grpId="1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grpId="1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fill="hold" grpId="1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fill="hold" grpId="1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_2">
            <a:extLst>
              <a:ext uri="{FF2B5EF4-FFF2-40B4-BE49-F238E27FC236}">
                <a16:creationId xmlns:a16="http://schemas.microsoft.com/office/drawing/2014/main" id="{4E782DE9-1B29-9887-34FE-00073EC3B93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74320" y="-91440"/>
            <a:ext cx="960120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תקציב הוגן לקבוצות</a:t>
            </a:r>
          </a:p>
        </p:txBody>
      </p:sp>
      <p:sp>
        <p:nvSpPr>
          <p:cNvPr id="3" name="Content Placeholder 2_1">
            <a:extLst>
              <a:ext uri="{FF2B5EF4-FFF2-40B4-BE49-F238E27FC236}">
                <a16:creationId xmlns:a16="http://schemas.microsoft.com/office/drawing/2014/main" id="{9B323DD1-C1E5-9FD5-E59E-B5627FBB306D}"/>
              </a:ext>
            </a:extLst>
          </p:cNvPr>
          <p:cNvSpPr txBox="1"/>
          <p:nvPr/>
        </p:nvSpPr>
        <p:spPr>
          <a:xfrm>
            <a:off x="457200" y="1188719"/>
            <a:ext cx="8694360" cy="479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compatLnSpc="0">
            <a:noAutofit/>
          </a:bodyPr>
          <a:lstStyle/>
          <a:p>
            <a:pPr marL="0" marR="0" lvl="0" indent="0" algn="l" hangingPunct="0">
              <a:spcBef>
                <a:spcPts val="2750"/>
              </a:spcBef>
              <a:spcAft>
                <a:spcPts val="0"/>
              </a:spcAft>
              <a:buNone/>
              <a:tabLst/>
            </a:pPr>
            <a:endParaRPr lang="en-US" sz="3000" b="0" i="0" u="none" strike="noStrike" kern="1200" spc="0">
              <a:ln>
                <a:noFill/>
              </a:ln>
              <a:solidFill>
                <a:srgbClr val="000000"/>
              </a:solidFill>
              <a:latin typeface="ＭＳ Ｐゴシック" pitchFamily="18"/>
              <a:ea typeface="Liberation Sans" pitchFamily="34"/>
              <a:cs typeface="DejaVu 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AAE012-32F2-B445-675E-7D97091A4B4D}"/>
              </a:ext>
            </a:extLst>
          </p:cNvPr>
          <p:cNvSpPr txBox="1"/>
          <p:nvPr/>
        </p:nvSpPr>
        <p:spPr>
          <a:xfrm>
            <a:off x="352425" y="1060920"/>
            <a:ext cx="9728295" cy="6992064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הגדרה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אלגוריתם לקביעת התקציב נקרא</a:t>
            </a:r>
            <a:br>
              <a:rPr lang="en-US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he-IL" sz="4000" b="0" i="1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הוגן לקבוצות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אם, כאשר האזרחים מחולקים לקבוצות וכל קבוצה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נותנת 100%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מהתקציב לסעיף j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האלגוריתם מחלק את התקציב בין הסעיפים ביחס ישר לגדלי הקבוצות.</a:t>
            </a:r>
            <a:endParaRPr lang="he-IL" sz="4000" b="0" i="0" u="none" strike="noStrike" kern="1200" cap="none">
              <a:ln>
                <a:noFill/>
              </a:ln>
              <a:solidFill>
                <a:srgbClr val="2A6099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1400"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10 אנשים נותנים 100%</a:t>
            </a:r>
            <a:r>
              <a:rPr lang="en-US" sz="1400"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1400"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מהתקציב לצפון;   5 אנשים נותנים 100%</a:t>
            </a:r>
            <a:r>
              <a:rPr lang="en-US" sz="1400"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1400"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מהתקציב לדרום;   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1400"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אז 2/3 מהתקציב צריך ללכת לצפון והשאר לדרום.</a:t>
            </a:r>
            <a:endParaRPr lang="en-US" sz="1200" b="0" i="0" u="none" strike="noStrike" kern="1200" cap="none">
              <a:ln>
                <a:noFill/>
              </a:ln>
              <a:solidFill>
                <a:srgbClr val="2A6099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אלגוריתם </a:t>
            </a:r>
            <a:r>
              <a:rPr lang="he-IL" sz="4000" b="0" i="1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הממוצע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– הוגן לקבוצות,</a:t>
            </a:r>
            <a:br>
              <a:rPr lang="en-US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he-IL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אבל לא מגלה-אמת.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אלגוריתם </a:t>
            </a:r>
            <a:r>
              <a:rPr lang="he-IL" sz="4000" b="0" i="1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החציון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– מגלה אמת,</a:t>
            </a:r>
            <a:br>
              <a:rPr lang="en-US" sz="4000" b="0" i="0" u="none" strike="noStrike" kern="1200" cap="none">
                <a:ln>
                  <a:noFill/>
                </a:ln>
                <a:solidFill>
                  <a:srgbClr val="00CC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he-IL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אבל לא הוגן לקבוצות.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9933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האם קיים אלגוריתם מגלה-אמת והוגן לקבוצות?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_0">
            <a:extLst>
              <a:ext uri="{FF2B5EF4-FFF2-40B4-BE49-F238E27FC236}">
                <a16:creationId xmlns:a16="http://schemas.microsoft.com/office/drawing/2014/main" id="{D2FD29CE-205B-2C2E-3925-4A60142BE31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74320" y="-91440"/>
            <a:ext cx="960120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אלגוריתם החציון המוכלל</a:t>
            </a:r>
          </a:p>
        </p:txBody>
      </p:sp>
      <p:sp>
        <p:nvSpPr>
          <p:cNvPr id="3" name="Content Placeholder 2_2">
            <a:extLst>
              <a:ext uri="{FF2B5EF4-FFF2-40B4-BE49-F238E27FC236}">
                <a16:creationId xmlns:a16="http://schemas.microsoft.com/office/drawing/2014/main" id="{B666F45E-D099-BCF2-7DB9-B1314826E42D}"/>
              </a:ext>
            </a:extLst>
          </p:cNvPr>
          <p:cNvSpPr txBox="1"/>
          <p:nvPr/>
        </p:nvSpPr>
        <p:spPr>
          <a:xfrm>
            <a:off x="457200" y="1188719"/>
            <a:ext cx="8694360" cy="479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compatLnSpc="0">
            <a:noAutofit/>
          </a:bodyPr>
          <a:lstStyle/>
          <a:p>
            <a:pPr marL="0" marR="0" lvl="0" indent="0" algn="l" hangingPunct="0">
              <a:spcBef>
                <a:spcPts val="2750"/>
              </a:spcBef>
              <a:spcAft>
                <a:spcPts val="0"/>
              </a:spcAft>
              <a:buNone/>
              <a:tabLst/>
            </a:pPr>
            <a:endParaRPr lang="en-US" sz="3000" b="0" i="0" u="none" strike="noStrike" kern="1200" spc="0">
              <a:ln>
                <a:noFill/>
              </a:ln>
              <a:solidFill>
                <a:srgbClr val="000000"/>
              </a:solidFill>
              <a:latin typeface="ＭＳ Ｐゴシック" pitchFamily="18"/>
              <a:ea typeface="Liberation Sans" pitchFamily="34"/>
              <a:cs typeface="DejaVu 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A62252-7ACD-CB40-FDC8-9390954BB51B}"/>
              </a:ext>
            </a:extLst>
          </p:cNvPr>
          <p:cNvSpPr txBox="1"/>
          <p:nvPr/>
        </p:nvSpPr>
        <p:spPr>
          <a:xfrm>
            <a:off x="0" y="1390319"/>
            <a:ext cx="10080720" cy="6581374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742950" marR="0" lvl="0" indent="-74295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+mj-lt"/>
              <a:buAutoNum type="arabicPeriod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7030A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בחר מראש קבוצה של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7030A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k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7030A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4000" b="0" i="1" u="none" strike="noStrike" kern="1200" cap="none">
                <a:ln>
                  <a:noFill/>
                </a:ln>
                <a:solidFill>
                  <a:srgbClr val="7030A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הצבעות קבועות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7030A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  <a:br>
              <a:rPr lang="en-US" sz="4000" b="0" i="0" u="none" strike="noStrike" kern="1200" cap="none">
                <a:ln>
                  <a:noFill/>
                </a:ln>
                <a:solidFill>
                  <a:srgbClr val="7030A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en-US" sz="4000" b="0" i="0" u="none" strike="noStrike" kern="1200" cap="none">
                <a:ln>
                  <a:noFill/>
                </a:ln>
                <a:solidFill>
                  <a:srgbClr val="7030A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f</a:t>
            </a:r>
            <a:r>
              <a:rPr lang="en-US" sz="4000" b="0" i="0" u="none" strike="noStrike" kern="1200" cap="none" baseline="-8000">
                <a:ln>
                  <a:noFill/>
                </a:ln>
                <a:solidFill>
                  <a:srgbClr val="7030A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1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7030A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,…,f</a:t>
            </a:r>
            <a:r>
              <a:rPr lang="en-US" sz="4000" b="0" i="0" u="none" strike="noStrike" kern="1200" cap="none" baseline="-8000">
                <a:ln>
                  <a:noFill/>
                </a:ln>
                <a:solidFill>
                  <a:srgbClr val="7030A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k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7030A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.</a:t>
            </a:r>
            <a:br>
              <a:rPr lang="en-US" sz="4000" b="0" i="0" u="none" strike="noStrike" kern="1200" cap="none">
                <a:ln>
                  <a:noFill/>
                </a:ln>
                <a:solidFill>
                  <a:srgbClr val="7030A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</a:br>
            <a:r>
              <a:rPr lang="he-IL" sz="4000" b="0" i="0" u="none" strike="noStrike" kern="1200" cap="none">
                <a:ln>
                  <a:noFill/>
                </a:ln>
                <a:solidFill>
                  <a:srgbClr val="7030A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   </a:t>
            </a:r>
            <a:r>
              <a:rPr lang="he-IL" sz="4000">
                <a:solidFill>
                  <a:srgbClr val="7030A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 [נקראות גם "פנטומים"</a:t>
            </a:r>
            <a:r>
              <a:rPr lang="en-US" sz="4000">
                <a:solidFill>
                  <a:srgbClr val="7030A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 </a:t>
            </a:r>
            <a:r>
              <a:rPr lang="he-IL" sz="4000">
                <a:solidFill>
                  <a:srgbClr val="7030A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– </a:t>
            </a:r>
            <a:r>
              <a:rPr lang="en-US" sz="4000">
                <a:solidFill>
                  <a:srgbClr val="7030A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phantoms</a:t>
            </a:r>
            <a:r>
              <a:rPr lang="he-IL" sz="4000">
                <a:solidFill>
                  <a:srgbClr val="7030A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].</a:t>
            </a:r>
            <a:br>
              <a:rPr lang="en-US" sz="4000">
                <a:solidFill>
                  <a:srgbClr val="7030A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</a:br>
            <a:endParaRPr lang="en-US" sz="4000" b="0" i="0" u="none" strike="noStrike" kern="1200" cap="none">
              <a:ln>
                <a:noFill/>
              </a:ln>
              <a:solidFill>
                <a:srgbClr val="7030A0"/>
              </a:solidFill>
              <a:latin typeface="Times New Roman" pitchFamily="18"/>
              <a:ea typeface="Noto Sans CJK SC Regular" pitchFamily="2"/>
              <a:cs typeface="Liberation Sans" pitchFamily="34"/>
            </a:endParaRPr>
          </a:p>
          <a:p>
            <a:pPr marL="742950" marR="0" lvl="0" indent="-74295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+mj-lt"/>
              <a:buAutoNum type="arabicPeriod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B05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הוסף אותן לקבוצת הצבעות האזרחים:</a:t>
            </a:r>
            <a:br>
              <a:rPr lang="en-US" sz="4000" b="0" i="0" u="none" strike="noStrike" kern="1200" cap="none">
                <a:ln>
                  <a:noFill/>
                </a:ln>
                <a:solidFill>
                  <a:srgbClr val="00B05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en-US" sz="4000" b="0" i="0" u="none" strike="noStrike" kern="1200" cap="none">
                <a:ln>
                  <a:noFill/>
                </a:ln>
                <a:solidFill>
                  <a:srgbClr val="00B05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p</a:t>
            </a:r>
            <a:r>
              <a:rPr lang="en-US" sz="4000" b="0" i="0" u="none" strike="noStrike" kern="1200" cap="none" baseline="-8000">
                <a:ln>
                  <a:noFill/>
                </a:ln>
                <a:solidFill>
                  <a:srgbClr val="00B05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1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B05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,…,p</a:t>
            </a:r>
            <a:r>
              <a:rPr lang="en-US" sz="4000" b="0" i="0" u="none" strike="noStrike" kern="1200" cap="none" baseline="-8000">
                <a:ln>
                  <a:noFill/>
                </a:ln>
                <a:solidFill>
                  <a:srgbClr val="00B05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n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B05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.</a:t>
            </a:r>
            <a:br>
              <a:rPr lang="en-US" sz="4000" b="0" i="0" u="none" strike="noStrike" kern="1200" cap="none">
                <a:ln>
                  <a:noFill/>
                </a:ln>
                <a:solidFill>
                  <a:srgbClr val="00B05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</a:br>
            <a:endParaRPr lang="en-US" sz="4000" b="0" i="0" u="none" strike="noStrike" kern="1200" cap="none">
              <a:ln>
                <a:noFill/>
              </a:ln>
              <a:solidFill>
                <a:srgbClr val="00B050"/>
              </a:solidFill>
              <a:latin typeface="Times New Roman" pitchFamily="18"/>
              <a:ea typeface="Noto Sans CJK SC Regular" pitchFamily="2"/>
              <a:cs typeface="Liberation Sans" pitchFamily="34"/>
            </a:endParaRPr>
          </a:p>
          <a:p>
            <a:pPr marL="742950" marR="0" lvl="0" indent="-74295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+mj-lt"/>
              <a:buAutoNum type="arabicPeriod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070C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הפעל את אלגוריתם החציון המקורי על קבוצת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70C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n+k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70C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70C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ההצבעות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70C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(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70C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הקבועות ושל האזרחים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70C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).</a:t>
            </a:r>
            <a:endParaRPr lang="en-US" sz="4000" b="0" i="0" u="none" strike="noStrike" kern="1200" cap="none">
              <a:ln>
                <a:noFill/>
              </a:ln>
              <a:solidFill>
                <a:srgbClr val="0070C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R="0" lvl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tabLst/>
            </a:pPr>
            <a:r>
              <a:rPr lang="he-IL" sz="4000" b="0" i="0" u="none" strike="noStrike" kern="1200" cap="none" baseline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endParaRPr lang="en-US" sz="4000" b="0" i="0" u="none" strike="noStrike" kern="1200" cap="none" baseline="0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_3">
            <a:extLst>
              <a:ext uri="{FF2B5EF4-FFF2-40B4-BE49-F238E27FC236}">
                <a16:creationId xmlns:a16="http://schemas.microsoft.com/office/drawing/2014/main" id="{0174F0D1-4F09-8F08-A542-D0077D1627CC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74320" y="-91440"/>
            <a:ext cx="960120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החציון המוכלל - דוגמאות</a:t>
            </a:r>
          </a:p>
        </p:txBody>
      </p:sp>
      <p:sp>
        <p:nvSpPr>
          <p:cNvPr id="3" name="Content Placeholder 2_3">
            <a:extLst>
              <a:ext uri="{FF2B5EF4-FFF2-40B4-BE49-F238E27FC236}">
                <a16:creationId xmlns:a16="http://schemas.microsoft.com/office/drawing/2014/main" id="{B9713595-49D2-7994-546E-1148D8449F5A}"/>
              </a:ext>
            </a:extLst>
          </p:cNvPr>
          <p:cNvSpPr txBox="1"/>
          <p:nvPr/>
        </p:nvSpPr>
        <p:spPr>
          <a:xfrm>
            <a:off x="457200" y="1188719"/>
            <a:ext cx="8694360" cy="479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compatLnSpc="0">
            <a:noAutofit/>
          </a:bodyPr>
          <a:lstStyle/>
          <a:p>
            <a:pPr marL="0" marR="0" lvl="0" indent="0" algn="l" hangingPunct="0">
              <a:spcBef>
                <a:spcPts val="2750"/>
              </a:spcBef>
              <a:spcAft>
                <a:spcPts val="0"/>
              </a:spcAft>
              <a:buNone/>
              <a:tabLst/>
            </a:pPr>
            <a:endParaRPr lang="en-US" sz="3000" b="0" i="0" u="none" strike="noStrike" kern="1200" spc="0">
              <a:ln>
                <a:noFill/>
              </a:ln>
              <a:solidFill>
                <a:srgbClr val="000000"/>
              </a:solidFill>
              <a:latin typeface="ＭＳ Ｐゴシック" pitchFamily="18"/>
              <a:ea typeface="Liberation Sans" pitchFamily="34"/>
              <a:cs typeface="DejaVu 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CDE744-B15A-5FF4-B106-AB6541F82614}"/>
              </a:ext>
            </a:extLst>
          </p:cNvPr>
          <p:cNvSpPr txBox="1"/>
          <p:nvPr/>
        </p:nvSpPr>
        <p:spPr>
          <a:xfrm>
            <a:off x="0" y="1390319"/>
            <a:ext cx="10080720" cy="5993777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arenR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80008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נניח שיש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80008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n-1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80008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80008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הצבעות קבועות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80008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80008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וכולן שוות 0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80008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4000" b="0" i="0" u="none" strike="noStrike" kern="1200" cap="none">
              <a:ln>
                <a:noFill/>
              </a:ln>
              <a:solidFill>
                <a:srgbClr val="80008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80008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אז אלגוריתם החציון המוכלל בוחר את ההצבעה המינימלית של אזרח:      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80008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min</a:t>
            </a:r>
            <a:r>
              <a:rPr lang="en-US" sz="4000" b="0" i="0" u="none" strike="noStrike" kern="1200" cap="none" baseline="-8000">
                <a:ln>
                  <a:noFill/>
                </a:ln>
                <a:solidFill>
                  <a:srgbClr val="80008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80008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p</a:t>
            </a:r>
            <a:r>
              <a:rPr lang="en-US" sz="4000" b="0" i="0" u="none" strike="noStrike" kern="1200" cap="none" baseline="-8000">
                <a:ln>
                  <a:noFill/>
                </a:ln>
                <a:solidFill>
                  <a:srgbClr val="80008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80008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4000" b="0" i="0" u="none" strike="noStrike" kern="1200" cap="none">
              <a:ln>
                <a:noFill/>
              </a:ln>
              <a:solidFill>
                <a:srgbClr val="80008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arenR" startAt="2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1584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נניח שיש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1584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n-1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1584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1584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הצבעות קבועות</a:t>
            </a:r>
            <a:r>
              <a:rPr lang="he-IL" sz="4000">
                <a:solidFill>
                  <a:srgbClr val="1584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158466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וכולן שוות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158466"/>
                </a:solidFill>
                <a:latin typeface="Liberation Serif" pitchFamily="18"/>
                <a:ea typeface="Noto Sans CJK SC Regular" pitchFamily="2"/>
                <a:cs typeface="Liberation Sans" pitchFamily="34"/>
              </a:rPr>
              <a:t>C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158466"/>
                </a:solidFill>
                <a:latin typeface="Liberation Sans" pitchFamily="34"/>
                <a:ea typeface="Liberation Serif" pitchFamily="18"/>
                <a:cs typeface="Liberation Serif" pitchFamily="18"/>
              </a:rPr>
              <a:t>.</a:t>
            </a:r>
            <a:endParaRPr lang="en-US" sz="4000" b="0" i="0" u="none" strike="noStrike" kern="1200" cap="none">
              <a:ln>
                <a:noFill/>
              </a:ln>
              <a:solidFill>
                <a:srgbClr val="158466"/>
              </a:solidFill>
              <a:latin typeface="Liberation Sans" pitchFamily="34"/>
              <a:ea typeface="Liberation Serif" pitchFamily="18"/>
              <a:cs typeface="Liberation Serif" pitchFamily="18"/>
            </a:endParaRP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158466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אז אלגוריתם החציון המוכלל בוחר את ההצבעה המקסימלית של אזרח: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158466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158466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158466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max</a:t>
            </a:r>
            <a:r>
              <a:rPr lang="en-US" sz="4000" b="0" i="0" u="none" strike="noStrike" kern="1200" cap="none" baseline="-8000">
                <a:ln>
                  <a:noFill/>
                </a:ln>
                <a:solidFill>
                  <a:srgbClr val="158466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j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158466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 p</a:t>
            </a:r>
            <a:r>
              <a:rPr lang="en-US" sz="4000" b="0" i="0" u="none" strike="noStrike" kern="1200" cap="none" baseline="-8000">
                <a:ln>
                  <a:noFill/>
                </a:ln>
                <a:solidFill>
                  <a:srgbClr val="158466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j</a:t>
            </a:r>
            <a:r>
              <a:rPr lang="he-IL" sz="4000">
                <a:solidFill>
                  <a:srgbClr val="158466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.</a:t>
            </a:r>
            <a:endParaRPr lang="en-US" sz="4000" b="0" i="0" u="none" strike="noStrike" kern="1200" cap="none">
              <a:ln>
                <a:noFill/>
              </a:ln>
              <a:solidFill>
                <a:srgbClr val="158466"/>
              </a:solidFill>
              <a:latin typeface="Liberation Sans" pitchFamily="34"/>
              <a:ea typeface="Liberation Serif" pitchFamily="18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AutoNum type="arabicParenR" startAt="3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נניח שחצי מההצבעות הקבועות הן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0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והחצי השני הן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erif" pitchFamily="18"/>
                <a:ea typeface="Liberation Serif" pitchFamily="18"/>
                <a:cs typeface="Liberation Sans" pitchFamily="34"/>
              </a:rPr>
              <a:t>C</a:t>
            </a:r>
            <a:r>
              <a:rPr lang="he-IL" sz="4000">
                <a:solidFill>
                  <a:srgbClr val="2A6099"/>
                </a:solidFill>
                <a:latin typeface="Liberation Sans" pitchFamily="34"/>
                <a:ea typeface="Liberation Serif" pitchFamily="18"/>
                <a:cs typeface="Liberation Serif" pitchFamily="18"/>
              </a:rPr>
              <a:t>.</a:t>
            </a:r>
            <a:endParaRPr lang="en-US" sz="4000" b="0" i="0" u="none" strike="noStrike" kern="1200" cap="none">
              <a:ln>
                <a:noFill/>
              </a:ln>
              <a:solidFill>
                <a:srgbClr val="2A6099"/>
              </a:solidFill>
              <a:latin typeface="Liberation Sans" pitchFamily="34"/>
              <a:ea typeface="Liberation Serif" pitchFamily="18"/>
              <a:cs typeface="Liberation Serif" pitchFamily="18"/>
            </a:endParaRP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אז אלגוריתם החציון המוכלל בוחר את החציון של הצבעות האזרחים.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99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99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99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99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99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99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_4">
            <a:extLst>
              <a:ext uri="{FF2B5EF4-FFF2-40B4-BE49-F238E27FC236}">
                <a16:creationId xmlns:a16="http://schemas.microsoft.com/office/drawing/2014/main" id="{DC738F3F-B7E7-F45B-7470-BC0AEF9DCD0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74320" y="-91440"/>
            <a:ext cx="960120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החציון המוכלל - תכונות</a:t>
            </a:r>
          </a:p>
        </p:txBody>
      </p:sp>
      <p:sp>
        <p:nvSpPr>
          <p:cNvPr id="3" name="Content Placeholder 2_4">
            <a:extLst>
              <a:ext uri="{FF2B5EF4-FFF2-40B4-BE49-F238E27FC236}">
                <a16:creationId xmlns:a16="http://schemas.microsoft.com/office/drawing/2014/main" id="{992A303D-514D-DFC1-7ED3-89EEA291AE10}"/>
              </a:ext>
            </a:extLst>
          </p:cNvPr>
          <p:cNvSpPr txBox="1"/>
          <p:nvPr/>
        </p:nvSpPr>
        <p:spPr>
          <a:xfrm>
            <a:off x="457200" y="1188719"/>
            <a:ext cx="8694360" cy="479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compatLnSpc="0">
            <a:noAutofit/>
          </a:bodyPr>
          <a:lstStyle/>
          <a:p>
            <a:pPr marL="0" marR="0" lvl="0" indent="0" algn="l" hangingPunct="0">
              <a:spcBef>
                <a:spcPts val="2750"/>
              </a:spcBef>
              <a:spcAft>
                <a:spcPts val="0"/>
              </a:spcAft>
              <a:buNone/>
              <a:tabLst/>
            </a:pPr>
            <a:endParaRPr lang="en-US" sz="3000" b="0" i="0" u="none" strike="noStrike" kern="1200" spc="0">
              <a:ln>
                <a:noFill/>
              </a:ln>
              <a:solidFill>
                <a:srgbClr val="000000"/>
              </a:solidFill>
              <a:latin typeface="ＭＳ Ｐゴシック" pitchFamily="18"/>
              <a:ea typeface="Liberation Sans" pitchFamily="34"/>
              <a:cs typeface="DejaVu 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8757DE-B5CF-6C58-983D-C5982E107894}"/>
              </a:ext>
            </a:extLst>
          </p:cNvPr>
          <p:cNvSpPr txBox="1"/>
          <p:nvPr/>
        </p:nvSpPr>
        <p:spPr>
          <a:xfrm>
            <a:off x="-95" y="1188719"/>
            <a:ext cx="10080720" cy="6225763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משפט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.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לכל קבוצה של הצבעות קבועות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, אלגוריתם החציון המוכלל הוא מגלה-אמת.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2800" b="1" u="none" strike="noStrike" kern="1200" cap="none">
                <a:ln>
                  <a:noFill/>
                </a:ln>
                <a:latin typeface="Liberation Sans" pitchFamily="34"/>
                <a:ea typeface="Liberation Serif" pitchFamily="18"/>
                <a:cs typeface="Liberation Sans" pitchFamily="34"/>
              </a:rPr>
              <a:t>הוכחה</a:t>
            </a:r>
            <a:r>
              <a:rPr lang="he-IL" sz="2800" b="0" i="0" u="none" strike="noStrike" kern="1200" cap="none">
                <a:ln>
                  <a:noFill/>
                </a:ln>
                <a:latin typeface="Liberation Sans" pitchFamily="34"/>
                <a:ea typeface="Liberation Serif" pitchFamily="18"/>
                <a:cs typeface="Liberation Sans" pitchFamily="34"/>
              </a:rPr>
              <a:t>. </a:t>
            </a:r>
            <a:r>
              <a:rPr lang="en-US" sz="2800" b="0" i="0" u="none" strike="noStrike" kern="1200" cap="none">
                <a:ln>
                  <a:noFill/>
                </a:ln>
                <a:latin typeface="Liberation Sans" pitchFamily="34"/>
                <a:ea typeface="Liberation Serif" pitchFamily="18"/>
                <a:cs typeface="Liberation Sans" pitchFamily="34"/>
              </a:rPr>
              <a:t>זהה לאלגוריתם החציון הרגיל</a:t>
            </a:r>
            <a:r>
              <a:rPr lang="he-IL" sz="2800" b="0" i="0" u="none" strike="noStrike" kern="1200" cap="none">
                <a:ln>
                  <a:noFill/>
                </a:ln>
                <a:latin typeface="Liberation Sans" pitchFamily="34"/>
                <a:ea typeface="Liberation Serif" pitchFamily="18"/>
                <a:cs typeface="Liberation Sans" pitchFamily="34"/>
              </a:rPr>
              <a:t>. 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2800">
                <a:solidFill>
                  <a:schemeClr val="tx2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נוכיח טענה חזקה יותר: האלגוריתם מגלה</a:t>
            </a:r>
            <a:r>
              <a:rPr lang="en-US" sz="2800">
                <a:solidFill>
                  <a:schemeClr val="tx2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-</a:t>
            </a:r>
            <a:r>
              <a:rPr lang="he-IL" sz="2800">
                <a:solidFill>
                  <a:schemeClr val="tx2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אמת לא רק ליחידים אלא גם </a:t>
            </a:r>
            <a:r>
              <a:rPr lang="he-IL" sz="2800" i="1">
                <a:solidFill>
                  <a:schemeClr val="tx2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לקבוצות (</a:t>
            </a:r>
            <a:r>
              <a:rPr lang="en-US" sz="2800">
                <a:solidFill>
                  <a:schemeClr val="tx2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group strategyproof</a:t>
            </a:r>
            <a:r>
              <a:rPr lang="he-IL" sz="2800">
                <a:solidFill>
                  <a:schemeClr val="tx2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):</a:t>
            </a:r>
            <a:r>
              <a:rPr lang="en-US" sz="2800">
                <a:solidFill>
                  <a:schemeClr val="tx2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</a:t>
            </a:r>
            <a:r>
              <a:rPr lang="he-IL" sz="2800">
                <a:solidFill>
                  <a:schemeClr val="tx2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אין קבוצה של אזרחים, היכולים לתאם ביניהם הצבעות, כך שהתוצאה תהיה טובה יותר לכולם</a:t>
            </a:r>
            <a:r>
              <a:rPr lang="en-US" sz="2800">
                <a:solidFill>
                  <a:schemeClr val="tx2">
                    <a:lumMod val="75000"/>
                    <a:lumOff val="2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.</a:t>
            </a:r>
            <a:endParaRPr lang="he-IL" sz="2800">
              <a:solidFill>
                <a:schemeClr val="tx2">
                  <a:lumMod val="75000"/>
                  <a:lumOff val="25000"/>
                </a:schemeClr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  <a:p>
            <a:pPr algn="r" rtl="1"/>
            <a:r>
              <a:rPr lang="he-IL" sz="28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נסמן </a:t>
            </a:r>
            <a:r>
              <a:rPr lang="en-US" sz="28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x</a:t>
            </a:r>
            <a:r>
              <a:rPr lang="he-IL" sz="28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:= הערך הנבחר כשכולם דוברי</a:t>
            </a:r>
            <a:r>
              <a:rPr lang="en-US" sz="28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-</a:t>
            </a:r>
            <a:r>
              <a:rPr lang="he-IL" sz="2800"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אמת. </a:t>
            </a:r>
            <a:r>
              <a:rPr lang="he-IL" sz="2800">
                <a:solidFill>
                  <a:srgbClr val="7030A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קבוצה כלשהי </a:t>
            </a:r>
            <a:r>
              <a:rPr lang="en-US" sz="2800">
                <a:solidFill>
                  <a:srgbClr val="7030A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S</a:t>
            </a:r>
            <a:r>
              <a:rPr lang="he-IL" sz="2800">
                <a:solidFill>
                  <a:srgbClr val="7030A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שוקלת לתאם את ההצבעות כדי לשנות את </a:t>
            </a:r>
            <a:r>
              <a:rPr lang="en-US" sz="2800">
                <a:solidFill>
                  <a:srgbClr val="7030A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x</a:t>
            </a:r>
            <a:r>
              <a:rPr lang="he-IL" sz="2800">
                <a:solidFill>
                  <a:srgbClr val="7030A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. הם חייבים להסכים על כיוון השינוי. נניח בה"כ שהם מסכימים שצריך להגדיל את </a:t>
            </a:r>
            <a:r>
              <a:rPr lang="en-US" sz="2800">
                <a:solidFill>
                  <a:srgbClr val="7030A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x</a:t>
            </a:r>
            <a:r>
              <a:rPr lang="he-IL" sz="2800">
                <a:solidFill>
                  <a:srgbClr val="7030A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– כלומר ערכי האמת של כולם גדולים מ-</a:t>
            </a:r>
            <a:r>
              <a:rPr lang="en-US" sz="2800">
                <a:solidFill>
                  <a:srgbClr val="7030A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x</a:t>
            </a:r>
            <a:r>
              <a:rPr lang="he-IL" sz="2800">
                <a:solidFill>
                  <a:srgbClr val="7030A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.</a:t>
            </a:r>
          </a:p>
          <a:p>
            <a:pPr algn="r" rtl="1"/>
            <a:r>
              <a:rPr lang="en-US" sz="2800">
                <a:solidFill>
                  <a:schemeClr val="accent2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x</a:t>
            </a:r>
            <a:r>
              <a:rPr lang="he-IL" sz="2800">
                <a:solidFill>
                  <a:schemeClr val="accent2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הוא חציון בקבוצה של </a:t>
            </a:r>
            <a:r>
              <a:rPr lang="en-US" sz="2800">
                <a:solidFill>
                  <a:schemeClr val="accent2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n+k</a:t>
            </a:r>
            <a:r>
              <a:rPr lang="he-IL" sz="2800">
                <a:solidFill>
                  <a:schemeClr val="accent2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הצבעות. לכן יש לפחות </a:t>
            </a:r>
            <a:r>
              <a:rPr lang="en-US" sz="2800">
                <a:solidFill>
                  <a:schemeClr val="accent2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(n+k)/2</a:t>
            </a:r>
            <a:r>
              <a:rPr lang="he-IL" sz="2800">
                <a:solidFill>
                  <a:schemeClr val="accent2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הצבעות </a:t>
            </a:r>
            <a:r>
              <a:rPr lang="he-IL">
                <a:solidFill>
                  <a:schemeClr val="accent2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(של אזרחים אחרים, או קבועות)</a:t>
            </a:r>
            <a:r>
              <a:rPr lang="en-US">
                <a:solidFill>
                  <a:schemeClr val="accent2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</a:t>
            </a:r>
            <a:r>
              <a:rPr lang="he-IL" sz="2800">
                <a:solidFill>
                  <a:schemeClr val="accent2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שהן &lt;= </a:t>
            </a:r>
            <a:r>
              <a:rPr lang="en-US" sz="2800">
                <a:solidFill>
                  <a:schemeClr val="accent2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x</a:t>
            </a:r>
            <a:r>
              <a:rPr lang="he-IL" sz="2800">
                <a:solidFill>
                  <a:schemeClr val="accent2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. ההצבעות הללו </a:t>
            </a:r>
            <a:r>
              <a:rPr lang="he-IL" sz="2800" i="1">
                <a:solidFill>
                  <a:schemeClr val="accent2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אינן</a:t>
            </a:r>
            <a:r>
              <a:rPr lang="he-IL" sz="2800">
                <a:solidFill>
                  <a:schemeClr val="accent2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של חברי</a:t>
            </a:r>
            <a:r>
              <a:rPr lang="en-US" sz="2800">
                <a:solidFill>
                  <a:schemeClr val="accent2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S </a:t>
            </a:r>
            <a:r>
              <a:rPr lang="he-IL" sz="2800">
                <a:solidFill>
                  <a:schemeClr val="accent2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. לכן, לכל פעולה של חברי </a:t>
            </a:r>
            <a:r>
              <a:rPr lang="en-US" sz="2800">
                <a:solidFill>
                  <a:schemeClr val="accent2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S</a:t>
            </a:r>
            <a:r>
              <a:rPr lang="he-IL" sz="2800">
                <a:solidFill>
                  <a:schemeClr val="accent2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, עדיין יהיו לפחות </a:t>
            </a:r>
            <a:r>
              <a:rPr lang="en-US" sz="2800">
                <a:solidFill>
                  <a:schemeClr val="accent2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(n+k)/2</a:t>
            </a:r>
            <a:r>
              <a:rPr lang="he-IL" sz="2800">
                <a:solidFill>
                  <a:schemeClr val="accent2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הצבעות &lt;= </a:t>
            </a:r>
            <a:r>
              <a:rPr lang="en-US" sz="2800">
                <a:solidFill>
                  <a:schemeClr val="accent2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x</a:t>
            </a:r>
            <a:r>
              <a:rPr lang="he-IL" sz="2800">
                <a:solidFill>
                  <a:schemeClr val="accent2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.</a:t>
            </a:r>
            <a:r>
              <a:rPr lang="en-US" sz="2800">
                <a:solidFill>
                  <a:schemeClr val="accent2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</a:t>
            </a:r>
            <a:r>
              <a:rPr lang="he-IL" sz="2800">
                <a:solidFill>
                  <a:schemeClr val="accent2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לכן החציון יהיה &lt;= </a:t>
            </a:r>
            <a:r>
              <a:rPr lang="en-US" sz="2800">
                <a:solidFill>
                  <a:schemeClr val="accent2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x</a:t>
            </a:r>
            <a:r>
              <a:rPr lang="he-IL" sz="2800">
                <a:solidFill>
                  <a:schemeClr val="accent2">
                    <a:lumMod val="75000"/>
                  </a:schemeClr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. </a:t>
            </a:r>
            <a:r>
              <a:rPr lang="he-IL" sz="2800">
                <a:solidFill>
                  <a:srgbClr val="7030A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לכן חברי </a:t>
            </a:r>
            <a:r>
              <a:rPr lang="en-US" sz="2800">
                <a:solidFill>
                  <a:srgbClr val="7030A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S</a:t>
            </a:r>
            <a:r>
              <a:rPr lang="he-IL" sz="2800">
                <a:solidFill>
                  <a:srgbClr val="7030A0"/>
                </a:solidFill>
                <a:latin typeface="Liberation Sans" panose="020B0604020202020204" pitchFamily="34" charset="0"/>
                <a:ea typeface="Liberation Sans" panose="020B0604020202020204" pitchFamily="34" charset="0"/>
                <a:cs typeface="Liberation Sans" panose="020B0604020202020204" pitchFamily="34" charset="0"/>
              </a:rPr>
              <a:t> לא ירויחו. ***</a:t>
            </a:r>
            <a:endParaRPr lang="en-US" sz="2800">
              <a:solidFill>
                <a:srgbClr val="7030A0"/>
              </a:solidFill>
              <a:latin typeface="Liberation Sans" panose="020B0604020202020204" pitchFamily="34" charset="0"/>
              <a:ea typeface="Liberation Sans" panose="020B0604020202020204" pitchFamily="34" charset="0"/>
              <a:cs typeface="Liberation Sans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15C3C-0E99-A8BA-AE5D-CCBF0CADD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_4">
            <a:extLst>
              <a:ext uri="{FF2B5EF4-FFF2-40B4-BE49-F238E27FC236}">
                <a16:creationId xmlns:a16="http://schemas.microsoft.com/office/drawing/2014/main" id="{67B3E472-7960-EB6E-4E9D-E1F6826F672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74320" y="-91440"/>
            <a:ext cx="960120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החציון המוכלל - תכונות</a:t>
            </a:r>
          </a:p>
        </p:txBody>
      </p:sp>
      <p:sp>
        <p:nvSpPr>
          <p:cNvPr id="3" name="Content Placeholder 2_4">
            <a:extLst>
              <a:ext uri="{FF2B5EF4-FFF2-40B4-BE49-F238E27FC236}">
                <a16:creationId xmlns:a16="http://schemas.microsoft.com/office/drawing/2014/main" id="{E8C4DB47-CE98-2516-11BB-DCF945C0EDAE}"/>
              </a:ext>
            </a:extLst>
          </p:cNvPr>
          <p:cNvSpPr txBox="1"/>
          <p:nvPr/>
        </p:nvSpPr>
        <p:spPr>
          <a:xfrm>
            <a:off x="457200" y="1188719"/>
            <a:ext cx="8694360" cy="479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compatLnSpc="0">
            <a:noAutofit/>
          </a:bodyPr>
          <a:lstStyle/>
          <a:p>
            <a:pPr marL="0" marR="0" lvl="0" indent="0" algn="l" hangingPunct="0">
              <a:spcBef>
                <a:spcPts val="2750"/>
              </a:spcBef>
              <a:spcAft>
                <a:spcPts val="0"/>
              </a:spcAft>
              <a:buNone/>
              <a:tabLst/>
            </a:pPr>
            <a:endParaRPr lang="en-US" sz="3000" b="0" i="0" u="none" strike="noStrike" kern="1200" spc="0">
              <a:ln>
                <a:noFill/>
              </a:ln>
              <a:solidFill>
                <a:srgbClr val="000000"/>
              </a:solidFill>
              <a:latin typeface="ＭＳ Ｐゴシック" pitchFamily="18"/>
              <a:ea typeface="Liberation Sans" pitchFamily="34"/>
              <a:cs typeface="DejaVu 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E93E5E-4C7B-D75C-AE41-D626CDB49552}"/>
              </a:ext>
            </a:extLst>
          </p:cNvPr>
          <p:cNvSpPr txBox="1"/>
          <p:nvPr/>
        </p:nvSpPr>
        <p:spPr>
          <a:xfrm>
            <a:off x="0" y="1097280"/>
            <a:ext cx="10080720" cy="4219766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משפט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.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אם יש לכל היותר 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n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-1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הצבעות קבועות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אלגוריתם החציון המוכלל יעיל-פארטו.</a:t>
            </a:r>
          </a:p>
          <a:p>
            <a:pPr lvl="0" algn="r" rtl="1" hangingPunct="0"/>
            <a:r>
              <a:rPr lang="he-IL" sz="4000" b="0" i="1" u="none" strike="noStrike" kern="1200" cap="none">
                <a:ln>
                  <a:noFill/>
                </a:ln>
                <a:latin typeface="Liberation Sans" pitchFamily="34"/>
                <a:ea typeface="Liberation Serif" pitchFamily="18"/>
                <a:cs typeface="Liberation Sans" pitchFamily="34"/>
              </a:rPr>
              <a:t>הוכחה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Liberation Serif" pitchFamily="18"/>
                <a:cs typeface="Liberation Sans" pitchFamily="34"/>
              </a:rPr>
              <a:t>.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6666FF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יש </a:t>
            </a:r>
            <a:r>
              <a:rPr lang="en-US" sz="4000">
                <a:solidFill>
                  <a:srgbClr val="6666FF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(n+k)/2</a:t>
            </a:r>
            <a:r>
              <a:rPr lang="he-IL" sz="4000">
                <a:solidFill>
                  <a:srgbClr val="6666FF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6666FF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הצבעות גדולות או שוות לחציון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6666FF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, וכן</a:t>
            </a:r>
            <a:r>
              <a:rPr lang="en-US" sz="4000">
                <a:solidFill>
                  <a:srgbClr val="6666FF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 (n+k)/2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6666FF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 הצבעות קטנות או שוות לחציון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6666FF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.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9900FF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כאשר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9900FF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k &lt; n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9900FF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9900FF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שתי הקבוצות כוללות הצבעות של אזרחים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9900FF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9900FF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כי (n+k)/2 &gt; k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9900FF"/>
                </a:solidFill>
                <a:latin typeface="Liberation Sans" pitchFamily="34"/>
                <a:ea typeface="Liberation Serif" pitchFamily="18"/>
                <a:cs typeface="Liberation Sans" pitchFamily="34"/>
              </a:rPr>
              <a:t>.</a:t>
            </a:r>
            <a:endParaRPr lang="en-US" sz="4000" b="0" i="0" u="none" strike="noStrike" kern="1200" cap="none">
              <a:ln>
                <a:noFill/>
              </a:ln>
              <a:solidFill>
                <a:srgbClr val="9900FF"/>
              </a:solidFill>
              <a:latin typeface="Liberation Sans" pitchFamily="34"/>
              <a:ea typeface="Liberation Serif" pitchFamily="18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Liberation Serif" pitchFamily="18"/>
                <a:cs typeface="Liberation Sans" pitchFamily="34"/>
              </a:rPr>
              <a:t>לכן לא קיים שיפור פארטו. ***</a:t>
            </a:r>
          </a:p>
        </p:txBody>
      </p:sp>
    </p:spTree>
    <p:extLst>
      <p:ext uri="{BB962C8B-B14F-4D97-AF65-F5344CB8AC3E}">
        <p14:creationId xmlns:p14="http://schemas.microsoft.com/office/powerpoint/2010/main" val="40927756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_6">
            <a:extLst>
              <a:ext uri="{FF2B5EF4-FFF2-40B4-BE49-F238E27FC236}">
                <a16:creationId xmlns:a16="http://schemas.microsoft.com/office/drawing/2014/main" id="{468E3986-87AA-6A14-A7AF-3F13538CFDE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74320" y="-272160"/>
            <a:ext cx="960120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שני סעיפי תקציב - המשך</a:t>
            </a:r>
          </a:p>
        </p:txBody>
      </p:sp>
      <p:sp>
        <p:nvSpPr>
          <p:cNvPr id="3" name="Content Placeholder 2_6">
            <a:extLst>
              <a:ext uri="{FF2B5EF4-FFF2-40B4-BE49-F238E27FC236}">
                <a16:creationId xmlns:a16="http://schemas.microsoft.com/office/drawing/2014/main" id="{C113ABF4-C114-3584-F3FB-1ADB692B83F5}"/>
              </a:ext>
            </a:extLst>
          </p:cNvPr>
          <p:cNvSpPr txBox="1"/>
          <p:nvPr/>
        </p:nvSpPr>
        <p:spPr>
          <a:xfrm>
            <a:off x="457200" y="1188719"/>
            <a:ext cx="8694360" cy="479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compatLnSpc="0">
            <a:noAutofit/>
          </a:bodyPr>
          <a:lstStyle/>
          <a:p>
            <a:pPr marL="0" marR="0" lvl="0" indent="0" algn="l" hangingPunct="0">
              <a:spcBef>
                <a:spcPts val="2750"/>
              </a:spcBef>
              <a:spcAft>
                <a:spcPts val="0"/>
              </a:spcAft>
              <a:buNone/>
              <a:tabLst/>
            </a:pPr>
            <a:endParaRPr lang="en-US" sz="3000" b="0" i="0" u="none" strike="noStrike" kern="1200" spc="0">
              <a:ln>
                <a:noFill/>
              </a:ln>
              <a:solidFill>
                <a:srgbClr val="000000"/>
              </a:solidFill>
              <a:latin typeface="ＭＳ Ｐゴシック" pitchFamily="18"/>
              <a:ea typeface="Liberation Sans" pitchFamily="34"/>
              <a:cs typeface="DejaVu 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CF2446-049E-A04D-61EF-40855F7B58CC}"/>
              </a:ext>
            </a:extLst>
          </p:cNvPr>
          <p:cNvSpPr txBox="1"/>
          <p:nvPr/>
        </p:nvSpPr>
        <p:spPr>
          <a:xfrm>
            <a:off x="274320" y="822960"/>
            <a:ext cx="9601200" cy="646114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נפעיל את אלגוריתם החציון המוכלל עם </a:t>
            </a:r>
            <a:r>
              <a:rPr lang="en-US" sz="40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n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-1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הצבעות קבועות מפוזרות אחיד בין 0 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ל-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C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  <a:endParaRPr lang="en-US" sz="4000" b="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f</a:t>
            </a:r>
            <a:r>
              <a:rPr lang="en-US" sz="4000" b="0" i="1" u="none" strike="noStrike" kern="1200" cap="none" baseline="-800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:= </a:t>
            </a:r>
            <a:r>
              <a:rPr lang="en-US" sz="40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C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* </a:t>
            </a:r>
            <a:r>
              <a:rPr lang="en-US" sz="40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/ </a:t>
            </a:r>
            <a:r>
              <a:rPr lang="en-US" sz="40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n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2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(</a:t>
            </a:r>
            <a:r>
              <a:rPr lang="en-US" sz="32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2n-1</a:t>
            </a:r>
            <a:r>
              <a:rPr lang="he-IL" sz="32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2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הצבעות בסה”כ</a:t>
            </a:r>
            <a:r>
              <a:rPr lang="he-IL" sz="32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;</a:t>
            </a:r>
            <a:r>
              <a:rPr lang="en-US" sz="32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החציון הוא ההצבעה </a:t>
            </a:r>
            <a:r>
              <a:rPr lang="he-IL" sz="32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ה-</a:t>
            </a:r>
            <a:r>
              <a:rPr lang="en-US" sz="32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n</a:t>
            </a:r>
            <a:r>
              <a:rPr lang="he-IL" sz="3200" b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)</a:t>
            </a:r>
            <a:r>
              <a:rPr lang="he-IL" sz="32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3200" b="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משפט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כשיש שני סעיפי תקציב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אלגוריתם החציון המוכלל עם הצבעות קבועות מפוזרות באופן אחיד בין 0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-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C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הוא </a:t>
            </a:r>
            <a:r>
              <a:rPr lang="he-IL" sz="4000" b="0" i="1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הוגן לקבוצות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1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הוכחה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נניח ש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-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z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אנשים תומכים רק בסעיף א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(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נותנים C</a:t>
            </a:r>
            <a:r>
              <a:rPr lang="he-IL" sz="4000"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)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ו 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n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-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z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תומכים רק בסעיף ב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(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נותנים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0).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החציון המוכלל יהיה בהצבעה הקבועה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מס' 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z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שערכה הוא בדיוק 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C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*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z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/</a:t>
            </a:r>
            <a:r>
              <a:rPr lang="en-US" sz="4000" b="0" i="1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n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***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_5">
            <a:extLst>
              <a:ext uri="{FF2B5EF4-FFF2-40B4-BE49-F238E27FC236}">
                <a16:creationId xmlns:a16="http://schemas.microsoft.com/office/drawing/2014/main" id="{0A81A2C1-117E-B697-B237-875343679744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74320" y="-91440"/>
            <a:ext cx="960120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תקציב כללי – </a:t>
            </a:r>
            <a:r>
              <a:rPr lang="en-US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m</a:t>
            </a: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 </a:t>
            </a:r>
            <a:r>
              <a:rPr lang="en-US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סעיפים</a:t>
            </a:r>
          </a:p>
        </p:txBody>
      </p:sp>
      <p:sp>
        <p:nvSpPr>
          <p:cNvPr id="3" name="Content Placeholder 2_5">
            <a:extLst>
              <a:ext uri="{FF2B5EF4-FFF2-40B4-BE49-F238E27FC236}">
                <a16:creationId xmlns:a16="http://schemas.microsoft.com/office/drawing/2014/main" id="{ED32785F-00E3-8A85-7521-1E30694EEC44}"/>
              </a:ext>
            </a:extLst>
          </p:cNvPr>
          <p:cNvSpPr txBox="1"/>
          <p:nvPr/>
        </p:nvSpPr>
        <p:spPr>
          <a:xfrm>
            <a:off x="457200" y="1188719"/>
            <a:ext cx="8694360" cy="479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compatLnSpc="0">
            <a:noAutofit/>
          </a:bodyPr>
          <a:lstStyle/>
          <a:p>
            <a:pPr marL="0" marR="0" lvl="0" indent="0" algn="l" hangingPunct="0">
              <a:spcBef>
                <a:spcPts val="2750"/>
              </a:spcBef>
              <a:spcAft>
                <a:spcPts val="0"/>
              </a:spcAft>
              <a:buNone/>
              <a:tabLst/>
            </a:pPr>
            <a:endParaRPr lang="en-US" sz="3000" b="0" i="0" u="none" strike="noStrike" kern="1200" spc="0">
              <a:ln>
                <a:noFill/>
              </a:ln>
              <a:solidFill>
                <a:srgbClr val="000000"/>
              </a:solidFill>
              <a:latin typeface="ＭＳ Ｐゴシック" pitchFamily="18"/>
              <a:ea typeface="Liberation Sans" pitchFamily="34"/>
              <a:cs typeface="DejaVu 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EB7321-75E0-7394-84B5-D4D4AB83B67E}"/>
              </a:ext>
            </a:extLst>
          </p:cNvPr>
          <p:cNvSpPr txBox="1"/>
          <p:nvPr/>
        </p:nvSpPr>
        <p:spPr>
          <a:xfrm>
            <a:off x="274320" y="936793"/>
            <a:ext cx="9601200" cy="941016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80008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מה יקרה אם נריץ את אלגוריתם החציון על כל סעיף בנפרד?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-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נניח שהתקציב 30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,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יש 3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נושאים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,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3 אזרחים.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הצבעות: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(0, 15, 15); (10, 20, 0); (27, 0, 3)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4000" b="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א. בלי הצבעות קבועות: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חציונים = (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10, 15, 3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),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סכום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= </a:t>
            </a:r>
            <a:r>
              <a:rPr lang="en-US" sz="4000" b="1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28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4000" b="0" i="0" u="none" strike="noStrike" kern="1200" cap="none">
              <a:ln>
                <a:noFill/>
              </a:ln>
              <a:solidFill>
                <a:srgbClr val="FF00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BF004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ב. עם הצבעות קבועות מפוזרות אחיד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BF004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10,20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BF004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  <a:endParaRPr lang="en-US" sz="4000" b="0" i="0" u="none" strike="noStrike" kern="1200" cap="none">
              <a:ln>
                <a:noFill/>
              </a:ln>
              <a:solidFill>
                <a:srgbClr val="BF0041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0" i="0" u="none" strike="noStrike" kern="1200" cap="none">
                <a:ln>
                  <a:noFill/>
                </a:ln>
                <a:solidFill>
                  <a:srgbClr val="BF004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(10, 15, 10)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BF004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;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BF004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סכום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BF004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= </a:t>
            </a:r>
            <a:r>
              <a:rPr lang="en-US" sz="4000" b="1" i="0" u="none" strike="noStrike" kern="1200" cap="none">
                <a:ln>
                  <a:noFill/>
                </a:ln>
                <a:solidFill>
                  <a:srgbClr val="BF004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35</a:t>
            </a:r>
            <a:r>
              <a:rPr lang="he-IL" sz="4000" i="0" u="none" strike="noStrike" kern="1200" cap="none">
                <a:ln>
                  <a:noFill/>
                </a:ln>
                <a:solidFill>
                  <a:srgbClr val="BF0041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4000" i="0" u="none" strike="noStrike" kern="1200" cap="none">
              <a:ln>
                <a:noFill/>
              </a:ln>
              <a:solidFill>
                <a:srgbClr val="BF0041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FF8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אפשר לנרמל ע”י הכפלה ב: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FF8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30/35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FF8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FF8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אבל האלגוריתם לא יהיה מגלה-אמת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FF8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2000" b="0" i="0" u="none" strike="noStrike" kern="1200" cap="none">
                <a:ln>
                  <a:noFill/>
                </a:ln>
                <a:solidFill>
                  <a:srgbClr val="FF8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[הוכחה מתחת לשקף]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he-IL" sz="4000">
              <a:solidFill>
                <a:srgbClr val="FF80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2400" b="0" i="0" u="none" strike="noStrike" kern="1200" cap="none">
              <a:ln>
                <a:noFill/>
              </a:ln>
              <a:solidFill>
                <a:srgbClr val="FF80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2400" b="0" i="0" u="none" strike="noStrike" kern="1200" cap="none">
                <a:ln>
                  <a:noFill/>
                </a:ln>
                <a:solidFill>
                  <a:srgbClr val="FF8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תוצאה אמיתית: (</a:t>
            </a:r>
            <a:r>
              <a:rPr lang="en-US" sz="2400" b="0" i="0" u="none" strike="noStrike" kern="1200" cap="none">
                <a:ln>
                  <a:noFill/>
                </a:ln>
                <a:solidFill>
                  <a:srgbClr val="FF8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60/7, 90/7, 60/7</a:t>
            </a:r>
            <a:r>
              <a:rPr lang="he-IL" sz="2400" b="0" i="0" u="none" strike="noStrike" kern="1200" cap="none">
                <a:ln>
                  <a:noFill/>
                </a:ln>
                <a:solidFill>
                  <a:srgbClr val="FF8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).</a:t>
            </a:r>
            <a:endParaRPr lang="en-US" sz="2400" b="0" i="0" u="none" strike="noStrike" kern="1200" cap="none">
              <a:ln>
                <a:noFill/>
              </a:ln>
              <a:solidFill>
                <a:srgbClr val="FF80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2400" b="0" i="0" u="none" strike="noStrike" kern="1200" cap="none">
                <a:ln>
                  <a:noFill/>
                </a:ln>
                <a:solidFill>
                  <a:srgbClr val="FF8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המרחק עבור שחקן </a:t>
            </a:r>
            <a:r>
              <a:rPr lang="en-US" sz="2400" b="0" i="0" u="none" strike="noStrike" kern="1200" cap="none">
                <a:ln>
                  <a:noFill/>
                </a:ln>
                <a:solidFill>
                  <a:srgbClr val="FF8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2</a:t>
            </a:r>
            <a:r>
              <a:rPr lang="he-IL" sz="2400" b="0" i="0" u="none" strike="noStrike" kern="1200" cap="none">
                <a:ln>
                  <a:noFill/>
                </a:ln>
                <a:solidFill>
                  <a:srgbClr val="FF8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  <a:endParaRPr lang="en-US" sz="2400" b="0" i="0" u="none" strike="noStrike" kern="1200" cap="none">
              <a:ln>
                <a:noFill/>
              </a:ln>
              <a:solidFill>
                <a:srgbClr val="FF80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2400" b="0" i="0" u="none" strike="noStrike" kern="1200" cap="none">
                <a:ln>
                  <a:noFill/>
                </a:ln>
                <a:solidFill>
                  <a:srgbClr val="FF8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10/7 + 50/7 + 60/7 = 120/7 ~  17.1</a:t>
            </a:r>
            <a:r>
              <a:rPr lang="he-IL" sz="2400" b="0" i="0" u="none" strike="noStrike" kern="1200" cap="none">
                <a:ln>
                  <a:noFill/>
                </a:ln>
                <a:solidFill>
                  <a:srgbClr val="FF8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2400" b="0" i="0" u="none" strike="noStrike" kern="1200" cap="none">
              <a:ln>
                <a:noFill/>
              </a:ln>
              <a:solidFill>
                <a:srgbClr val="FF80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24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כששחקן 2 </a:t>
            </a:r>
            <a:r>
              <a:rPr lang="en-US" sz="24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אומר (11, 19, 0)</a:t>
            </a:r>
            <a:r>
              <a:rPr lang="he-IL" sz="24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  <a:endParaRPr lang="en-US" sz="2400" b="0" i="0" u="none" strike="noStrike" kern="1200" cap="none">
              <a:ln>
                <a:noFill/>
              </a:ln>
              <a:solidFill>
                <a:srgbClr val="00A933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24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בלי נירמול יוצא: (</a:t>
            </a:r>
            <a:r>
              <a:rPr lang="en-US" sz="24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11, 15, 10</a:t>
            </a:r>
            <a:r>
              <a:rPr lang="he-IL" sz="24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), </a:t>
            </a:r>
            <a:r>
              <a:rPr lang="en-US" sz="24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סכום</a:t>
            </a:r>
            <a:r>
              <a:rPr lang="he-IL" sz="24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= 36.</a:t>
            </a:r>
            <a:endParaRPr lang="en-US" sz="2400" b="0" i="0" u="none" strike="noStrike" kern="1200" cap="none">
              <a:ln>
                <a:noFill/>
              </a:ln>
              <a:solidFill>
                <a:srgbClr val="00A933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24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אחרי נירמול: </a:t>
            </a:r>
            <a:r>
              <a:rPr lang="en-US" sz="24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(55/6, 75/6, 50/6)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24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המרחק: </a:t>
            </a:r>
            <a:r>
              <a:rPr lang="en-US" sz="24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5/6 + 45/6 + 50/6 = 100/6 ~ 16.7</a:t>
            </a:r>
            <a:r>
              <a:rPr lang="he-IL" sz="24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2400" b="0" i="0" u="none" strike="noStrike" kern="1200" cap="none">
              <a:ln>
                <a:noFill/>
              </a:ln>
              <a:solidFill>
                <a:srgbClr val="FF80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1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1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1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grpId="1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grpId="1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fill="hold" grpId="1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fill="hold" grpId="1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_7">
            <a:extLst>
              <a:ext uri="{FF2B5EF4-FFF2-40B4-BE49-F238E27FC236}">
                <a16:creationId xmlns:a16="http://schemas.microsoft.com/office/drawing/2014/main" id="{3C681E3F-986A-6F0E-C0FD-0884E90F621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74320" y="-91440"/>
            <a:ext cx="960120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אלגוריתם הפנטומים הזזים</a:t>
            </a:r>
            <a:b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</a:br>
            <a:r>
              <a:rPr lang="en-US" sz="36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(moving phantoms)</a:t>
            </a:r>
            <a:endParaRPr lang="he-IL" sz="5400">
              <a:solidFill>
                <a:srgbClr val="000000"/>
              </a:solidFill>
              <a:latin typeface="Liberation Sans" pitchFamily="34"/>
              <a:cs typeface="Liberation Sans" pitchFamily="34"/>
            </a:endParaRPr>
          </a:p>
        </p:txBody>
      </p:sp>
      <p:sp>
        <p:nvSpPr>
          <p:cNvPr id="3" name="Content Placeholder 2_0">
            <a:extLst>
              <a:ext uri="{FF2B5EF4-FFF2-40B4-BE49-F238E27FC236}">
                <a16:creationId xmlns:a16="http://schemas.microsoft.com/office/drawing/2014/main" id="{5D3098FD-D02C-74BA-D1C8-D2CC482BCB3E}"/>
              </a:ext>
            </a:extLst>
          </p:cNvPr>
          <p:cNvSpPr txBox="1"/>
          <p:nvPr/>
        </p:nvSpPr>
        <p:spPr>
          <a:xfrm>
            <a:off x="457200" y="1188719"/>
            <a:ext cx="8694360" cy="479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compatLnSpc="0">
            <a:noAutofit/>
          </a:bodyPr>
          <a:lstStyle/>
          <a:p>
            <a:pPr marL="0" marR="0" lvl="0" indent="0" algn="l" hangingPunct="0">
              <a:spcBef>
                <a:spcPts val="2750"/>
              </a:spcBef>
              <a:spcAft>
                <a:spcPts val="0"/>
              </a:spcAft>
              <a:buNone/>
              <a:tabLst/>
            </a:pPr>
            <a:endParaRPr lang="en-US" sz="3000" b="0" i="0" u="none" strike="noStrike" kern="1200" spc="0">
              <a:ln>
                <a:noFill/>
              </a:ln>
              <a:solidFill>
                <a:srgbClr val="000000"/>
              </a:solidFill>
              <a:latin typeface="ＭＳ Ｐゴシック" pitchFamily="18"/>
              <a:ea typeface="Liberation Sans" pitchFamily="34"/>
              <a:cs typeface="DejaVu 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ED4C32-CFBB-C417-7394-12086647353F}"/>
              </a:ext>
            </a:extLst>
          </p:cNvPr>
          <p:cNvSpPr txBox="1"/>
          <p:nvPr/>
        </p:nvSpPr>
        <p:spPr>
          <a:xfrm>
            <a:off x="-95" y="1369440"/>
            <a:ext cx="10080720" cy="5938762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בחר מראש קבוצה של </a:t>
            </a:r>
            <a:r>
              <a:rPr lang="he-IL" sz="36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פונקציות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f</a:t>
            </a:r>
            <a:r>
              <a:rPr lang="en-US" sz="3600" b="0" i="0" u="none" strike="noStrike" kern="1200" cap="none" baseline="-8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1</a:t>
            </a:r>
            <a:r>
              <a:rPr lang="en-US" sz="3600" b="0" i="0" u="none" strike="noStrike" kern="1200" cap="none" baseline="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(t)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, …, f</a:t>
            </a:r>
            <a:r>
              <a:rPr lang="en-US" sz="3600" b="0" i="0" u="none" strike="noStrike" kern="1200" cap="none" baseline="-8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n-1</a:t>
            </a:r>
            <a:r>
              <a:rPr lang="en-US" sz="3600" b="0" i="0" u="none" strike="noStrike" kern="1200" cap="none" baseline="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(t);      t in [0,1].</a:t>
            </a: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3600" b="0" i="0" u="none" strike="noStrike" kern="1200" cap="none" baseline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כל הפונקציות </a:t>
            </a:r>
            <a:r>
              <a:rPr lang="he-IL" sz="3600" b="0" i="1" u="none" strike="noStrike" kern="1200" cap="none" baseline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רציפות </a:t>
            </a:r>
            <a:r>
              <a:rPr lang="he-IL" sz="3600" b="0" i="0" u="none" strike="noStrike" kern="1200" cap="none" baseline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ו</a:t>
            </a:r>
            <a:r>
              <a:rPr lang="he-IL" sz="3600" b="0" i="1" u="none" strike="noStrike" kern="1200" cap="none" baseline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עולות</a:t>
            </a:r>
            <a:r>
              <a:rPr lang="en-US" sz="3600" b="0" i="0" u="none" strike="noStrike" kern="1200" cap="none" baseline="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, ומקיימות: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0" u="none" strike="noStrike" kern="1200" cap="none" baseline="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f</a:t>
            </a:r>
            <a:r>
              <a:rPr lang="en-US" sz="3600" b="0" i="0" u="none" strike="noStrike" kern="1200" cap="none" baseline="-8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i</a:t>
            </a:r>
            <a:r>
              <a:rPr lang="en-US" sz="3600" b="0" i="0" u="none" strike="noStrike" kern="1200" cap="none" baseline="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(0) = 0;               f</a:t>
            </a:r>
            <a:r>
              <a:rPr lang="en-US" sz="3600" b="0" i="0" u="none" strike="noStrike" kern="1200" cap="none" baseline="-8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i</a:t>
            </a:r>
            <a:r>
              <a:rPr lang="en-US" sz="3600" b="0" i="0" u="none" strike="noStrike" kern="1200" cap="none" baseline="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(1) = C.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לכל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t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בין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0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-1,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אפשר לחשב לכל נושא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חציון מוכלל עם הצבעות קבועות 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 f</a:t>
            </a:r>
            <a:r>
              <a:rPr lang="en-US" sz="3600" b="0" i="0" u="none" strike="noStrike" kern="1200" cap="none" baseline="-8000">
                <a:ln>
                  <a:noFill/>
                </a:ln>
                <a:solidFill>
                  <a:srgbClr val="2A6099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1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2A6099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(t)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,…,f</a:t>
            </a:r>
            <a:r>
              <a:rPr lang="en-US" sz="3600" b="0" i="0" u="none" strike="noStrike" kern="1200" cap="none" baseline="-8000">
                <a:ln>
                  <a:noFill/>
                </a:ln>
                <a:solidFill>
                  <a:srgbClr val="2A6099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n-1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2A6099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(t)</a:t>
            </a:r>
            <a:r>
              <a:rPr lang="he-IL" sz="3600"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3600" b="0" i="0" u="none" strike="noStrike" kern="1200" cap="none" baseline="0">
              <a:ln>
                <a:noFill/>
              </a:ln>
              <a:solidFill>
                <a:srgbClr val="2A6099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571500" lvl="0" indent="-571500" algn="r" rtl="1" hangingPunct="0">
              <a:buSzPct val="45000"/>
              <a:buFont typeface="Arial" panose="020B0604020202020204" pitchFamily="34" charset="0"/>
              <a:buChar char="•"/>
            </a:pP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עבור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t=0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החציון =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המינימום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;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הסכום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>
                <a:solidFill>
                  <a:srgbClr val="FF0000"/>
                </a:solidFill>
                <a:latin typeface="Liberation Serif" pitchFamily="18"/>
                <a:ea typeface="Liberation Serif" pitchFamily="18"/>
                <a:cs typeface="Liberation Serif" pitchFamily="18"/>
              </a:rPr>
              <a:t>≥</a:t>
            </a:r>
            <a:r>
              <a:rPr lang="he-IL" sz="3600">
                <a:solidFill>
                  <a:srgbClr val="FF0000"/>
                </a:solidFill>
                <a:latin typeface="Liberation Serif" pitchFamily="18"/>
                <a:ea typeface="Liberation Serif" pitchFamily="18"/>
                <a:cs typeface="Liberation Serif" pitchFamily="18"/>
              </a:rPr>
              <a:t>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C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FF00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3600" b="0" i="0" u="none" strike="noStrike" kern="1200" cap="none" baseline="0">
              <a:ln>
                <a:noFill/>
              </a:ln>
              <a:solidFill>
                <a:srgbClr val="FF0000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571500" lvl="0" indent="-571500" algn="r" rtl="1" hangingPunct="0">
              <a:buSzPct val="45000"/>
              <a:buFont typeface="Arial" panose="020B0604020202020204" pitchFamily="34" charset="0"/>
              <a:buChar char="•"/>
            </a:pPr>
            <a:r>
              <a:rPr lang="he-IL" sz="3600" b="0" i="0" u="none" strike="noStrike" kern="1200" cap="none" baseline="0">
                <a:ln>
                  <a:noFill/>
                </a:ln>
                <a:solidFill>
                  <a:schemeClr val="accent2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עבור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chemeClr val="accent2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t=1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chemeClr val="accent2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chemeClr val="accent2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החציון =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chemeClr val="accent2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chemeClr val="accent2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המקסימום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chemeClr val="accent2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;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chemeClr val="accent2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הסכום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chemeClr val="accent2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>
                <a:solidFill>
                  <a:schemeClr val="accent2"/>
                </a:solidFill>
                <a:latin typeface="Liberation Serif" pitchFamily="18"/>
                <a:ea typeface="Liberation Serif" pitchFamily="18"/>
                <a:cs typeface="Liberation Serif" pitchFamily="18"/>
              </a:rPr>
              <a:t>≤</a:t>
            </a:r>
            <a:r>
              <a:rPr lang="he-IL" sz="3600">
                <a:solidFill>
                  <a:schemeClr val="accent2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chemeClr val="accent2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C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chemeClr val="accent2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3600" b="0" i="0" u="none" strike="noStrike" kern="1200" cap="none" baseline="0">
              <a:ln>
                <a:noFill/>
              </a:ln>
              <a:solidFill>
                <a:schemeClr val="accent2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5715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לפי משפט ערך הביניים, קיים *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t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שעבורו סכום הסעיפים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= </a:t>
            </a:r>
            <a:r>
              <a:rPr lang="en-US" sz="3600" b="0" i="1" u="none" strike="noStrike" kern="1200" cap="none" baseline="0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C</a:t>
            </a:r>
            <a:r>
              <a:rPr lang="he-IL" sz="3600" b="0" i="1" u="none" strike="noStrike" kern="1200" cap="none" baseline="0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3600" b="0" u="none" strike="noStrike" kern="1200" cap="none" baseline="0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(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ניתן למצוא ע"י חיפוש בינארי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).</a:t>
            </a:r>
            <a:endParaRPr lang="en-US" sz="3600" b="0" i="0" u="none" strike="noStrike" kern="1200" cap="none" baseline="0">
              <a:ln>
                <a:noFill/>
              </a:ln>
              <a:solidFill>
                <a:srgbClr val="00A933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R="0" lvl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tabLst/>
            </a:pPr>
            <a:r>
              <a:rPr lang="he-IL" sz="3600" b="1" i="0" u="none" strike="noStrike" kern="1200" cap="none" baseline="0">
                <a:ln>
                  <a:noFill/>
                </a:ln>
                <a:solidFill>
                  <a:srgbClr val="0066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התקציב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00660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= חציון מוכלל עם: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006600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f</a:t>
            </a:r>
            <a:r>
              <a:rPr lang="en-US" sz="3600" b="0" i="0" u="none" strike="noStrike" kern="1200" cap="none" baseline="-8000">
                <a:ln>
                  <a:noFill/>
                </a:ln>
                <a:solidFill>
                  <a:srgbClr val="006600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1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006600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(t*), …, f</a:t>
            </a:r>
            <a:r>
              <a:rPr lang="en-US" sz="3600" b="0" i="0" u="none" strike="noStrike" kern="1200" cap="none" baseline="-8000">
                <a:ln>
                  <a:noFill/>
                </a:ln>
                <a:solidFill>
                  <a:srgbClr val="006600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n-1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006600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(t*) 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006600"/>
                </a:solidFill>
                <a:latin typeface="Times New Roman" pitchFamily="18"/>
                <a:ea typeface="Noto Sans CJK SC Regular" pitchFamily="2"/>
                <a:cs typeface="Times New Roman" pitchFamily="18"/>
              </a:rPr>
              <a:t>.</a:t>
            </a:r>
            <a:endParaRPr lang="en-US" sz="3600" b="0" i="0" u="none" strike="noStrike" kern="1200" cap="none" baseline="0">
              <a:ln>
                <a:noFill/>
              </a:ln>
              <a:solidFill>
                <a:srgbClr val="006600"/>
              </a:solidFill>
              <a:latin typeface="Times New Roman" pitchFamily="18"/>
              <a:ea typeface="Noto Sans CJK SC Regular" pitchFamily="2"/>
              <a:cs typeface="Times New Roman" pitchFamily="18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_8">
            <a:extLst>
              <a:ext uri="{FF2B5EF4-FFF2-40B4-BE49-F238E27FC236}">
                <a16:creationId xmlns:a16="http://schemas.microsoft.com/office/drawing/2014/main" id="{FE1CA7A2-2697-9E79-AD07-7A0E1D85E3C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74320" y="-91440"/>
            <a:ext cx="960120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אלגוריתם הפנטומים הזזים</a:t>
            </a:r>
          </a:p>
        </p:txBody>
      </p:sp>
      <p:sp>
        <p:nvSpPr>
          <p:cNvPr id="3" name="Content Placeholder 2_7">
            <a:extLst>
              <a:ext uri="{FF2B5EF4-FFF2-40B4-BE49-F238E27FC236}">
                <a16:creationId xmlns:a16="http://schemas.microsoft.com/office/drawing/2014/main" id="{B528F2C8-BB33-51ED-3541-C8E84C1EA2B8}"/>
              </a:ext>
            </a:extLst>
          </p:cNvPr>
          <p:cNvSpPr txBox="1"/>
          <p:nvPr/>
        </p:nvSpPr>
        <p:spPr>
          <a:xfrm>
            <a:off x="457200" y="1188719"/>
            <a:ext cx="8694360" cy="479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compatLnSpc="0">
            <a:noAutofit/>
          </a:bodyPr>
          <a:lstStyle/>
          <a:p>
            <a:pPr marL="0" marR="0" lvl="0" indent="0" algn="l" hangingPunct="0">
              <a:spcBef>
                <a:spcPts val="2750"/>
              </a:spcBef>
              <a:spcAft>
                <a:spcPts val="0"/>
              </a:spcAft>
              <a:buNone/>
              <a:tabLst/>
            </a:pPr>
            <a:endParaRPr lang="en-US" sz="3000" b="0" i="0" u="none" strike="noStrike" kern="1200" spc="0">
              <a:ln>
                <a:noFill/>
              </a:ln>
              <a:solidFill>
                <a:srgbClr val="000000"/>
              </a:solidFill>
              <a:latin typeface="ＭＳ Ｐゴシック" pitchFamily="18"/>
              <a:ea typeface="Liberation Sans" pitchFamily="34"/>
              <a:cs typeface="DejaVu 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8DF907-41A5-DDB0-0D9C-0E9D3963056A}"/>
              </a:ext>
            </a:extLst>
          </p:cNvPr>
          <p:cNvSpPr txBox="1"/>
          <p:nvPr/>
        </p:nvSpPr>
        <p:spPr>
          <a:xfrm>
            <a:off x="0" y="980545"/>
            <a:ext cx="10080720" cy="657913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משפט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: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התוצאה של אלגוריתם החציון המוכלל עם פונקציות עולות אינה תלויה בבחירה של t*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4000" b="0" i="0" u="none" strike="noStrike" kern="1200" cap="none">
              <a:ln>
                <a:noFill/>
              </a:ln>
              <a:solidFill>
                <a:srgbClr val="00A933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הוכחה: נניח שיש שני ערכים של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t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נניח t</a:t>
            </a:r>
            <a:r>
              <a:rPr lang="en-US" sz="4000" b="0" i="0" u="none" strike="noStrike" kern="1200" cap="none" baseline="-800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1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&lt;t</a:t>
            </a:r>
            <a:r>
              <a:rPr lang="en-US" sz="4000" b="0" i="0" u="none" strike="noStrike" kern="1200" cap="none" baseline="-8000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2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,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שעבורם סכום כל הנושאים שווה </a:t>
            </a:r>
            <a:r>
              <a:rPr lang="en-US" sz="40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C</a:t>
            </a:r>
            <a:r>
              <a:rPr lang="he-IL" sz="40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FF33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כאשר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FF33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t גדֵל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FF33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FF33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החציון בכל הנושאים לא קטֵן</a:t>
            </a:r>
            <a:r>
              <a:rPr lang="he-IL" sz="4000"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9900FF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כיוון שסכום החציונים נשאר זהה, החציון בכל הנושאים נשאר זהה.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***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משפט: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לכל n-1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פונקציות רציפות עולות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אלגוריתם החציון המוכלל מגלה-אמת.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הוכחה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: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במאמר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***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1" u="none" strike="noStrike" kern="1200" cap="none">
                <a:ln>
                  <a:noFill/>
                </a:ln>
                <a:solidFill>
                  <a:srgbClr val="80008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איזה פונקציות נבחר כדי שהתקציב יהיה הוגן? 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1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1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1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grpId="1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grpId="1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_8">
            <a:extLst>
              <a:ext uri="{FF2B5EF4-FFF2-40B4-BE49-F238E27FC236}">
                <a16:creationId xmlns:a16="http://schemas.microsoft.com/office/drawing/2014/main" id="{89E812CC-1137-5E9F-81ED-41D1D7A7BFAC}"/>
              </a:ext>
            </a:extLst>
          </p:cNvPr>
          <p:cNvSpPr txBox="1"/>
          <p:nvPr/>
        </p:nvSpPr>
        <p:spPr>
          <a:xfrm>
            <a:off x="457200" y="1188719"/>
            <a:ext cx="8694360" cy="479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compatLnSpc="0">
            <a:noAutofit/>
          </a:bodyPr>
          <a:lstStyle/>
          <a:p>
            <a:pPr marL="0" marR="0" lvl="0" indent="0" algn="l" hangingPunct="0">
              <a:spcBef>
                <a:spcPts val="2750"/>
              </a:spcBef>
              <a:spcAft>
                <a:spcPts val="0"/>
              </a:spcAft>
              <a:buNone/>
              <a:tabLst/>
            </a:pPr>
            <a:endParaRPr lang="en-US" sz="3000" b="0" i="0" u="none" strike="noStrike" kern="1200" spc="0">
              <a:ln>
                <a:noFill/>
              </a:ln>
              <a:solidFill>
                <a:srgbClr val="000000"/>
              </a:solidFill>
              <a:latin typeface="ＭＳ Ｐゴシック" pitchFamily="18"/>
              <a:ea typeface="Liberation Sans" pitchFamily="34"/>
              <a:cs typeface="DejaVu Sans" pitchFamily="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741DD53-C511-E84F-3724-A096F9F257C3}"/>
              </a:ext>
            </a:extLst>
          </p:cNvPr>
          <p:cNvSpPr txBox="1"/>
          <p:nvPr/>
        </p:nvSpPr>
        <p:spPr>
          <a:xfrm>
            <a:off x="-98326" y="1280159"/>
            <a:ext cx="10179046" cy="4809607"/>
          </a:xfrm>
          <a:prstGeom prst="rect">
            <a:avLst/>
          </a:prstGeom>
          <a:noFill/>
          <a:ln>
            <a:noFill/>
          </a:ln>
        </p:spPr>
        <p:txBody>
          <a:bodyPr vert="horz" wrap="non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נגדיר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n-1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פונקציות ליניאריות: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1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f</a:t>
            </a:r>
            <a:r>
              <a:rPr lang="en-US" sz="4000" b="1" i="0" u="none" strike="noStrike" kern="1200" cap="none" baseline="-8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i </a:t>
            </a:r>
            <a:r>
              <a:rPr lang="en-US" sz="4000" b="1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(t) = C * min (1, i*t),   </a:t>
            </a:r>
            <a:r>
              <a:rPr lang="en-US" sz="40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for i = 1, …, n-1.</a:t>
            </a:r>
            <a:br>
              <a:rPr lang="en-US" sz="40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</a:br>
            <a:endParaRPr lang="en-US" sz="4000" b="0" i="0" u="none" strike="noStrike" kern="1200" cap="none">
              <a:ln>
                <a:noFill/>
              </a:ln>
              <a:latin typeface="Times New Roman" pitchFamily="18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StarSymbol"/>
              <a:buChar char="●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הפונקציות רציפות ועולות.</a:t>
            </a:r>
            <a:br>
              <a:rPr lang="en-US" sz="40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endParaRPr lang="en-US" sz="4000" b="0" i="0" u="none" strike="noStrike" kern="1200" cap="none">
              <a:ln>
                <a:noFill/>
              </a:ln>
              <a:solidFill>
                <a:srgbClr val="2A6099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571500" marR="0" lvl="0" indent="-57150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en-US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f</a:t>
            </a:r>
            <a:r>
              <a:rPr lang="en-US" sz="4000" b="0" i="0" u="none" strike="noStrike" kern="1200" cap="none" baseline="-8000">
                <a:ln>
                  <a:noFill/>
                </a:ln>
                <a:solidFill>
                  <a:srgbClr val="5983B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i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(0) = C * min (1, 0) = 0.</a:t>
            </a:r>
            <a:br>
              <a:rPr lang="en-US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</a:br>
            <a:endParaRPr lang="en-US" sz="4000" b="0" i="0" u="none" strike="noStrike" kern="1200" cap="none">
              <a:ln>
                <a:noFill/>
              </a:ln>
              <a:solidFill>
                <a:srgbClr val="5983B0"/>
              </a:solidFill>
              <a:latin typeface="Times New Roman" pitchFamily="18"/>
              <a:ea typeface="Noto Sans CJK SC Regular" pitchFamily="2"/>
              <a:cs typeface="Liberation Sans" pitchFamily="34"/>
            </a:endParaRPr>
          </a:p>
          <a:p>
            <a:pPr marL="571500" marR="0" lvl="0" indent="-57150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en-US" sz="4000" b="0" i="0" u="none" strike="noStrike" kern="1200" cap="none">
                <a:ln>
                  <a:noFill/>
                </a:ln>
                <a:solidFill>
                  <a:srgbClr val="729FCF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f</a:t>
            </a:r>
            <a:r>
              <a:rPr lang="en-US" sz="4000" b="0" i="0" u="none" strike="noStrike" kern="1200" cap="none" baseline="-8000">
                <a:ln>
                  <a:noFill/>
                </a:ln>
                <a:solidFill>
                  <a:srgbClr val="729FCF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i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729FCF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(1) = C * min (1, i) = C.</a:t>
            </a:r>
          </a:p>
        </p:txBody>
      </p:sp>
      <p:sp>
        <p:nvSpPr>
          <p:cNvPr id="4" name="Title 1_9">
            <a:extLst>
              <a:ext uri="{FF2B5EF4-FFF2-40B4-BE49-F238E27FC236}">
                <a16:creationId xmlns:a16="http://schemas.microsoft.com/office/drawing/2014/main" id="{0516D46C-A0D2-7E3D-0DCD-64389D12DFA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91440"/>
            <a:ext cx="1008072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פנטומים זזים ליניאריים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_10">
            <a:extLst>
              <a:ext uri="{FF2B5EF4-FFF2-40B4-BE49-F238E27FC236}">
                <a16:creationId xmlns:a16="http://schemas.microsoft.com/office/drawing/2014/main" id="{E70A5E86-2334-B440-6B8F-B38BBDCD47D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91440"/>
            <a:ext cx="1008072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פנטומים זזים ליניאריים</a:t>
            </a:r>
          </a:p>
        </p:txBody>
      </p:sp>
      <p:sp>
        <p:nvSpPr>
          <p:cNvPr id="3" name="Content Placeholder 2_9">
            <a:extLst>
              <a:ext uri="{FF2B5EF4-FFF2-40B4-BE49-F238E27FC236}">
                <a16:creationId xmlns:a16="http://schemas.microsoft.com/office/drawing/2014/main" id="{ECE50891-2BA8-E7B0-08C4-AE806FFAF13A}"/>
              </a:ext>
            </a:extLst>
          </p:cNvPr>
          <p:cNvSpPr txBox="1"/>
          <p:nvPr/>
        </p:nvSpPr>
        <p:spPr>
          <a:xfrm>
            <a:off x="457200" y="1188719"/>
            <a:ext cx="8694360" cy="479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compatLnSpc="0">
            <a:noAutofit/>
          </a:bodyPr>
          <a:lstStyle/>
          <a:p>
            <a:pPr marL="0" marR="0" lvl="0" indent="0" algn="l" hangingPunct="0">
              <a:spcBef>
                <a:spcPts val="2750"/>
              </a:spcBef>
              <a:spcAft>
                <a:spcPts val="0"/>
              </a:spcAft>
              <a:buNone/>
              <a:tabLst/>
            </a:pPr>
            <a:endParaRPr lang="en-US" sz="3000" b="0" i="0" u="none" strike="noStrike" kern="1200" spc="0">
              <a:ln>
                <a:noFill/>
              </a:ln>
              <a:solidFill>
                <a:srgbClr val="000000"/>
              </a:solidFill>
              <a:latin typeface="ＭＳ Ｐゴシック" pitchFamily="18"/>
              <a:ea typeface="Liberation Sans" pitchFamily="34"/>
              <a:cs typeface="DejaVu 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EFAF91-261F-E1B3-3BFF-03B45C089407}"/>
              </a:ext>
            </a:extLst>
          </p:cNvPr>
          <p:cNvSpPr txBox="1"/>
          <p:nvPr/>
        </p:nvSpPr>
        <p:spPr>
          <a:xfrm>
            <a:off x="66675" y="1097640"/>
            <a:ext cx="9820275" cy="6119837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משפט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אלגוריתם החציון המוכלל עם פונקציות ליניאריות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4000" b="1" i="0" u="none" strike="noStrike" kern="1200" cap="none">
                <a:ln>
                  <a:noFill/>
                </a:ln>
                <a:solidFill>
                  <a:srgbClr val="00A933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f</a:t>
            </a:r>
            <a:r>
              <a:rPr lang="en-US" sz="4000" b="1" i="0" u="none" strike="noStrike" kern="1200" cap="none" baseline="-8000">
                <a:ln>
                  <a:noFill/>
                </a:ln>
                <a:solidFill>
                  <a:srgbClr val="00A933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i </a:t>
            </a:r>
            <a:r>
              <a:rPr lang="en-US" sz="4000" b="1" i="0" u="none" strike="noStrike" kern="1200" cap="none">
                <a:ln>
                  <a:noFill/>
                </a:ln>
                <a:solidFill>
                  <a:srgbClr val="00A933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(t) = C * min (1, i*t)</a:t>
            </a:r>
            <a:r>
              <a:rPr lang="he-IL" sz="400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</a:t>
            </a:r>
            <a:r>
              <a:rPr lang="en-US" sz="4000" b="1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מוצא תקציב </a:t>
            </a:r>
            <a:r>
              <a:rPr lang="he-IL" sz="4000" b="0" i="1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הוגן לקבוצות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הוכחה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נניח שהאזרחים מחולקים לקבוצות של 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z</a:t>
            </a:r>
            <a:r>
              <a:rPr lang="en-US" sz="3600" b="0" i="0" u="none" strike="noStrike" kern="1200" cap="none" baseline="-8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j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אזרחים הרוצים לתת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100%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לנושא j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בלבד.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בכל נושא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יש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n-z</a:t>
            </a:r>
            <a:r>
              <a:rPr lang="en-US" sz="3600" b="0" i="0" u="none" strike="noStrike" kern="1200" cap="none" baseline="-8000">
                <a:ln>
                  <a:noFill/>
                </a:ln>
                <a:solidFill>
                  <a:srgbClr val="2A6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j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אזרחים </a:t>
            </a:r>
            <a:r>
              <a:rPr lang="he-IL" sz="3600"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מצביעים 0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br>
              <a:rPr lang="en-US" sz="3600" b="0" i="0" u="none" strike="noStrike" kern="1200" cap="none">
                <a:ln>
                  <a:noFill/>
                </a:ln>
                <a:solidFill>
                  <a:srgbClr val="00A933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</a:b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כאשר 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t=1/n</a:t>
            </a:r>
            <a:r>
              <a:rPr lang="he-IL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ההצבעות הקבועות בכל נושא הן:</a:t>
            </a:r>
          </a:p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f</a:t>
            </a:r>
            <a:r>
              <a:rPr lang="en-US" sz="3600" b="0" i="0" u="none" strike="noStrike" kern="1200" cap="none" baseline="-8000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i</a:t>
            </a:r>
            <a:r>
              <a:rPr lang="en-US" sz="3600" b="0" i="0" u="none" strike="noStrike" kern="1200" cap="none">
                <a:ln>
                  <a:noFill/>
                </a:ln>
                <a:latin typeface="Times New Roman" pitchFamily="18"/>
                <a:ea typeface="Noto Sans CJK SC Regular" pitchFamily="2"/>
                <a:cs typeface="Liberation Sans" pitchFamily="34"/>
              </a:rPr>
              <a:t>(t) = C * min(1, i/n) = C*i/n.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החציון המוכלל הוא בהצבעה ה-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n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שהיא הקבוע ה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-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z</a:t>
            </a:r>
            <a:r>
              <a:rPr lang="en-US" sz="3600" b="0" i="0" u="none" strike="noStrike" kern="1200" cap="none" baseline="-8000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j</a:t>
            </a:r>
            <a:r>
              <a:rPr lang="he-IL" sz="3600" b="0" i="0" u="none" strike="noStrike" kern="1200" cap="none" baseline="0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 baseline="0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שהוא  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f</a:t>
            </a:r>
            <a:r>
              <a:rPr lang="en-US" sz="3600" b="0" i="0" u="none" strike="noStrike" kern="1200" cap="none" baseline="-8000">
                <a:ln>
                  <a:noFill/>
                </a:ln>
                <a:solidFill>
                  <a:srgbClr val="2A6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zj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(t) = </a:t>
            </a:r>
            <a:r>
              <a:rPr lang="en-US" sz="3600" b="1" i="0" u="none" strike="noStrike" kern="1200" cap="none">
                <a:ln>
                  <a:noFill/>
                </a:ln>
                <a:solidFill>
                  <a:srgbClr val="2A6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C*z</a:t>
            </a:r>
            <a:r>
              <a:rPr lang="en-US" sz="3600" b="1" i="0" u="none" strike="noStrike" kern="1200" cap="none" baseline="-8000">
                <a:ln>
                  <a:noFill/>
                </a:ln>
                <a:solidFill>
                  <a:srgbClr val="2A6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j</a:t>
            </a:r>
            <a:r>
              <a:rPr lang="en-US" sz="3600" b="1" i="0" u="none" strike="noStrike" kern="1200" cap="none">
                <a:ln>
                  <a:noFill/>
                </a:ln>
                <a:solidFill>
                  <a:srgbClr val="2A6099"/>
                </a:solidFill>
                <a:latin typeface="Times New Roman" pitchFamily="18"/>
                <a:ea typeface="Noto Sans CJK SC Regular" pitchFamily="2"/>
                <a:cs typeface="Liberation Sans" pitchFamily="34"/>
              </a:rPr>
              <a:t>/n</a:t>
            </a:r>
            <a:r>
              <a:rPr lang="he-IL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r>
              <a:rPr lang="en-US" sz="3600" b="0" i="0" u="none" strike="noStrike" kern="1200" cap="none">
                <a:ln>
                  <a:noFill/>
                </a:ln>
                <a:solidFill>
                  <a:srgbClr val="2A6099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36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34"/>
                <a:ea typeface="Noto Sans CJK SC Regular" pitchFamily="2"/>
                <a:cs typeface="Liberation Sans" pitchFamily="34"/>
              </a:rPr>
              <a:t>סכום החציונים הוא בדיוק </a:t>
            </a:r>
            <a:r>
              <a:rPr lang="en-US" sz="36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34"/>
                <a:ea typeface="Noto Sans CJK SC Regular" pitchFamily="2"/>
                <a:cs typeface="Liberation Sans" pitchFamily="34"/>
              </a:rPr>
              <a:t>C</a:t>
            </a:r>
            <a:r>
              <a:rPr lang="he-IL" sz="36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34"/>
                <a:ea typeface="Noto Sans CJK SC Regular" pitchFamily="2"/>
                <a:cs typeface="Liberation Sans" pitchFamily="34"/>
              </a:rPr>
              <a:t>; </a:t>
            </a:r>
            <a:r>
              <a:rPr lang="en-US" sz="36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34"/>
                <a:ea typeface="Noto Sans CJK SC Regular" pitchFamily="2"/>
                <a:cs typeface="Liberation Sans" pitchFamily="34"/>
              </a:rPr>
              <a:t>לכן זה התקציב שייבחר</a:t>
            </a:r>
            <a:r>
              <a:rPr lang="he-IL" sz="36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36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34"/>
                <a:ea typeface="Noto Sans CJK SC Regular" pitchFamily="2"/>
                <a:cs typeface="Liberation Sans" pitchFamily="34"/>
              </a:rPr>
              <a:t>והוא הוגן</a:t>
            </a:r>
            <a:r>
              <a:rPr lang="he-IL" sz="36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en-US" sz="36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34"/>
                <a:ea typeface="Noto Sans CJK SC Regular" pitchFamily="2"/>
                <a:cs typeface="Liberation Sans" pitchFamily="34"/>
              </a:rPr>
              <a:t>***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Class="entr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_17">
            <a:extLst>
              <a:ext uri="{FF2B5EF4-FFF2-40B4-BE49-F238E27FC236}">
                <a16:creationId xmlns:a16="http://schemas.microsoft.com/office/drawing/2014/main" id="{7CA987E9-1A0C-1742-817F-DA0C2E97385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91440"/>
            <a:ext cx="1008072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פנטומים זזים ליניאריים</a:t>
            </a:r>
          </a:p>
        </p:txBody>
      </p:sp>
      <p:sp>
        <p:nvSpPr>
          <p:cNvPr id="3" name="Content Placeholder 2_16">
            <a:extLst>
              <a:ext uri="{FF2B5EF4-FFF2-40B4-BE49-F238E27FC236}">
                <a16:creationId xmlns:a16="http://schemas.microsoft.com/office/drawing/2014/main" id="{9BC9DE46-AB8D-648D-8E4F-51F3351E25C3}"/>
              </a:ext>
            </a:extLst>
          </p:cNvPr>
          <p:cNvSpPr txBox="1"/>
          <p:nvPr/>
        </p:nvSpPr>
        <p:spPr>
          <a:xfrm>
            <a:off x="457200" y="1188719"/>
            <a:ext cx="8694360" cy="479628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compatLnSpc="0">
            <a:noAutofit/>
          </a:bodyPr>
          <a:lstStyle/>
          <a:p>
            <a:pPr marL="0" marR="0" lvl="0" indent="0" algn="l" hangingPunct="0">
              <a:spcBef>
                <a:spcPts val="2750"/>
              </a:spcBef>
              <a:spcAft>
                <a:spcPts val="0"/>
              </a:spcAft>
              <a:buNone/>
              <a:tabLst/>
            </a:pPr>
            <a:endParaRPr lang="en-US" sz="3000" b="0" i="0" u="none" strike="noStrike" kern="1200" spc="0">
              <a:ln>
                <a:noFill/>
              </a:ln>
              <a:solidFill>
                <a:srgbClr val="000000"/>
              </a:solidFill>
              <a:latin typeface="ＭＳ Ｐゴシック" pitchFamily="18"/>
              <a:ea typeface="Liberation Sans" pitchFamily="34"/>
              <a:cs typeface="DejaVu Sans" pitchFamily="2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62094E3-BD28-E7A4-30FD-68DB24237EE7}"/>
              </a:ext>
            </a:extLst>
          </p:cNvPr>
          <p:cNvSpPr txBox="1"/>
          <p:nvPr/>
        </p:nvSpPr>
        <p:spPr>
          <a:xfrm>
            <a:off x="83976" y="1097640"/>
            <a:ext cx="9996744" cy="657913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משפט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אלגוריתם החציון המוכלל עם פונקציות ליניאריות אינו תמיד יעיל פארטו.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1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הוכחה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נניח שיש 9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נושאים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3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אזרחים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C=30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:</a:t>
            </a:r>
            <a:endParaRPr lang="en-US" sz="4000" b="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8001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אזרח א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: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6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6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6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6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0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0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; 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6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0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0</a:t>
            </a:r>
            <a:r>
              <a:rPr lang="he-IL" sz="4000"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4000" b="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8001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אזרח ב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: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0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0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6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6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6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6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; 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0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6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0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4000" b="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800100" marR="0" lvl="0" indent="-57150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buFont typeface="Arial" panose="020B0604020202020204" pitchFamily="34" charset="0"/>
              <a:buChar char="•"/>
              <a:tabLst/>
            </a:pPr>
            <a:r>
              <a:rPr lang="he-IL" sz="4000" b="1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אזרח ג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: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6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6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0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0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6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6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; 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0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0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David CLM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6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4000" b="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עבור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t=1/15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הצבעות קבועות 2 ,4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מתקבל: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tabLst/>
            </a:pPr>
            <a:r>
              <a:rPr lang="en-US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4, 4, 4, 4, 4, 4; 2, 2, 2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;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סכום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30,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</a:t>
            </a:r>
            <a:r>
              <a:rPr lang="he-IL" sz="4000"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תועלת </a:t>
            </a:r>
            <a:r>
              <a:rPr lang="en-US" sz="4000"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-24</a:t>
            </a:r>
            <a:r>
              <a:rPr lang="he-IL" sz="4000">
                <a:solidFill>
                  <a:srgbClr val="5983B0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tabLst/>
            </a:pPr>
            <a:r>
              <a:rPr lang="he-IL" sz="4000" b="0" i="0" u="none" strike="noStrike" kern="1200" cap="none">
                <a:ln>
                  <a:noFill/>
                </a:ln>
                <a:solidFill>
                  <a:srgbClr val="069A2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יש שיפור פארטו:</a:t>
            </a: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45000"/>
              <a:tabLst/>
            </a:pPr>
            <a:r>
              <a:rPr lang="en-US" sz="4000" b="0" i="0" u="none" strike="noStrike" kern="1200" cap="none">
                <a:ln>
                  <a:noFill/>
                </a:ln>
                <a:solidFill>
                  <a:srgbClr val="069A2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5, 5, 5, 5, 5, 5; 0, 0, 0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69A2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;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069A2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סכום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069A2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 30, </a:t>
            </a:r>
            <a:r>
              <a:rPr lang="he-IL" sz="4000">
                <a:solidFill>
                  <a:srgbClr val="069A2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תועלת </a:t>
            </a:r>
            <a:r>
              <a:rPr lang="en-US" sz="4000">
                <a:solidFill>
                  <a:srgbClr val="069A2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-20</a:t>
            </a:r>
            <a:r>
              <a:rPr lang="he-IL" sz="4000">
                <a:solidFill>
                  <a:srgbClr val="069A2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4000" b="0" i="0" u="none" strike="noStrike" kern="1200" cap="none">
              <a:ln>
                <a:noFill/>
              </a:ln>
              <a:solidFill>
                <a:srgbClr val="069A2E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en-US" sz="4000" b="0" i="0" u="none" strike="noStrike" kern="1200" cap="none">
                <a:ln>
                  <a:noFill/>
                </a:ln>
                <a:highlight>
                  <a:scrgbClr r="0" g="0" b="0">
                    <a:alpha val="0"/>
                  </a:scrgbClr>
                </a:highlight>
                <a:latin typeface="Liberation Sans" pitchFamily="34"/>
                <a:ea typeface="Noto Sans CJK SC Regular" pitchFamily="2"/>
                <a:cs typeface="Liberation Sans" pitchFamily="34"/>
              </a:rPr>
              <a:t>***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_11">
            <a:extLst>
              <a:ext uri="{FF2B5EF4-FFF2-40B4-BE49-F238E27FC236}">
                <a16:creationId xmlns:a16="http://schemas.microsoft.com/office/drawing/2014/main" id="{5681002C-2ACE-34B9-DF0F-929E41595579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0" y="-91440"/>
            <a:ext cx="10080720" cy="1460880"/>
          </a:xfrm>
        </p:spPr>
        <p:txBody>
          <a:bodyPr vert="horz" wrap="square" lIns="91440" tIns="45720" rIns="91440" bIns="45720">
            <a:noAutofit/>
          </a:bodyPr>
          <a:lstStyle/>
          <a:p>
            <a:pPr lvl="0" rtl="1" hangingPunct="1">
              <a:lnSpc>
                <a:spcPct val="90000"/>
              </a:lnSpc>
            </a:pPr>
            <a:r>
              <a:rPr lang="he-IL" sz="5400">
                <a:solidFill>
                  <a:srgbClr val="000000"/>
                </a:solidFill>
                <a:latin typeface="Liberation Sans" pitchFamily="34"/>
                <a:cs typeface="Liberation Sans" pitchFamily="34"/>
              </a:rPr>
              <a:t>מיזוג הצעות תקציב - טרילמה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57818F-28A8-6051-EADE-463CE2E1407F}"/>
              </a:ext>
            </a:extLst>
          </p:cNvPr>
          <p:cNvSpPr txBox="1"/>
          <p:nvPr/>
        </p:nvSpPr>
        <p:spPr>
          <a:xfrm>
            <a:off x="0" y="1097640"/>
            <a:ext cx="10080720" cy="2450243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1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משפט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לא קיים אלגוריתם מגלה-אמת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הוגן לקבוצות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, </a:t>
            </a:r>
            <a:r>
              <a:rPr lang="en-US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ויעיל-פארטו</a:t>
            </a:r>
            <a:r>
              <a:rPr lang="he-IL" sz="4000" b="0" i="0" u="none" strike="noStrike" kern="1200" cap="none">
                <a:ln>
                  <a:noFill/>
                </a:ln>
                <a:solidFill>
                  <a:srgbClr val="C9211E"/>
                </a:solidFill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  <a:endParaRPr lang="en-US" sz="4000" b="0" i="0" u="none" strike="noStrike" kern="1200" cap="none">
              <a:ln>
                <a:noFill/>
              </a:ln>
              <a:solidFill>
                <a:srgbClr val="C9211E"/>
              </a:solidFill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he-IL" sz="4000" b="0" i="0" u="none" strike="noStrike" kern="1200" cap="none">
              <a:ln>
                <a:noFill/>
              </a:ln>
              <a:latin typeface="Liberation Sans" pitchFamily="34"/>
              <a:ea typeface="Noto Sans CJK SC Regular" pitchFamily="2"/>
              <a:cs typeface="Liberation Sans" pitchFamily="34"/>
            </a:endParaRPr>
          </a:p>
          <a:p>
            <a:pPr marL="0" marR="0" lvl="0" indent="0" algn="r" rtl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הוכחה: </a:t>
            </a:r>
            <a:r>
              <a:rPr lang="he-IL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  <a:hlinkClick r:id="rId3"/>
              </a:rPr>
              <a:t>במאמר</a:t>
            </a:r>
            <a:r>
              <a:rPr lang="en-US" sz="4000" b="0" i="0" u="none" strike="noStrike" kern="1200" cap="none">
                <a:ln>
                  <a:noFill/>
                </a:ln>
                <a:latin typeface="Liberation Sans" pitchFamily="34"/>
                <a:ea typeface="Noto Sans CJK SC Regular" pitchFamily="2"/>
                <a:cs typeface="Liberation Sans" pitchFamily="34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Class="entr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02B25-BF73-73A2-5AC2-EA3B5D38E5F6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-95" y="0"/>
            <a:ext cx="10080720" cy="914400"/>
          </a:xfrm>
        </p:spPr>
        <p:txBody>
          <a:bodyPr vert="horz"/>
          <a:lstStyle/>
          <a:p>
            <a:pPr lvl="0" rtl="1"/>
            <a:r>
              <a:rPr lang="he-IL">
                <a:latin typeface="Liberation Sans" pitchFamily="34"/>
                <a:cs typeface="Liberation Sans" pitchFamily="34"/>
              </a:rPr>
              <a:t>מיזוג הצעות תקציב - טרילמה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629D412-4237-BD2A-E524-2EEFFE068321}"/>
              </a:ext>
            </a:extLst>
          </p:cNvPr>
          <p:cNvGraphicFramePr>
            <a:graphicFrameLocks noGrp="1"/>
          </p:cNvGraphicFramePr>
          <p:nvPr/>
        </p:nvGraphicFramePr>
        <p:xfrm>
          <a:off x="306720" y="1038240"/>
          <a:ext cx="9509040" cy="5934959"/>
        </p:xfrm>
        <a:graphic>
          <a:graphicData uri="http://schemas.openxmlformats.org/drawingml/2006/table">
            <a:tbl>
              <a:tblPr firstRow="1" bandRow="1">
                <a:tableStyleId>{31DE6031-A4E8-4E9B-B324-C14811A253A9}</a:tableStyleId>
              </a:tblPr>
              <a:tblGrid>
                <a:gridCol w="2376360">
                  <a:extLst>
                    <a:ext uri="{9D8B030D-6E8A-4147-A177-3AD203B41FA5}">
                      <a16:colId xmlns:a16="http://schemas.microsoft.com/office/drawing/2014/main" val="3564123166"/>
                    </a:ext>
                  </a:extLst>
                </a:gridCol>
                <a:gridCol w="2376360">
                  <a:extLst>
                    <a:ext uri="{9D8B030D-6E8A-4147-A177-3AD203B41FA5}">
                      <a16:colId xmlns:a16="http://schemas.microsoft.com/office/drawing/2014/main" val="2374418837"/>
                    </a:ext>
                  </a:extLst>
                </a:gridCol>
                <a:gridCol w="2376360">
                  <a:extLst>
                    <a:ext uri="{9D8B030D-6E8A-4147-A177-3AD203B41FA5}">
                      <a16:colId xmlns:a16="http://schemas.microsoft.com/office/drawing/2014/main" val="3575146012"/>
                    </a:ext>
                  </a:extLst>
                </a:gridCol>
                <a:gridCol w="2379960">
                  <a:extLst>
                    <a:ext uri="{9D8B030D-6E8A-4147-A177-3AD203B41FA5}">
                      <a16:colId xmlns:a16="http://schemas.microsoft.com/office/drawing/2014/main" val="3689556740"/>
                    </a:ext>
                  </a:extLst>
                </a:gridCol>
              </a:tblGrid>
              <a:tr h="1641599"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מגלה אמת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הוגן לקבוצות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3600" b="1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3600" b="1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יעיל פארטו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/>
                      </a:pPr>
                      <a:endParaRPr lang="en-US" sz="3600" b="0" i="0" u="none" strike="noStrike" kern="1200" cap="none">
                        <a:ln>
                          <a:noFill/>
                        </a:ln>
                        <a:latin typeface="Liberation Sans" pitchFamily="18"/>
                        <a:cs typeface="Liberation Sans" pitchFamily="34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922987"/>
                  </a:ext>
                </a:extLst>
              </a:tr>
              <a:tr h="1260720"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800" b="1">
                          <a:solidFill>
                            <a:srgbClr val="00CC33"/>
                          </a:solidFill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800" b="1" i="0" u="none" strike="noStrike" kern="1200" cap="none">
                          <a:ln>
                            <a:noFill/>
                          </a:ln>
                          <a:solidFill>
                            <a:srgbClr val="00CC33"/>
                          </a:solidFill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כן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800" b="1">
                          <a:solidFill>
                            <a:srgbClr val="00CC33"/>
                          </a:solidFill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800" b="1" i="0" u="none" strike="noStrike" kern="1200" cap="none">
                          <a:ln>
                            <a:noFill/>
                          </a:ln>
                          <a:solidFill>
                            <a:srgbClr val="FF3333"/>
                          </a:solidFill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לא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800" b="1">
                          <a:solidFill>
                            <a:srgbClr val="FF3333"/>
                          </a:solidFill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800" b="1" i="0" u="none" strike="noStrike" kern="1200" cap="none">
                          <a:ln>
                            <a:noFill/>
                          </a:ln>
                          <a:solidFill>
                            <a:srgbClr val="00CC33"/>
                          </a:solidFill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כן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000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0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אוטיליטרי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4347250"/>
                  </a:ext>
                </a:extLst>
              </a:tr>
              <a:tr h="1516320"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800" b="1">
                          <a:solidFill>
                            <a:srgbClr val="FF3333"/>
                          </a:solidFill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800" b="1" i="0" u="none" strike="noStrike" kern="1200" cap="none">
                          <a:ln>
                            <a:noFill/>
                          </a:ln>
                          <a:solidFill>
                            <a:srgbClr val="00CC33"/>
                          </a:solidFill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כן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800" b="1">
                          <a:solidFill>
                            <a:srgbClr val="00CC33"/>
                          </a:solidFill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800" b="1" i="0" u="none" strike="noStrike" kern="1200" cap="none">
                          <a:ln>
                            <a:noFill/>
                          </a:ln>
                          <a:solidFill>
                            <a:srgbClr val="00CC33"/>
                          </a:solidFill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כן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800" b="1">
                          <a:solidFill>
                            <a:srgbClr val="00CC33"/>
                          </a:solidFill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800" b="1" i="0" u="none" strike="noStrike" kern="1200" cap="none">
                          <a:ln>
                            <a:noFill/>
                          </a:ln>
                          <a:solidFill>
                            <a:srgbClr val="FF3333"/>
                          </a:solidFill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לא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000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0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חציון מוכלל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3723234"/>
                  </a:ext>
                </a:extLst>
              </a:tr>
              <a:tr h="1516320"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800" b="1">
                          <a:solidFill>
                            <a:srgbClr val="00CC33"/>
                          </a:solidFill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800" b="1" i="0" u="none" strike="noStrike" kern="1200" cap="none">
                          <a:ln>
                            <a:noFill/>
                          </a:ln>
                          <a:solidFill>
                            <a:srgbClr val="FF3333"/>
                          </a:solidFill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לא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800" b="1">
                          <a:solidFill>
                            <a:srgbClr val="FF3333"/>
                          </a:solidFill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800" b="1" i="0" u="none" strike="noStrike" kern="1200" cap="none">
                          <a:ln>
                            <a:noFill/>
                          </a:ln>
                          <a:solidFill>
                            <a:srgbClr val="00CC33"/>
                          </a:solidFill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כן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800" b="1">
                          <a:solidFill>
                            <a:srgbClr val="00CC33"/>
                          </a:solidFill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800" b="1" i="0" u="none" strike="noStrike" kern="1200" cap="none">
                          <a:ln>
                            <a:noFill/>
                          </a:ln>
                          <a:solidFill>
                            <a:srgbClr val="00CC33"/>
                          </a:solidFill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כן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1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z="4000">
                          <a:latin typeface="Liberation Sans" pitchFamily="34"/>
                          <a:cs typeface="Liberation Sans" pitchFamily="34"/>
                        </a:defRPr>
                      </a:pPr>
                      <a:r>
                        <a:rPr lang="he-IL" sz="4000" b="0" i="0" u="none" strike="noStrike" kern="1200" cap="none">
                          <a:ln>
                            <a:noFill/>
                          </a:ln>
                          <a:latin typeface="Liberation Sans" pitchFamily="34"/>
                          <a:ea typeface="Noto Sans CJK SC Regular" pitchFamily="2"/>
                          <a:cs typeface="Liberation Sans" pitchFamily="34"/>
                        </a:rPr>
                        <a:t>דיקטטורה “הוגנת”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34134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x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Title and Content_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5920</TotalTime>
  <Words>1977</Words>
  <Application>Microsoft Office PowerPoint</Application>
  <PresentationFormat>Custom</PresentationFormat>
  <Paragraphs>192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21</vt:i4>
      </vt:variant>
    </vt:vector>
  </HeadingPairs>
  <TitlesOfParts>
    <vt:vector size="37" baseType="lpstr">
      <vt:lpstr>ＭＳ Ｐゴシック</vt:lpstr>
      <vt:lpstr>Aptos</vt:lpstr>
      <vt:lpstr>Aptos Display</vt:lpstr>
      <vt:lpstr>Arial</vt:lpstr>
      <vt:lpstr>Calibri</vt:lpstr>
      <vt:lpstr>Calibri Light</vt:lpstr>
      <vt:lpstr>Guttman Stam</vt:lpstr>
      <vt:lpstr>Liberation Sans</vt:lpstr>
      <vt:lpstr>Liberation Serif</vt:lpstr>
      <vt:lpstr>StarSymbol</vt:lpstr>
      <vt:lpstr>Times New Roman</vt:lpstr>
      <vt:lpstr>blank</vt:lpstr>
      <vt:lpstr>tx</vt:lpstr>
      <vt:lpstr>Default</vt:lpstr>
      <vt:lpstr>Office Theme</vt:lpstr>
      <vt:lpstr>Title and Content_</vt:lpstr>
      <vt:lpstr>מיזוג הצעות תקציב budget-proposal aggregation  אראל סגל-הלוי ע"פ: Freeman, Pennock, Peters, Wortman (2021).</vt:lpstr>
      <vt:lpstr>הקלט:</vt:lpstr>
      <vt:lpstr>חימום: סעיף אחד</vt:lpstr>
      <vt:lpstr>אלגוריתם החציון</vt:lpstr>
      <vt:lpstr>אלגוריתם החציון</vt:lpstr>
      <vt:lpstr>אלגוריתם החציון – עוד שימושים</vt:lpstr>
      <vt:lpstr>שני סעיפי תקציב</vt:lpstr>
      <vt:lpstr>תקציב הוגן לקבוצות</vt:lpstr>
      <vt:lpstr>אלגוריתם החציון המוכלל</vt:lpstr>
      <vt:lpstr>החציון המוכלל - דוגמאות</vt:lpstr>
      <vt:lpstr>החציון המוכלל - תכונות</vt:lpstr>
      <vt:lpstr>החציון המוכלל - תכונות</vt:lpstr>
      <vt:lpstr>שני סעיפי תקציב - המשך</vt:lpstr>
      <vt:lpstr>תקציב כללי – m סעיפים</vt:lpstr>
      <vt:lpstr>אלגוריתם הפנטומים הזזים (moving phantoms)</vt:lpstr>
      <vt:lpstr>אלגוריתם הפנטומים הזזים</vt:lpstr>
      <vt:lpstr>פנטומים זזים ליניאריים</vt:lpstr>
      <vt:lpstr>פנטומים זזים ליניאריים</vt:lpstr>
      <vt:lpstr>פנטומים זזים ליניאריים</vt:lpstr>
      <vt:lpstr>מיזוג הצעות תקציב - טרילמה</vt:lpstr>
      <vt:lpstr>מיזוג הצעות תקציב - טרילמה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שקופית 1</dc:title>
  <dc:creator>user</dc:creator>
  <cp:lastModifiedBy>Erel Segal-Halevi</cp:lastModifiedBy>
  <cp:revision>1165</cp:revision>
  <dcterms:modified xsi:type="dcterms:W3CDTF">2026-04-26T11:39:01Z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12.0000</vt:lpwstr>
  </property>
  <property fmtid="{D5CDD505-2E9C-101B-9397-08002B2CF9AE}" pid="3" name="HiddenSlides">
    <vt:r8>0</vt:r8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r8>0</vt:r8>
  </property>
  <property fmtid="{D5CDD505-2E9C-101B-9397-08002B2CF9AE}" pid="7" name="Notes">
    <vt:r8>19</vt:r8>
  </property>
  <property fmtid="{D5CDD505-2E9C-101B-9397-08002B2CF9AE}" pid="8" name="PresentationFormat">
    <vt:lpwstr>מותאם אישית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r8>19</vt:r8>
  </property>
</Properties>
</file>