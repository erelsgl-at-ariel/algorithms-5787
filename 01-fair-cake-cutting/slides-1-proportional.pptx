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24"/>
  </p:notesMasterIdLst>
  <p:handoutMasterIdLst>
    <p:handoutMasterId r:id="rId25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66" r:id="rId11"/>
    <p:sldId id="267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</p:sldIdLst>
  <p:sldSz cx="10080625" cy="7559675"/>
  <p:notesSz cx="7772400" cy="100584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123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4763C3-8D16-95EE-B536-66B4A094D462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372996" cy="50259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FE8531-E459-E4AA-F0A1-4ECB5300D094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399368" y="0"/>
            <a:ext cx="3372996" cy="50259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F3CB6-58AF-6BD2-86AB-A2AD597DF85E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9555647"/>
            <a:ext cx="3372996" cy="50259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C32FD4-61E3-2B1F-D899-B3583AB475C5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399368" y="9555647"/>
            <a:ext cx="3372996" cy="50259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1B2A6D5A-F397-4DE7-A3F4-252C75165210}" type="slidenum">
              <a:t>‹#›</a:t>
            </a:fld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497695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15E5BC-A8FE-6E7D-2003-646CBA1939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07000" y="812520"/>
            <a:ext cx="5345280" cy="4008959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5FBF4E-800F-39A8-16DD-66F385B5130A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151D8A11-9B48-A9F6-4B7C-BFD6A716C929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1E7387-4926-8BEC-7129-9E086551D783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89436E-1FC7-13E5-6E22-A1428E5B32DE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1DF128-B458-EFAB-40E3-C3CD709B2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fld id="{62A47145-C08A-42B3-B229-33DE23CFA92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670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-216000" rtl="0" hangingPunct="0">
      <a:tabLst/>
      <a:defRPr lang="en-US" sz="2000" b="0" i="0" u="none" strike="noStrike" kern="1200" cap="none">
        <a:ln>
          <a:noFill/>
        </a:ln>
        <a:highlight>
          <a:scrgbClr r="0" g="0" b="0">
            <a:alpha val="0"/>
          </a:scrgbClr>
        </a:highlight>
        <a:latin typeface="Liberation Sans" pitchFamily="18"/>
        <a:cs typeface="Nachlieli CLM" pitchFamily="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82399050-71AD-3BB2-2081-0E5AEF795F6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F033E227-AFDA-4FA3-B63F-BE05CF12751E}" type="slidenum"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6DDA0BA1-DCD1-73EF-2D6A-17F7676F5EE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B8CC1F9B-3F26-4C88-A91C-CC8125CCCFA3}" type="slidenum">
              <a:t>2</a:t>
            </a:fld>
            <a:endParaRPr lang="en-US"/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DC88BEFC-9843-E357-166D-09BFB970F7FA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800"/>
            </a:pPr>
            <a:fld id="{03D5ABED-D418-4FEF-8174-9153B27CB125}" type="slidenum">
              <a:t>2</a:t>
            </a:fld>
            <a:endParaRPr lang="en-US" sz="1400" b="0" i="0" u="none" strike="noStrike" cap="none" baseline="0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  <p:sp>
        <p:nvSpPr>
          <p:cNvPr id="3" name="Text Box 1">
            <a:extLst>
              <a:ext uri="{FF2B5EF4-FFF2-40B4-BE49-F238E27FC236}">
                <a16:creationId xmlns:a16="http://schemas.microsoft.com/office/drawing/2014/main" id="{C18532FA-5A88-1776-7EBD-64D4D7C86D7C}"/>
              </a:ext>
            </a:extLst>
          </p:cNvPr>
          <p:cNvSpPr/>
          <p:nvPr/>
        </p:nvSpPr>
        <p:spPr>
          <a:xfrm>
            <a:off x="4398840" y="9555120"/>
            <a:ext cx="3354480" cy="484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800"/>
            </a:pPr>
            <a:fld id="{87B1794F-2577-4C86-B2CC-5DF9709C122E}" type="slidenum">
              <a:t>2</a:t>
            </a:fld>
            <a:endParaRPr lang="en-US" sz="1400" b="0" i="0" u="none" strike="noStrike" cap="none" baseline="0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C1826E05-DD9F-3DE2-3AC8-D7D12601B8AD}"/>
              </a:ext>
            </a:extLst>
          </p:cNvPr>
          <p:cNvSpPr/>
          <p:nvPr/>
        </p:nvSpPr>
        <p:spPr>
          <a:xfrm>
            <a:off x="4398840" y="9555120"/>
            <a:ext cx="3357720" cy="4874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800"/>
            </a:pPr>
            <a:fld id="{04C6737A-A7F8-446A-B886-8ACB5A495102}" type="slidenum">
              <a:t>2</a:t>
            </a:fld>
            <a:endParaRPr lang="en-US" sz="1400" b="0" i="0" u="none" strike="noStrike" cap="none" baseline="0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  <p:sp>
        <p:nvSpPr>
          <p:cNvPr id="5" name="Slide Image Placeholder 4">
            <a:extLst>
              <a:ext uri="{FF2B5EF4-FFF2-40B4-BE49-F238E27FC236}">
                <a16:creationId xmlns:a16="http://schemas.microsoft.com/office/drawing/2014/main" id="{7F83106E-3140-4ABC-FCF5-C3520AEC101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64ED88CE-3D0F-01EA-BA52-EE651E4EFCF0}"/>
              </a:ext>
            </a:extLst>
          </p:cNvPr>
          <p:cNvSpPr/>
          <p:nvPr/>
        </p:nvSpPr>
        <p:spPr>
          <a:xfrm>
            <a:off x="777960" y="4776840"/>
            <a:ext cx="6218280" cy="45259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7EEA4904-B69E-EEEE-2774-58D14C1DAE8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E66A4C2-4DED-4829-9B0D-AD619937D03B}" type="slidenum">
              <a:t>3</a:t>
            </a:fld>
            <a:endParaRPr lang="en-US"/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A27031CB-CFE8-8955-6520-5FF9C15F90E8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800"/>
            </a:pPr>
            <a:fld id="{5F8C0688-C118-4E81-8D3B-BD737DFF5939}" type="slidenum">
              <a:t>3</a:t>
            </a:fld>
            <a:endParaRPr lang="en-US" sz="1400" b="0" i="0" u="none" strike="noStrike" cap="none" baseline="0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  <p:sp>
        <p:nvSpPr>
          <p:cNvPr id="3" name="Text Box 1">
            <a:extLst>
              <a:ext uri="{FF2B5EF4-FFF2-40B4-BE49-F238E27FC236}">
                <a16:creationId xmlns:a16="http://schemas.microsoft.com/office/drawing/2014/main" id="{4F645F1B-19C7-BB77-0AC1-3A9A7FE589F6}"/>
              </a:ext>
            </a:extLst>
          </p:cNvPr>
          <p:cNvSpPr/>
          <p:nvPr/>
        </p:nvSpPr>
        <p:spPr>
          <a:xfrm>
            <a:off x="4398840" y="9555120"/>
            <a:ext cx="3354480" cy="484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800"/>
            </a:pPr>
            <a:fld id="{3A7C6599-727A-4B8D-8ACF-2726945804AE}" type="slidenum">
              <a:t>3</a:t>
            </a:fld>
            <a:endParaRPr lang="en-US" sz="1400" b="0" i="0" u="none" strike="noStrike" cap="none" baseline="0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D7A34FDD-8D84-EA17-80F1-651DDFF0B156}"/>
              </a:ext>
            </a:extLst>
          </p:cNvPr>
          <p:cNvSpPr/>
          <p:nvPr/>
        </p:nvSpPr>
        <p:spPr>
          <a:xfrm>
            <a:off x="4398840" y="9555120"/>
            <a:ext cx="3357720" cy="4874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800"/>
            </a:pPr>
            <a:fld id="{FCA2B2D7-4E41-4C8D-845F-E110F79A34C7}" type="slidenum">
              <a:t>3</a:t>
            </a:fld>
            <a:endParaRPr lang="en-US" sz="1400" b="0" i="0" u="none" strike="noStrike" cap="none" baseline="0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  <p:sp>
        <p:nvSpPr>
          <p:cNvPr id="5" name="Slide Image Placeholder 4">
            <a:extLst>
              <a:ext uri="{FF2B5EF4-FFF2-40B4-BE49-F238E27FC236}">
                <a16:creationId xmlns:a16="http://schemas.microsoft.com/office/drawing/2014/main" id="{BE4FFE58-56C6-26F3-3CF2-82218848E8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74DB6962-3EDB-5BCE-95DC-FDDABD8C99CB}"/>
              </a:ext>
            </a:extLst>
          </p:cNvPr>
          <p:cNvSpPr/>
          <p:nvPr/>
        </p:nvSpPr>
        <p:spPr>
          <a:xfrm>
            <a:off x="777960" y="4776840"/>
            <a:ext cx="6218280" cy="45259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7A0546B3-A407-843F-70AD-0075D32E31E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AB48036D-551B-4E3C-93C0-44A454260D20}" type="slidenum">
              <a:t>4</a:t>
            </a:fld>
            <a:endParaRPr lang="en-US"/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9B6371A3-B1E3-5C5C-9533-6773403350B3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8B12E0AF-4314-427D-AAF2-F1BFC58D1908}" type="slidenum">
              <a:t>4</a:t>
            </a:fld>
            <a:endParaRPr lang="en-US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  <p:sp>
        <p:nvSpPr>
          <p:cNvPr id="3" name="Text Box 1">
            <a:extLst>
              <a:ext uri="{FF2B5EF4-FFF2-40B4-BE49-F238E27FC236}">
                <a16:creationId xmlns:a16="http://schemas.microsoft.com/office/drawing/2014/main" id="{6524C899-650C-3F97-1C0C-9B6E85F717EB}"/>
              </a:ext>
            </a:extLst>
          </p:cNvPr>
          <p:cNvSpPr/>
          <p:nvPr/>
        </p:nvSpPr>
        <p:spPr>
          <a:xfrm>
            <a:off x="4398840" y="9555120"/>
            <a:ext cx="3354480" cy="484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2FAE1B33-4A04-41B9-9617-08BF9360C22A}" type="slidenum">
              <a:t>4</a:t>
            </a:fld>
            <a:endParaRPr lang="en-US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E294578D-1EA5-7383-5A79-3C2ABCE9C874}"/>
              </a:ext>
            </a:extLst>
          </p:cNvPr>
          <p:cNvSpPr/>
          <p:nvPr/>
        </p:nvSpPr>
        <p:spPr>
          <a:xfrm>
            <a:off x="4398840" y="9555120"/>
            <a:ext cx="3357720" cy="4874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41FB0901-56C8-4FA1-9690-6B019247C353}" type="slidenum">
              <a:t>4</a:t>
            </a:fld>
            <a:endParaRPr lang="en-US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  <p:sp>
        <p:nvSpPr>
          <p:cNvPr id="5" name="Slide Image Placeholder 4">
            <a:extLst>
              <a:ext uri="{FF2B5EF4-FFF2-40B4-BE49-F238E27FC236}">
                <a16:creationId xmlns:a16="http://schemas.microsoft.com/office/drawing/2014/main" id="{76F96E29-E8F8-E4C5-74C2-E73E0F48705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A3902110-4DD5-D0FB-066A-028D9FCA01A1}"/>
              </a:ext>
            </a:extLst>
          </p:cNvPr>
          <p:cNvSpPr/>
          <p:nvPr/>
        </p:nvSpPr>
        <p:spPr>
          <a:xfrm>
            <a:off x="777960" y="4776840"/>
            <a:ext cx="6218280" cy="45259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BE54082B-2EEC-8F56-8BAB-BF295746289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4955710E-F8F6-48E0-8182-D6F0430A1C1F}" type="slidenum">
              <a:t>5</a:t>
            </a:fld>
            <a:endParaRPr lang="en-US"/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C1E4573D-4992-AC19-5951-7934C094FE42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280FEC9E-B72C-4644-B96F-51878C2F260F}" type="slidenum">
              <a:t>5</a:t>
            </a:fld>
            <a:endParaRPr lang="en-US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  <p:sp>
        <p:nvSpPr>
          <p:cNvPr id="3" name="Text Box 1">
            <a:extLst>
              <a:ext uri="{FF2B5EF4-FFF2-40B4-BE49-F238E27FC236}">
                <a16:creationId xmlns:a16="http://schemas.microsoft.com/office/drawing/2014/main" id="{2F1D10BB-8CA0-9450-4F98-7863B676CAE7}"/>
              </a:ext>
            </a:extLst>
          </p:cNvPr>
          <p:cNvSpPr/>
          <p:nvPr/>
        </p:nvSpPr>
        <p:spPr>
          <a:xfrm>
            <a:off x="4398840" y="9555120"/>
            <a:ext cx="3354480" cy="484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745C4674-84AD-44E3-9C1A-CEEB4D70BF33}" type="slidenum">
              <a:t>5</a:t>
            </a:fld>
            <a:endParaRPr lang="en-US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F82DA115-9780-E5AD-01FF-9472BF0618C4}"/>
              </a:ext>
            </a:extLst>
          </p:cNvPr>
          <p:cNvSpPr/>
          <p:nvPr/>
        </p:nvSpPr>
        <p:spPr>
          <a:xfrm>
            <a:off x="4398840" y="9555120"/>
            <a:ext cx="3357720" cy="4874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E0EF3CC7-79E6-4B76-9BF8-1242EC1072C9}" type="slidenum">
              <a:t>5</a:t>
            </a:fld>
            <a:endParaRPr lang="en-US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  <p:sp>
        <p:nvSpPr>
          <p:cNvPr id="5" name="Slide Image Placeholder 4">
            <a:extLst>
              <a:ext uri="{FF2B5EF4-FFF2-40B4-BE49-F238E27FC236}">
                <a16:creationId xmlns:a16="http://schemas.microsoft.com/office/drawing/2014/main" id="{7FFBD7C0-54E9-095F-7CC9-D5655D2B38F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599" y="763560"/>
            <a:ext cx="5029200" cy="377208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6F57C2C6-C641-1B51-5B03-2615F8DEC22D}"/>
              </a:ext>
            </a:extLst>
          </p:cNvPr>
          <p:cNvSpPr/>
          <p:nvPr/>
        </p:nvSpPr>
        <p:spPr>
          <a:xfrm>
            <a:off x="777960" y="4776840"/>
            <a:ext cx="6218280" cy="45259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5377CCE6-8FE1-991F-0A51-74F160086A7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C5747B4B-8624-4F90-B573-F394965942D4}" type="slidenum">
              <a:t>6</a:t>
            </a:fld>
            <a:endParaRPr lang="en-US"/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1302230E-84CD-8657-34E2-FCD9DCEED830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B9485385-B2FC-4FD9-BC13-389DA6076C10}" type="slidenum">
              <a:t>6</a:t>
            </a:fld>
            <a:endParaRPr lang="en-US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  <p:sp>
        <p:nvSpPr>
          <p:cNvPr id="3" name="Text Box 1">
            <a:extLst>
              <a:ext uri="{FF2B5EF4-FFF2-40B4-BE49-F238E27FC236}">
                <a16:creationId xmlns:a16="http://schemas.microsoft.com/office/drawing/2014/main" id="{40E4BC57-8FF8-C700-DFDA-89657EF33941}"/>
              </a:ext>
            </a:extLst>
          </p:cNvPr>
          <p:cNvSpPr/>
          <p:nvPr/>
        </p:nvSpPr>
        <p:spPr>
          <a:xfrm>
            <a:off x="4398840" y="9555120"/>
            <a:ext cx="3354480" cy="484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1FB84B89-F5C2-44FE-873F-1A0E78C378D3}" type="slidenum">
              <a:t>6</a:t>
            </a:fld>
            <a:endParaRPr lang="en-US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BE80F0C1-9BD6-E7F7-18F4-0B06211EAFF0}"/>
              </a:ext>
            </a:extLst>
          </p:cNvPr>
          <p:cNvSpPr/>
          <p:nvPr/>
        </p:nvSpPr>
        <p:spPr>
          <a:xfrm>
            <a:off x="4398840" y="9555120"/>
            <a:ext cx="3357720" cy="4874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ACBEFE20-EEE1-4059-9A74-528B9030C93C}" type="slidenum">
              <a:t>6</a:t>
            </a:fld>
            <a:endParaRPr lang="en-US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  <p:sp>
        <p:nvSpPr>
          <p:cNvPr id="5" name="Slide Image Placeholder 4">
            <a:extLst>
              <a:ext uri="{FF2B5EF4-FFF2-40B4-BE49-F238E27FC236}">
                <a16:creationId xmlns:a16="http://schemas.microsoft.com/office/drawing/2014/main" id="{C657427F-C3D7-9187-5135-938D574628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599" y="763560"/>
            <a:ext cx="5029200" cy="377208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5B1D6687-243C-8C06-9741-B46E0B4A6E38}"/>
              </a:ext>
            </a:extLst>
          </p:cNvPr>
          <p:cNvSpPr/>
          <p:nvPr/>
        </p:nvSpPr>
        <p:spPr>
          <a:xfrm>
            <a:off x="777960" y="4776840"/>
            <a:ext cx="6218280" cy="45259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D49E8929-3634-1CDE-7BC1-853FEFA79B0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A68394F-49FB-4305-9670-071E3DCC41A4}" type="slidenum">
              <a:t>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08139C-A9E7-CBA1-BC16-162F7D3A81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F1B38-4B1F-1B87-770F-E81F78B32DA6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DE109-843C-925F-3859-E0C009AFA1D7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800"/>
            </a:pPr>
            <a:fld id="{A95E09CA-2A90-44B4-8448-4BB7BA53251E}" type="slidenum">
              <a:t>7</a:t>
            </a:fld>
            <a:endParaRPr lang="he-IL" sz="1400" b="0" i="0" u="none" strike="noStrike" cap="none" baseline="0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B000EDE3-61F0-B8A6-D3DC-26C40D88324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4E8A7A65-0CF2-4C87-A6A8-00B968588D52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A3F096-6433-7C7B-DC10-CB78168B01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5B71ED-3489-3F53-439C-5E3701763E1E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0C575B-2003-A10F-4070-10CE2A51AF89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800"/>
            </a:pPr>
            <a:fld id="{522EBF36-2CA7-4A29-BB20-ED23F34B65EA}" type="slidenum">
              <a:t>8</a:t>
            </a:fld>
            <a:endParaRPr lang="he-IL" sz="1400" b="0" i="0" u="none" strike="noStrike" cap="none" baseline="0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CA34299F-C2AD-F11F-163E-3E2BB26698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B654782-4F63-4254-B4B3-3AEF28F9C852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895822-9C09-DF22-D161-1B75D775DC2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3A9D9F-5BC4-A0AA-5D8F-757A7E4E4C77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CB938-ED64-6401-A8ED-9D7221295F93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800"/>
            </a:pPr>
            <a:fld id="{4E66820F-538D-46B4-BD29-AC124523DFE1}" type="slidenum">
              <a:t>9</a:t>
            </a:fld>
            <a:endParaRPr lang="he-IL" sz="1400" b="0" i="0" u="none" strike="noStrike" cap="none" baseline="0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7D8943C3-DF7E-5E12-5333-3257115F514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C72DA8CC-33A8-4D75-AA25-FE5CF73FB99A}" type="slidenum">
              <a:t>10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B00C13-E41B-27D1-B9AB-8ACAF760296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803C51-1044-A28E-6BC4-4050DE906AF5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37A529-E7A1-DD25-0DC4-7D4F2F7047D7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800"/>
            </a:pPr>
            <a:fld id="{EBB9527F-B14D-40A2-B699-5C6B5916A9C3}" type="slidenum">
              <a:t>10</a:t>
            </a:fld>
            <a:endParaRPr lang="he-IL" sz="1400" b="0" i="0" u="none" strike="noStrike" cap="none" baseline="0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76240183-D177-A888-028D-9D92D9D02B6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59018F43-201D-4BDD-A491-F6BFFD9BD3DA}" type="slidenum">
              <a:t>11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BFA09-34BB-72E3-B682-8B6EAA198E3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B72206-7045-EA04-F2E6-8998CB7E36B8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551710-593A-763F-1553-9A94AC450128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800"/>
            </a:pPr>
            <a:fld id="{F037F4DE-648B-467D-9E25-71032C62578C}" type="slidenum">
              <a:t>11</a:t>
            </a:fld>
            <a:endParaRPr lang="he-IL" sz="1400" b="0" i="0" u="none" strike="noStrike" cap="none" baseline="0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6310B016-64F7-40B3-FB0F-16374EFECD0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956FB96-9C55-4B37-A86F-D10F72E34C7B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A3F2C0-2B03-8A76-9963-0EB792C854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E685E9-3FD2-EA23-9B6C-495AC5CCCF6B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C383E6-E46A-5DA0-DC51-A02FBB3B939D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F90622CC-6AC3-40CA-BF0F-51F936EF5EF8}" type="slidenum">
              <a:t>12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57A8C1F1-A3FA-F444-0B44-CB1946F74A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C9AB1680-8398-45CC-8FB7-E5C1AF5517C2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70F879-D36A-6FD2-64CC-F92A1B8072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D19C12-4895-4240-285C-48D786F117AB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3C878-740C-A613-2EDA-5AF4DD6DAA54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53AFFA3B-E91E-49F1-8335-2FD101A0931E}" type="slidenum">
              <a:t>13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DC112ED2-6E79-3DF4-86DB-E4E87DEF992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2F20809-7398-4329-BBF0-A41F34EF671A}" type="slidenum">
              <a:t>14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E2511C-567C-3A23-D171-71430696CB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9AFCAF-A660-F8E8-F7C3-D98262830837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25932-E577-58DE-C061-4B641B726FC5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57005097-D509-477B-8017-DA521C1913C2}" type="slidenum">
              <a:t>14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3D57E022-FA1E-A88D-1FE7-895A9EAAB03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FC63859-04FE-4F30-93CE-93F7484646D5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CFF77C-4D17-6E23-57F2-23DC4BEB15C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B1DCEF-2B82-6720-146E-325A91E7B5BF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D5B6E9-5A87-324A-3540-27AE32CFB0F0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F455A1CD-EA64-4433-BA83-904D1BD67A56}" type="slidenum">
              <a:t>15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71556CEE-923E-562B-6413-3EE646ADBE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2720DCE-BFE7-469F-A856-5836915FD7D8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80CBBD-558D-8D4B-BA95-DC9A547BFD7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139310-6FA2-5EB3-2B9F-01497F2CE308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13C19-33E5-EA3C-6288-ACEEAD5D24E9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228537EB-0BB8-4DBF-B779-9269FA967961}" type="slidenum">
              <a:t>16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6F22BAA0-D7FE-5F81-0B10-21A2212480C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430595E1-BF62-4DA9-99EA-EA75AC7F15B8}" type="slidenum">
              <a:t>17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E948A7-B0D5-C818-43AD-02362D2D0BC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6D37BE-9222-76F7-9B5B-E933010E7354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DBCAE2-3DAF-C044-F4E9-D4B11AF66531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56D5B57B-D295-46C3-9F2A-01AB884003C7}" type="slidenum">
              <a:t>17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2AC8FE06-5C41-69FF-F42F-626883E162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0E5517BF-53E3-49F2-90BB-5424A5B1FAEC}" type="slidenum">
              <a:t>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2B0572-5D73-D79A-86C2-4FCF81309B2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43C957-E95E-1938-642D-EC702B8F368B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A3B36-C35A-51D7-E60F-39371645D9BB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914638A1-4996-4D09-B8CB-A66F8CBB576E}" type="slidenum">
              <a:t>18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91A6055B-5FA6-3428-6654-7945EC1E01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E1900CA8-5B17-4CB3-B6B3-61859888FC4F}" type="slidenum">
              <a:t>19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5CCB5E-CD4F-7D48-9C3C-57C0C6BAC7C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F5F818-3728-1687-506E-E649290A7B6B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FFD802-BF68-7D91-5644-B7EEF24FD9E9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25A90E9E-611E-4B14-9BB5-CBE99BF9FE35}" type="slidenum">
              <a:t>19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0EBCE6BA-A7E9-6AE6-DE90-3F0D6681AF8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70F8CFF0-1612-457A-90D0-552B22B8C73C}" type="slidenum">
              <a:t>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01380F-086E-0C75-3704-924DAED9F7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B4DCF0-A932-1B3D-BF2F-A39AA556885B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_0">
            <a:extLst>
              <a:ext uri="{FF2B5EF4-FFF2-40B4-BE49-F238E27FC236}">
                <a16:creationId xmlns:a16="http://schemas.microsoft.com/office/drawing/2014/main" id="{4A097E10-6F70-4F25-98C2-47C297D17DDC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F585F798-C928-4FFF-BE1A-B40C2E92B6BC}" type="slidenum">
              <a:t>20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AA726EDD-8ECE-E77F-909E-D355C63680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B199BF5-BFE6-4C27-A188-C71B57007850}" type="slidenum">
              <a:t>21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202312-56A6-7772-DE82-C99D1751B0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09AACE-A442-4970-4C21-B4B03E4389B5}"/>
              </a:ext>
            </a:extLst>
          </p:cNvPr>
          <p:cNvSpPr txBox="1"/>
          <p:nvPr/>
        </p:nvSpPr>
        <p:spPr>
          <a:xfrm>
            <a:off x="777600" y="4776840"/>
            <a:ext cx="6195960" cy="450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16000" marR="0" lvl="0" indent="-216000" rtl="0" hangingPunct="0">
              <a:buNone/>
              <a:tabLst/>
            </a:pPr>
            <a:endParaRPr lang="en-US" sz="2000" b="0" i="0" u="none" strike="noStrike" kern="1200" cap="none">
              <a:ln>
                <a:noFill/>
              </a:ln>
              <a:highlight>
                <a:scrgbClr r="0" g="0" b="0">
                  <a:alpha val="0"/>
                </a:scrgbClr>
              </a:highlight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560B5C-7976-C797-236B-3F2FAD438D52}"/>
              </a:ext>
            </a:extLst>
          </p:cNvPr>
          <p:cNvSpPr/>
          <p:nvPr/>
        </p:nvSpPr>
        <p:spPr>
          <a:xfrm>
            <a:off x="4398840" y="9555120"/>
            <a:ext cx="3351240" cy="4809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0" tIns="0" rIns="0" bIns="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/>
            </a:pPr>
            <a:fld id="{F0492EDD-BC92-42A9-9F4B-72FC8CAB0219}" type="slidenum">
              <a:t>21</a:t>
            </a:fld>
            <a:endParaRPr lang="he-IL" sz="1400" b="0" i="0" u="none" strike="noStrike" kern="1200" cap="none">
              <a:ln>
                <a:noFill/>
              </a:ln>
              <a:solidFill>
                <a:srgbClr val="000000"/>
              </a:solidFill>
              <a:latin typeface="Times New Roman" pitchFamily="18"/>
              <a:ea typeface="DejaVu Sans" pitchFamily="34"/>
              <a:cs typeface="DejaVu Sans" pitchFamily="34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C8D18-5822-825C-1610-B318077452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8E43B0-F073-7807-09D9-BC9E817889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06AC3-4950-9684-1B2E-5803EE4C1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4894C-7E41-BF71-DE18-701203C65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544AEC-2EA6-8206-0C7E-512FB7DAE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866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BF36E-5B15-900B-7587-5023A6976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CE0FC-B241-0D6A-F25B-FE969BBF97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67D472-74D1-DC63-D142-FE78ED7F9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1D8CB-CF11-8F02-68F9-BE4868112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985846-8C12-27C1-7B83-9D60D7C5B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277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487D3-21BA-0DAB-75AA-2B6565DB9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F8B2BE-C5AB-F785-5012-59CFEE675D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640892-A89A-04A5-EA50-112C55999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37223-8F29-A2C1-A322-5EDCAD68D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25C5C-DF69-EEF8-7DAF-A61C37116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202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3BFD1-42C2-08FA-A925-CDC4A0B57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99C9E-729C-658A-0AF2-8D5E234043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979613" y="1924050"/>
            <a:ext cx="3811587" cy="4737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821064-63C5-A3F2-E927-B8B46DE953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43600" y="1924050"/>
            <a:ext cx="3811588" cy="4737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C2D17F-EAD8-0E48-5348-68A624F7C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DE47A9-5BE9-44C5-1C6B-49D9A7799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185DFD-0716-F73F-0C05-5B265BC0F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154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7E622-AB19-F543-974F-E61817DD2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FD6DF4-6461-B5BF-32F1-5A1D79A5A3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B35DFB-15A2-CA15-0EF2-E8B24DFD04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4346D0-B0F7-308F-ECC1-97ECC5981E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E2F3BE-5A6A-2B58-0F1B-3D8EACBB8C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AE13FC-D949-2D35-EA2B-EBC59CDC5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EA6AEF-7247-2CB5-2F8D-E22E8653E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374076-E07B-3FD6-41D8-1ECABF189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720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F61AA-C278-7F4A-8144-55CFD6F7F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B3C49A-98F6-AF98-A9BB-8AB314255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6F0D2-B72F-9D29-4B62-C4945A2DD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E2C601-DD75-973E-DBF3-CAACBDFAD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058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7980A1-35C9-C5DA-3E6F-4FDA72F54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716E60-5A85-0EDF-CA2D-6CB83E68C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FB996-2ACB-84A3-C0F8-7ECE0D677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395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1D608-F3DE-45EA-C57E-7B8930F1C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EBE23-DFFD-CD59-AD5A-996613696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54B27B-DB30-09F0-5404-337F560EF3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4E61F7-AAD8-F73B-4BE4-9A29EF80F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099422-C4FF-779A-0E45-0D44234C84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52BEA4-C2F7-CB07-6BCF-628DE6D96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825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64FAE-0582-57E0-2331-F70E09B9B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831DBAF-1DFA-A6A4-CC4E-BDF70047F8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D14D33-2D79-F436-6311-2AD8E4A52D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F92073-D232-4943-6C05-78910099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5ACF27-48AC-929C-6F7F-545740128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47F347-F896-D482-F46F-44F53526C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543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B009C-7D98-2AB8-CE3F-A878D7FE1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FEE844-ADA6-A235-DA0D-FA4E589A36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2EBCA-0FD8-FC56-3009-698714D8E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94C9AD-9F97-B61D-5155-521583ED4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CC77F-1A54-19B0-3AA5-DF77CE17D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196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12E6C2-B2E6-C0B1-75E9-5066FCF64C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908925" y="457200"/>
            <a:ext cx="1974850" cy="62039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0F2D19-E00E-CE6B-948A-51B4523734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979613" y="457200"/>
            <a:ext cx="5776912" cy="62039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91E7E8-BC8C-9359-27C7-CF268B0D1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C67630-1260-4083-8A80-B90BBCCD2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FB6E8-C7B8-E979-6AA3-90D3E93DE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5669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CBCD2-6B0F-8F44-92E9-18327015EF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33907E-6BB0-00F5-D896-FF099169C2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9279691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3C037-3502-0F06-D96B-713224071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F82FF4-D4F8-1408-DFB5-8B1DBA162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949524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68077-3A58-397A-8A52-2683DFEA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DAD00E-8321-1185-2E47-DE21A47674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794460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BD1CA-B6F2-72CA-774D-B9CBE2125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E251EB-1F6E-923E-52E9-5CAE8D44DD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3238" y="1768475"/>
            <a:ext cx="4459287" cy="4384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B29E32-0217-96C6-37B0-42D7C9761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4925" y="1768475"/>
            <a:ext cx="4460875" cy="4384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6015633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CD17F-B07B-DD29-48B5-DBFC32C55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F05916-8D1F-C29F-BC68-663F1773DA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26CDF7-AC15-7852-84B4-2B9842E0C8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128539-13E8-B071-55AA-0735BABF87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C27A12-A051-6747-D359-BAA1311580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571357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E8650-93A9-AE3D-2FFF-9B47027E0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922885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0910607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03FAA-C01D-1A58-AEE3-1F8440549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F324D2-E069-495B-432F-9E833D11A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C1C096-A4FB-061D-4CAF-86479A8C7B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103222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F69F6-A1F7-EFD5-9BE5-8A060A17D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B0013E-9DA4-DA53-8E11-B055F73146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605378-9D72-8F34-6418-9A810EA4E6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321432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2DCFD-8208-27B8-5115-BB82F30F9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228121-1CC6-26BE-39CC-CBEC2F5913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6280988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16537E-313D-0823-1D71-7926BCD82B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08850" y="301625"/>
            <a:ext cx="22669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3A02E0-E266-3D23-F911-CDCFB159AE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3238" y="301625"/>
            <a:ext cx="6653212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485170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7">
            <a:extLst>
              <a:ext uri="{FF2B5EF4-FFF2-40B4-BE49-F238E27FC236}">
                <a16:creationId xmlns:a16="http://schemas.microsoft.com/office/drawing/2014/main" id="{366A1F2B-F055-F63E-E27E-B4FE09F01C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00400" y="457200"/>
            <a:ext cx="6683040" cy="12618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anchor="ctr">
            <a:noAutofit/>
          </a:bodyPr>
          <a:lstStyle/>
          <a:p>
            <a:pPr lvl="0"/>
            <a:endParaRPr lang="en-US"/>
          </a:p>
        </p:txBody>
      </p:sp>
      <p:sp>
        <p:nvSpPr>
          <p:cNvPr id="3" name="Shape 28">
            <a:extLst>
              <a:ext uri="{FF2B5EF4-FFF2-40B4-BE49-F238E27FC236}">
                <a16:creationId xmlns:a16="http://schemas.microsoft.com/office/drawing/2014/main" id="{5757CA33-557A-B6F0-873B-EEEE008C28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979640" y="1924200"/>
            <a:ext cx="7775280" cy="4736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hape 29">
            <a:extLst>
              <a:ext uri="{FF2B5EF4-FFF2-40B4-BE49-F238E27FC236}">
                <a16:creationId xmlns:a16="http://schemas.microsoft.com/office/drawing/2014/main" id="{E7712A6F-3102-8A4D-AEC0-26A1C5E3C139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1763640" y="6094439"/>
            <a:ext cx="2346120" cy="5187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anchor="t" anchorCtr="0">
            <a:noAutofit/>
          </a:bodyPr>
          <a:lstStyle>
            <a:lvl1pPr lvl="0" rtl="0" hangingPunct="0">
              <a:buNone/>
              <a:tabLst/>
              <a:defRPr lang="en-US" sz="2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Shape 30">
            <a:extLst>
              <a:ext uri="{FF2B5EF4-FFF2-40B4-BE49-F238E27FC236}">
                <a16:creationId xmlns:a16="http://schemas.microsoft.com/office/drawing/2014/main" id="{C723731D-84FE-9740-8E56-59CF28DC169A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203720" y="6707160"/>
            <a:ext cx="3193560" cy="5187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anchor="t" anchorCtr="0">
            <a:noAutofit/>
          </a:bodyPr>
          <a:lstStyle>
            <a:lvl1pPr lvl="0" rtl="0" hangingPunct="0">
              <a:buNone/>
              <a:tabLst/>
              <a:defRPr lang="en-US" sz="2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hape 31">
            <a:extLst>
              <a:ext uri="{FF2B5EF4-FFF2-40B4-BE49-F238E27FC236}">
                <a16:creationId xmlns:a16="http://schemas.microsoft.com/office/drawing/2014/main" id="{97A45C02-2356-67DE-96AE-8F053974BA5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7515360" y="6707160"/>
            <a:ext cx="2346120" cy="5187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anchor="t" anchorCtr="0">
            <a:noAutofit/>
          </a:bodyPr>
          <a:lstStyle>
            <a:lvl1pPr lvl="0" rtl="0" hangingPunct="0">
              <a:buNone/>
              <a:tabLst/>
              <a:defRPr lang="en-US" sz="2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marL="0" marR="0" lvl="0" indent="0" algn="l" rtl="0" hangingPunct="0">
        <a:lnSpc>
          <a:spcPct val="100000"/>
        </a:lnSpc>
        <a:buNone/>
        <a:tabLst/>
        <a:defRPr lang="en-US" sz="1400" b="0" i="0" u="none" strike="noStrike" kern="1200" cap="none" spc="0" baseline="0">
          <a:ln>
            <a:noFill/>
          </a:ln>
          <a:solidFill>
            <a:srgbClr val="000000"/>
          </a:solidFill>
          <a:highlight>
            <a:scrgbClr r="0" g="0" b="0">
              <a:alpha val="0"/>
            </a:scrgbClr>
          </a:highlight>
          <a:latin typeface="Arial"/>
          <a:ea typeface="Arial"/>
          <a:cs typeface="Arial"/>
        </a:defRPr>
      </a:lvl1pPr>
    </p:titleStyle>
    <p:bodyStyle>
      <a:lvl1pPr marL="0" marR="0" indent="0" algn="l" rtl="0" hangingPunct="0">
        <a:lnSpc>
          <a:spcPct val="100000"/>
        </a:lnSpc>
        <a:spcBef>
          <a:spcPts val="1417"/>
        </a:spcBef>
        <a:spcAft>
          <a:spcPts val="0"/>
        </a:spcAft>
        <a:tabLst/>
        <a:defRPr lang="en-US" sz="1400" b="0" i="0" u="none" strike="noStrike" kern="1200" cap="none" spc="0" baseline="0">
          <a:ln>
            <a:noFill/>
          </a:ln>
          <a:solidFill>
            <a:srgbClr val="000000"/>
          </a:solidFill>
          <a:highlight>
            <a:scrgbClr r="0" g="0" b="0">
              <a:alpha val="0"/>
            </a:scrgbClr>
          </a:highlight>
          <a:latin typeface="Arial"/>
          <a:cs typeface="Arial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AF5520-6FAE-023B-7A97-3BDFEEA6EA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999" y="301320"/>
            <a:ext cx="9072000" cy="1261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F27E0F-90E8-5AAC-4EC0-FC22BA6B03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3999" y="1768680"/>
            <a:ext cx="9072000" cy="4384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rtl="0" hangingPunct="0">
        <a:tabLst/>
        <a:defRPr lang="en-US" sz="4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Liberation Sans" pitchFamily="18"/>
          <a:cs typeface="Nachlieli CLM" pitchFamily="2"/>
        </a:defRPr>
      </a:lvl1pPr>
    </p:titleStyle>
    <p:bodyStyle>
      <a:lvl1pPr marL="0" marR="0" indent="0" rtl="0" hangingPunct="0">
        <a:spcBef>
          <a:spcPts val="1417"/>
        </a:spcBef>
        <a:spcAft>
          <a:spcPts val="0"/>
        </a:spcAft>
        <a:tabLst/>
        <a:defRPr lang="en-US" sz="32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Liberation Sans" pitchFamily="18"/>
          <a:cs typeface="Nachlieli CLM" pitchFamily="2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6.png"/><Relationship Id="rId5" Type="http://schemas.openxmlformats.org/officeDocument/2006/relationships/image" Target="../media/image5.jpg"/><Relationship Id="rId10" Type="http://schemas.openxmlformats.org/officeDocument/2006/relationships/image" Target="../media/image10.jp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6.png"/><Relationship Id="rId5" Type="http://schemas.openxmlformats.org/officeDocument/2006/relationships/image" Target="../media/image12.jpg"/><Relationship Id="rId4" Type="http://schemas.openxmlformats.org/officeDocument/2006/relationships/image" Target="../media/image3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5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madlan.co.il/local/pricesHeatmap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.jp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results?search_query=monkey+envy+experiment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8473D-5F2D-1FA2-4A53-D59F106B900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849600"/>
            <a:ext cx="9692640" cy="2442240"/>
          </a:xfrm>
        </p:spPr>
        <p:txBody>
          <a:bodyPr vert="horz"/>
          <a:lstStyle/>
          <a:p>
            <a:pPr lvl="0" rtl="1"/>
            <a:r>
              <a:rPr lang="he-IL" sz="6600" b="1">
                <a:solidFill>
                  <a:srgbClr val="0000FF"/>
                </a:solidFill>
                <a:latin typeface="Liberation Sans" pitchFamily="34"/>
                <a:cs typeface="Liberation Sans" pitchFamily="34"/>
              </a:rPr>
              <a:t>חלוקה הוגנת של קרקע</a:t>
            </a:r>
            <a:br>
              <a:rPr lang="en-US" sz="6600" b="1">
                <a:solidFill>
                  <a:srgbClr val="0000FF"/>
                </a:solidFill>
                <a:latin typeface="Liberation Sans" pitchFamily="34"/>
                <a:cs typeface="Liberation Sans" pitchFamily="34"/>
              </a:rPr>
            </a:br>
            <a:r>
              <a:rPr lang="en-US" sz="6600" b="1">
                <a:solidFill>
                  <a:srgbClr val="0000FF"/>
                </a:solidFill>
                <a:latin typeface="Liberation Sans" pitchFamily="34"/>
                <a:cs typeface="Liberation Sans" pitchFamily="34"/>
              </a:rPr>
              <a:t>Fair Division of Land</a:t>
            </a:r>
            <a:br>
              <a:rPr lang="en-US" sz="8000" b="1">
                <a:latin typeface="Liberation Sans" pitchFamily="34"/>
                <a:cs typeface="Liberation Sans" pitchFamily="34"/>
              </a:rPr>
            </a:br>
            <a:r>
              <a:rPr lang="he-IL" sz="4000" b="1">
                <a:latin typeface="Liberation Sans" pitchFamily="34"/>
                <a:cs typeface="Liberation Sans" pitchFamily="34"/>
              </a:rPr>
              <a:t>אראל סגל-הלוי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41EB706-FE7D-4E40-7A82-805C2ACAD28B}"/>
              </a:ext>
            </a:extLst>
          </p:cNvPr>
          <p:cNvSpPr/>
          <p:nvPr/>
        </p:nvSpPr>
        <p:spPr>
          <a:xfrm>
            <a:off x="1440" y="0"/>
            <a:ext cx="10079280" cy="604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46800" rIns="90000" bIns="46800" anchor="t" anchorCtr="0" compatLnSpc="0">
            <a:spAutoFit/>
          </a:bodyPr>
          <a:lstStyle/>
          <a:p>
            <a:pPr marL="0" marR="0" lvl="0" indent="0" algn="ctr" rtl="1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he-IL" sz="3600" b="0" i="0" u="none" strike="noStrike" kern="1200" cap="none">
                <a:ln>
                  <a:noFill/>
                </a:ln>
                <a:latin typeface="Guttman Stam" pitchFamily="18"/>
                <a:ea typeface="Guttman Stam" pitchFamily="2"/>
                <a:cs typeface="Guttman Stam" pitchFamily="2"/>
              </a:rPr>
              <a:t>"וּנְחַלְתֶּם אוֹתָהּ אִישׁ כְּאָחִיו"</a:t>
            </a:r>
            <a:r>
              <a:rPr lang="he-IL" sz="1200" b="0" i="0" u="none" strike="noStrike" kern="1200" cap="none">
                <a:ln>
                  <a:noFill/>
                </a:ln>
                <a:latin typeface="Guttman Stam" pitchFamily="18"/>
                <a:ea typeface="Guttman Stam" pitchFamily="2"/>
                <a:cs typeface="Guttman Stam" pitchFamily="2"/>
              </a:rPr>
              <a:t> (יחזקאל מז 14)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7EA579-D497-72BB-19EA-4C62D37BDBA3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123640" y="3474720"/>
            <a:ext cx="6105959" cy="384047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99110DB-F71F-0191-6517-993303E57792}"/>
              </a:ext>
            </a:extLst>
          </p:cNvPr>
          <p:cNvSpPr txBox="1"/>
          <p:nvPr/>
        </p:nvSpPr>
        <p:spPr>
          <a:xfrm>
            <a:off x="2651760" y="7315200"/>
            <a:ext cx="5292360" cy="3466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http://www.fourpoints.net.au/services/land-division/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17914534-98AF-5062-B2E9-809C0FA81F3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686920" y="3195000"/>
            <a:ext cx="4462920" cy="17427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C8D8449A-F576-2389-F942-2131CB092404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157720" y="4497840"/>
            <a:ext cx="4809240" cy="17326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9BC33C61-2DFC-D933-3951-C6B284D5FD01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0" y="4249800"/>
            <a:ext cx="4914000" cy="327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CCC9D32F-7A75-19FB-1197-001F0286B6F9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-1310760" y="2418120"/>
            <a:ext cx="6583679" cy="150839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Box 6">
            <a:extLst>
              <a:ext uri="{FF2B5EF4-FFF2-40B4-BE49-F238E27FC236}">
                <a16:creationId xmlns:a16="http://schemas.microsoft.com/office/drawing/2014/main" id="{FCA7844D-43A8-C729-7965-AD5ECFC3FD78}"/>
              </a:ext>
            </a:extLst>
          </p:cNvPr>
          <p:cNvSpPr/>
          <p:nvPr/>
        </p:nvSpPr>
        <p:spPr>
          <a:xfrm>
            <a:off x="353160" y="115560"/>
            <a:ext cx="9678600" cy="806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91440" rIns="90000" bIns="91440" anchor="b" anchorCtr="0" compatLnSpc="1">
            <a:noAutofit/>
          </a:bodyPr>
          <a:lstStyle/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he-IL" sz="4800" b="1" i="0" u="none" strike="noStrike" cap="none" baseline="0">
                <a:ln>
                  <a:noFill/>
                </a:ln>
                <a:latin typeface="Arial" pitchFamily="34"/>
                <a:ea typeface="Arial" pitchFamily="34"/>
                <a:cs typeface="Arial" pitchFamily="34"/>
              </a:rPr>
              <a:t>הוגנות </a:t>
            </a:r>
            <a:r>
              <a:rPr lang="he-IL" sz="4800" b="1" i="0" u="none" strike="noStrike" cap="none" baseline="0" dirty="0">
                <a:ln>
                  <a:noFill/>
                </a:ln>
                <a:latin typeface="Arial" pitchFamily="34"/>
                <a:ea typeface="Arial" pitchFamily="34"/>
                <a:cs typeface="Arial" pitchFamily="34"/>
              </a:rPr>
              <a:t>בחלוקת קרקע בכותרות</a:t>
            </a: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BB82615D-C78A-DD73-445B-963AC519E6EF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101520" y="906120"/>
            <a:ext cx="4893120" cy="139643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" name="Group 8">
            <a:extLst>
              <a:ext uri="{FF2B5EF4-FFF2-40B4-BE49-F238E27FC236}">
                <a16:creationId xmlns:a16="http://schemas.microsoft.com/office/drawing/2014/main" id="{9E1A07BF-FA22-6A33-BE1A-B5530EB2CF95}"/>
              </a:ext>
            </a:extLst>
          </p:cNvPr>
          <p:cNvGrpSpPr/>
          <p:nvPr/>
        </p:nvGrpSpPr>
        <p:grpSpPr>
          <a:xfrm>
            <a:off x="4023360" y="6217919"/>
            <a:ext cx="5905080" cy="3279241"/>
            <a:chOff x="4023360" y="6217919"/>
            <a:chExt cx="5905080" cy="3279241"/>
          </a:xfrm>
        </p:grpSpPr>
        <p:pic>
          <p:nvPicPr>
            <p:cNvPr id="9" name="Picture 9">
              <a:extLst>
                <a:ext uri="{FF2B5EF4-FFF2-40B4-BE49-F238E27FC236}">
                  <a16:creationId xmlns:a16="http://schemas.microsoft.com/office/drawing/2014/main" id="{8E830BA7-9089-E3C1-7C7C-D064ECC045F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4023360" y="6217919"/>
              <a:ext cx="5905079" cy="12952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" name="Picture 10">
              <a:extLst>
                <a:ext uri="{FF2B5EF4-FFF2-40B4-BE49-F238E27FC236}">
                  <a16:creationId xmlns:a16="http://schemas.microsoft.com/office/drawing/2014/main" id="{2613198A-508B-AE0A-0AAE-1FECC81D1EF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031360" y="7520040"/>
              <a:ext cx="4897080" cy="197712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1" name="Picture 2">
            <a:extLst>
              <a:ext uri="{FF2B5EF4-FFF2-40B4-BE49-F238E27FC236}">
                <a16:creationId xmlns:a16="http://schemas.microsoft.com/office/drawing/2014/main" id="{2ED691E5-37CD-5EC3-045F-0A81440B4085}"/>
              </a:ext>
            </a:extLst>
          </p:cNvPr>
          <p:cNvPicPr>
            <a:picLocks noChangeAspect="1"/>
          </p:cNvPicPr>
          <p:nvPr/>
        </p:nvPicPr>
        <p:blipFill>
          <a:blip r:embed="rId10">
            <a:lum/>
            <a:alphaModFix/>
          </a:blip>
          <a:srcRect l="141" t="-252" r="38515" b="-252"/>
          <a:stretch>
            <a:fillRect/>
          </a:stretch>
        </p:blipFill>
        <p:spPr>
          <a:xfrm>
            <a:off x="5852160" y="886680"/>
            <a:ext cx="4229640" cy="2679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>
            <a:extLst>
              <a:ext uri="{FF2B5EF4-FFF2-40B4-BE49-F238E27FC236}">
                <a16:creationId xmlns:a16="http://schemas.microsoft.com/office/drawing/2014/main" id="{C4EFFFA8-A05B-98A6-4AB7-7D11DE423F59}"/>
              </a:ext>
            </a:extLst>
          </p:cNvPr>
          <p:cNvSpPr/>
          <p:nvPr/>
        </p:nvSpPr>
        <p:spPr>
          <a:xfrm>
            <a:off x="402120" y="1716840"/>
            <a:ext cx="9678240" cy="2460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91440" rIns="90000" bIns="91440" anchor="b" anchorCtr="0" compatLnSpc="1">
            <a:noAutofit/>
          </a:bodyPr>
          <a:lstStyle/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he-IL" sz="4800" b="1" i="0" u="none" strike="noStrike" cap="none" baseline="0" dirty="0">
                <a:ln>
                  <a:noFill/>
                </a:ln>
                <a:latin typeface="Arial" pitchFamily="34"/>
                <a:ea typeface="Arial" pitchFamily="34"/>
                <a:cs typeface="Arial" pitchFamily="34"/>
              </a:rPr>
              <a:t>היעד</a:t>
            </a:r>
            <a:r>
              <a:rPr lang="en-US" sz="4800" b="1" i="0" u="none" strike="noStrike" cap="none" baseline="0" dirty="0">
                <a:ln>
                  <a:noFill/>
                </a:ln>
                <a:latin typeface="Arial" pitchFamily="34"/>
                <a:ea typeface="Arial" pitchFamily="34"/>
                <a:cs typeface="Arial" pitchFamily="34"/>
              </a:rPr>
              <a:t>:</a:t>
            </a:r>
          </a:p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he-IL" sz="4800" b="1" i="0" u="none" strike="noStrike" cap="none" baseline="0" dirty="0">
                <a:ln>
                  <a:noFill/>
                </a:ln>
                <a:latin typeface="Arial" pitchFamily="34"/>
                <a:ea typeface="Arial" pitchFamily="34"/>
                <a:cs typeface="Arial" pitchFamily="34"/>
              </a:rPr>
              <a:t>פיתוח תהליכים מעשיים</a:t>
            </a:r>
          </a:p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he-IL" sz="4800" b="1" i="0" u="none" strike="noStrike" cap="none" baseline="0" dirty="0">
                <a:ln>
                  <a:noFill/>
                </a:ln>
                <a:latin typeface="Arial" pitchFamily="34"/>
                <a:ea typeface="Arial" pitchFamily="34"/>
                <a:cs typeface="Arial" pitchFamily="34"/>
              </a:rPr>
              <a:t>לחלוקה הוגנת של קרקע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194A211-2278-07C2-2863-0A9FCD7EABF7}"/>
              </a:ext>
            </a:extLst>
          </p:cNvPr>
          <p:cNvGrpSpPr/>
          <p:nvPr/>
        </p:nvGrpSpPr>
        <p:grpSpPr>
          <a:xfrm>
            <a:off x="3372480" y="5330160"/>
            <a:ext cx="3249719" cy="2241720"/>
            <a:chOff x="3372480" y="5330160"/>
            <a:chExt cx="3249719" cy="224172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4E6DBF1-A07E-6D19-77A8-5EDDDC2FFB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/>
              <a:alphaModFix/>
            </a:blip>
            <a:srcRect/>
            <a:stretch>
              <a:fillRect/>
            </a:stretch>
          </p:blipFill>
          <p:spPr>
            <a:xfrm>
              <a:off x="4957920" y="5330160"/>
              <a:ext cx="1664279" cy="39204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7A36ECB-45BE-6D0E-C3E6-CE697D03F1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/>
              <a:alphaModFix/>
            </a:blip>
            <a:srcRect/>
            <a:stretch>
              <a:fillRect/>
            </a:stretch>
          </p:blipFill>
          <p:spPr>
            <a:xfrm>
              <a:off x="5122440" y="5659200"/>
              <a:ext cx="1466640" cy="5824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2069048-C29D-36FC-1356-4D9958EE394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/>
              <a:alphaModFix/>
            </a:blip>
            <a:srcRect/>
            <a:stretch>
              <a:fillRect/>
            </a:stretch>
          </p:blipFill>
          <p:spPr>
            <a:xfrm>
              <a:off x="3419640" y="6386760"/>
              <a:ext cx="1615320" cy="110304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0B75579-070F-16F8-51F0-32F31E945C1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3393000" y="5954760"/>
              <a:ext cx="2167200" cy="5039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8E87CAB-CAA7-03CE-6331-38F3A3239F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3372480" y="5480639"/>
              <a:ext cx="1608119" cy="46548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2D9A688-3694-1277-3392-97EA13C7E95A}"/>
                </a:ext>
              </a:extLst>
            </p:cNvPr>
            <p:cNvGrpSpPr/>
            <p:nvPr/>
          </p:nvGrpSpPr>
          <p:grpSpPr>
            <a:xfrm>
              <a:off x="4655160" y="6465959"/>
              <a:ext cx="1944360" cy="1105921"/>
              <a:chOff x="4655160" y="6465959"/>
              <a:chExt cx="1944360" cy="1105921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8E89E6D3-BAE9-0C38-A2A4-C7BC392E0A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4655160" y="6465959"/>
                <a:ext cx="1944360" cy="43416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B376DAA0-DA8E-1834-712B-7BC95951F4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4987800" y="6906600"/>
                <a:ext cx="1611720" cy="66528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2">
            <a:extLst>
              <a:ext uri="{FF2B5EF4-FFF2-40B4-BE49-F238E27FC236}">
                <a16:creationId xmlns:a16="http://schemas.microsoft.com/office/drawing/2014/main" id="{A0BC823A-C553-B6CB-BBAB-8872C11E20A7}"/>
              </a:ext>
            </a:extLst>
          </p:cNvPr>
          <p:cNvSpPr/>
          <p:nvPr/>
        </p:nvSpPr>
        <p:spPr>
          <a:xfrm>
            <a:off x="402480" y="302760"/>
            <a:ext cx="9678240" cy="806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91440" rIns="90000" bIns="91440" anchor="b" anchorCtr="0" compatLnSpc="1">
            <a:noAutofit/>
          </a:bodyPr>
          <a:lstStyle/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he-IL" sz="4800" b="1" i="0" u="none" strike="noStrike" cap="none" baseline="0" dirty="0">
                <a:ln>
                  <a:noFill/>
                </a:ln>
                <a:latin typeface="Arial" pitchFamily="34"/>
                <a:ea typeface="Arial" pitchFamily="34"/>
                <a:cs typeface="Arial" pitchFamily="34"/>
              </a:rPr>
              <a:t>מחלקים את אריאל לסטודנטים</a:t>
            </a:r>
            <a:r>
              <a:rPr lang="en-US" sz="4800" b="1" i="0" u="none" strike="noStrike" cap="none" baseline="0" dirty="0">
                <a:ln>
                  <a:noFill/>
                </a:ln>
                <a:latin typeface="Arial" pitchFamily="34"/>
                <a:ea typeface="Arial" pitchFamily="34"/>
                <a:cs typeface="Arial" pitchFamily="34"/>
              </a:rPr>
              <a:t>!</a:t>
            </a:r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D7FC9F9F-2AFD-1AF1-2653-46D2C4BFC181}"/>
              </a:ext>
            </a:extLst>
          </p:cNvPr>
          <p:cNvSpPr/>
          <p:nvPr/>
        </p:nvSpPr>
        <p:spPr>
          <a:xfrm>
            <a:off x="7589519" y="3383280"/>
            <a:ext cx="2491200" cy="21945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91440" rIns="90000" bIns="91440" anchor="b" anchorCtr="0" compatLnSpc="1">
            <a:no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he-IL" sz="3600" b="1" i="0" u="none" strike="noStrike" cap="none" baseline="0" dirty="0">
                <a:ln>
                  <a:noFill/>
                </a:ln>
                <a:latin typeface="Arial" pitchFamily="34"/>
                <a:ea typeface="Arial" pitchFamily="34"/>
                <a:cs typeface="Arial" pitchFamily="34"/>
              </a:rPr>
              <a:t>איך נוודא שכל סטודנט יקבל חלק הוגן</a:t>
            </a:r>
            <a:r>
              <a:rPr lang="en-US" sz="3600" b="1" i="0" u="none" strike="noStrike" cap="none" baseline="0" dirty="0">
                <a:ln>
                  <a:noFill/>
                </a:ln>
                <a:latin typeface="Arial" pitchFamily="34"/>
                <a:ea typeface="Arial" pitchFamily="34"/>
                <a:cs typeface="Arial" pitchFamily="34"/>
              </a:rPr>
              <a:t>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726799-ED55-7AD8-BC08-C06BDF6EBF1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74320" y="1281600"/>
            <a:ext cx="6076800" cy="5942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Effect">
                      <p:stCondLst>
                        <p:cond delay="indefinite"/>
                      </p:stCondLst>
                      <p:childTnLst>
                        <p:par>
                          <p:cTn id="4" fill="hold" nodeType="withEffect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Effect">
                      <p:stCondLst>
                        <p:cond delay="indefinite"/>
                      </p:stCondLst>
                      <p:childTnLst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E833287-D391-574C-412C-B00B1E91A1C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74320" y="1281600"/>
            <a:ext cx="6076800" cy="594216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0C950C94-97E3-5B8B-36B2-FCA85FBABA73}"/>
              </a:ext>
            </a:extLst>
          </p:cNvPr>
          <p:cNvSpPr/>
          <p:nvPr/>
        </p:nvSpPr>
        <p:spPr>
          <a:xfrm>
            <a:off x="1410480" y="302760"/>
            <a:ext cx="7661879" cy="806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91440" rIns="90000" bIns="91440" anchor="b" anchorCtr="0" compatLnSpc="0">
            <a:noAutofit/>
          </a:bodyPr>
          <a:lstStyle/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he-IL" sz="4800" b="1" i="0" u="none" strike="noStrike" kern="1200" cap="none">
                <a:ln>
                  <a:noFill/>
                </a:ln>
                <a:latin typeface="Liberation Sans" pitchFamily="18"/>
                <a:ea typeface="Arial" pitchFamily="34"/>
                <a:cs typeface="Arial" pitchFamily="34"/>
              </a:rPr>
              <a:t>א. חלוקה שוות-שטח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D11676F8-6C90-7CA6-3C4C-6CEBF74C72AC}"/>
              </a:ext>
            </a:extLst>
          </p:cNvPr>
          <p:cNvSpPr/>
          <p:nvPr/>
        </p:nvSpPr>
        <p:spPr>
          <a:xfrm>
            <a:off x="6954840" y="1511640"/>
            <a:ext cx="2819160" cy="39322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91440" rIns="90000" bIns="91440" anchor="b" anchorCtr="0" compatLnSpc="0">
            <a:no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he-IL" sz="3600" b="1" i="0" u="none" strike="noStrike" kern="1200" cap="none">
                <a:ln>
                  <a:noFill/>
                </a:ln>
                <a:latin typeface="Liberation Sans" pitchFamily="18"/>
                <a:ea typeface="Arial" pitchFamily="34"/>
                <a:cs typeface="Arial" pitchFamily="34"/>
              </a:rPr>
              <a:t>בעיה: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18"/>
                <a:ea typeface="Arial" pitchFamily="34"/>
                <a:cs typeface="Arial" pitchFamily="34"/>
              </a:rPr>
              <a:t>הקרקע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18"/>
                <a:ea typeface="Arial" pitchFamily="34"/>
                <a:cs typeface="Arial" pitchFamily="34"/>
              </a:rPr>
              <a:t>לא הומוגנית –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18"/>
                <a:ea typeface="Arial" pitchFamily="34"/>
                <a:cs typeface="Arial" pitchFamily="34"/>
              </a:rPr>
              <a:t> לחלקים שונים יש ערך שונה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18"/>
                <a:ea typeface="Arial" pitchFamily="34"/>
                <a:cs typeface="Arial" pitchFamily="34"/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578104-4CFA-2AD9-AF3A-0EA295F3947F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302760" y="1208879"/>
            <a:ext cx="6048360" cy="604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Effect">
                      <p:stCondLst>
                        <p:cond delay="indefinite"/>
                      </p:stCondLst>
                      <p:childTnLst>
                        <p:par>
                          <p:cTn id="4" fill="hold" nodeType="withEffect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36E7CC0-B53C-54B6-A1BD-921DC202D78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74320" y="1281600"/>
            <a:ext cx="6076800" cy="594216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5693CE80-C10A-A49D-DFED-7993543C4F7E}"/>
              </a:ext>
            </a:extLst>
          </p:cNvPr>
          <p:cNvSpPr/>
          <p:nvPr/>
        </p:nvSpPr>
        <p:spPr>
          <a:xfrm>
            <a:off x="906479" y="302760"/>
            <a:ext cx="9174240" cy="705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91440" rIns="90000" bIns="91440" anchor="b" anchorCtr="0" compatLnSpc="0">
            <a:noAutofit/>
          </a:bodyPr>
          <a:lstStyle/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he-IL" sz="4800" b="1" i="0" u="none" strike="noStrike" kern="1200" cap="none">
                <a:ln>
                  <a:noFill/>
                </a:ln>
                <a:latin typeface="Liberation Sans" pitchFamily="18"/>
                <a:ea typeface="Arial" pitchFamily="34"/>
                <a:cs typeface="Arial" pitchFamily="34"/>
              </a:rPr>
              <a:t>ב. חלוקה שוות-ערך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C31F6BC2-D0B0-7185-1ADA-F15BE14C8516}"/>
              </a:ext>
            </a:extLst>
          </p:cNvPr>
          <p:cNvSpPr/>
          <p:nvPr/>
        </p:nvSpPr>
        <p:spPr>
          <a:xfrm>
            <a:off x="6855119" y="2117160"/>
            <a:ext cx="2921039" cy="393047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91440" rIns="90000" bIns="91440" anchor="b" anchorCtr="0" compatLnSpc="0">
            <a:no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he-IL" sz="3600" b="1" i="0" u="none" strike="noStrike" kern="1200" cap="none">
                <a:ln>
                  <a:noFill/>
                </a:ln>
                <a:latin typeface="Liberation Sans" pitchFamily="18"/>
                <a:ea typeface="Arial" pitchFamily="34"/>
                <a:cs typeface="Arial" pitchFamily="34"/>
              </a:rPr>
              <a:t>בעיה: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18"/>
                <a:ea typeface="Arial" pitchFamily="34"/>
                <a:cs typeface="Arial" pitchFamily="34"/>
              </a:rPr>
              <a:t>ההערכות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18"/>
                <a:ea typeface="Arial" pitchFamily="34"/>
                <a:cs typeface="Arial" pitchFamily="34"/>
              </a:rPr>
              <a:t>סוביקטיביות -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18"/>
                <a:ea typeface="Arial" pitchFamily="34"/>
                <a:cs typeface="Arial" pitchFamily="34"/>
              </a:rPr>
              <a:t>לכל אחד יש העדפות שונות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18"/>
                <a:ea typeface="Arial" pitchFamily="34"/>
                <a:cs typeface="Arial" pitchFamily="34"/>
              </a:rPr>
              <a:t>.</a:t>
            </a:r>
          </a:p>
          <a:p>
            <a:pPr marL="0" marR="0" lvl="0" indent="0" algn="ct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endParaRPr lang="en-US" sz="3600" b="0" i="0" u="none" strike="noStrike" kern="1200" cap="none">
              <a:ln>
                <a:noFill/>
              </a:ln>
              <a:latin typeface="Liberation Sans" pitchFamily="18"/>
              <a:ea typeface="Arial" pitchFamily="34"/>
              <a:cs typeface="Arial" pitchFamily="34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B8E317-F35F-386B-F138-2ABC9954B8D0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2619720" y="3427920"/>
            <a:ext cx="2015999" cy="17132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Effect">
                      <p:stCondLst>
                        <p:cond delay="indefinite"/>
                      </p:stCondLst>
                      <p:childTnLst>
                        <p:par>
                          <p:cTn id="4" fill="hold" nodeType="withEffect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Effect">
                      <p:stCondLst>
                        <p:cond delay="indefinite"/>
                      </p:stCondLst>
                      <p:childTnLst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חלוקת עוגה לשני שחקנים א       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0">
            <a:extLst>
              <a:ext uri="{FF2B5EF4-FFF2-40B4-BE49-F238E27FC236}">
                <a16:creationId xmlns:a16="http://schemas.microsoft.com/office/drawing/2014/main" id="{69999C9D-37EB-21CF-77D7-235A5A73E5F3}"/>
              </a:ext>
            </a:extLst>
          </p:cNvPr>
          <p:cNvSpPr/>
          <p:nvPr/>
        </p:nvSpPr>
        <p:spPr>
          <a:xfrm>
            <a:off x="435600" y="1844279"/>
            <a:ext cx="4366440" cy="51094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ECEDD1"/>
          </a:solidFill>
          <a:ln w="25560" cap="sq">
            <a:solidFill>
              <a:srgbClr val="6B766F"/>
            </a:solidFill>
            <a:prstDash val="solid"/>
            <a:miter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C2CB561-29FB-BE4B-2054-1343BF4AC83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12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חלוקת עוגה בין שני ילדים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1047F8-1957-7DDD-AE33-2C40589EDE10}"/>
              </a:ext>
            </a:extLst>
          </p:cNvPr>
          <p:cNvSpPr/>
          <p:nvPr/>
        </p:nvSpPr>
        <p:spPr>
          <a:xfrm>
            <a:off x="4802400" y="3108959"/>
            <a:ext cx="5278320" cy="41148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46800" rIns="90000" bIns="46800" anchor="t" anchorCtr="0" compatLnSpc="1">
            <a:norm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5" name="Oval 7">
            <a:extLst>
              <a:ext uri="{FF2B5EF4-FFF2-40B4-BE49-F238E27FC236}">
                <a16:creationId xmlns:a16="http://schemas.microsoft.com/office/drawing/2014/main" id="{DE41CA6B-BDA4-523E-B02E-AB4BEDF0CC2B}"/>
              </a:ext>
            </a:extLst>
          </p:cNvPr>
          <p:cNvSpPr/>
          <p:nvPr/>
        </p:nvSpPr>
        <p:spPr>
          <a:xfrm>
            <a:off x="3769920" y="2589480"/>
            <a:ext cx="311040" cy="3171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6" name="Oval 13">
            <a:extLst>
              <a:ext uri="{FF2B5EF4-FFF2-40B4-BE49-F238E27FC236}">
                <a16:creationId xmlns:a16="http://schemas.microsoft.com/office/drawing/2014/main" id="{31F6331E-7386-4CCF-8460-842C38B4A954}"/>
              </a:ext>
            </a:extLst>
          </p:cNvPr>
          <p:cNvSpPr/>
          <p:nvPr/>
        </p:nvSpPr>
        <p:spPr>
          <a:xfrm>
            <a:off x="4080960" y="6478199"/>
            <a:ext cx="30996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7" name="Oval 14">
            <a:extLst>
              <a:ext uri="{FF2B5EF4-FFF2-40B4-BE49-F238E27FC236}">
                <a16:creationId xmlns:a16="http://schemas.microsoft.com/office/drawing/2014/main" id="{F5DD87C7-42CE-0B22-C254-5633B04F9BBF}"/>
              </a:ext>
            </a:extLst>
          </p:cNvPr>
          <p:cNvSpPr/>
          <p:nvPr/>
        </p:nvSpPr>
        <p:spPr>
          <a:xfrm>
            <a:off x="4235400" y="1963440"/>
            <a:ext cx="31104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8" name="Oval 15">
            <a:extLst>
              <a:ext uri="{FF2B5EF4-FFF2-40B4-BE49-F238E27FC236}">
                <a16:creationId xmlns:a16="http://schemas.microsoft.com/office/drawing/2014/main" id="{D4064942-CD8D-240E-B1D2-15D254E5EF1F}"/>
              </a:ext>
            </a:extLst>
          </p:cNvPr>
          <p:cNvSpPr/>
          <p:nvPr/>
        </p:nvSpPr>
        <p:spPr>
          <a:xfrm>
            <a:off x="754199" y="2122560"/>
            <a:ext cx="309600" cy="3168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9" name="Oval 17">
            <a:extLst>
              <a:ext uri="{FF2B5EF4-FFF2-40B4-BE49-F238E27FC236}">
                <a16:creationId xmlns:a16="http://schemas.microsoft.com/office/drawing/2014/main" id="{B0BC22C6-B408-F6A4-33B2-8EA2DA8E70B6}"/>
              </a:ext>
            </a:extLst>
          </p:cNvPr>
          <p:cNvSpPr/>
          <p:nvPr/>
        </p:nvSpPr>
        <p:spPr>
          <a:xfrm>
            <a:off x="1027439" y="6319080"/>
            <a:ext cx="31104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0" name="Oval 23">
            <a:extLst>
              <a:ext uri="{FF2B5EF4-FFF2-40B4-BE49-F238E27FC236}">
                <a16:creationId xmlns:a16="http://schemas.microsoft.com/office/drawing/2014/main" id="{6AD78ED9-C575-AC17-12E3-2C664C66D268}"/>
              </a:ext>
            </a:extLst>
          </p:cNvPr>
          <p:cNvSpPr/>
          <p:nvPr/>
        </p:nvSpPr>
        <p:spPr>
          <a:xfrm>
            <a:off x="3195360" y="2423160"/>
            <a:ext cx="416880" cy="159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1" name="Oval 27">
            <a:extLst>
              <a:ext uri="{FF2B5EF4-FFF2-40B4-BE49-F238E27FC236}">
                <a16:creationId xmlns:a16="http://schemas.microsoft.com/office/drawing/2014/main" id="{D6125EE1-1554-E354-9464-C9CE4B410217}"/>
              </a:ext>
            </a:extLst>
          </p:cNvPr>
          <p:cNvSpPr/>
          <p:nvPr/>
        </p:nvSpPr>
        <p:spPr>
          <a:xfrm>
            <a:off x="3834360" y="5598000"/>
            <a:ext cx="416520" cy="1576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2" name="Oval 28">
            <a:extLst>
              <a:ext uri="{FF2B5EF4-FFF2-40B4-BE49-F238E27FC236}">
                <a16:creationId xmlns:a16="http://schemas.microsoft.com/office/drawing/2014/main" id="{DB304E55-382F-BA51-4218-5906D41B492C}"/>
              </a:ext>
            </a:extLst>
          </p:cNvPr>
          <p:cNvSpPr/>
          <p:nvPr/>
        </p:nvSpPr>
        <p:spPr>
          <a:xfrm>
            <a:off x="2040479" y="3214440"/>
            <a:ext cx="30960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3" name="Oval 30">
            <a:extLst>
              <a:ext uri="{FF2B5EF4-FFF2-40B4-BE49-F238E27FC236}">
                <a16:creationId xmlns:a16="http://schemas.microsoft.com/office/drawing/2014/main" id="{92D365D1-E807-978F-2F8D-88AE2AC1AB3F}"/>
              </a:ext>
            </a:extLst>
          </p:cNvPr>
          <p:cNvSpPr/>
          <p:nvPr/>
        </p:nvSpPr>
        <p:spPr>
          <a:xfrm>
            <a:off x="640440" y="3375360"/>
            <a:ext cx="414720" cy="159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4" name="Oval 31">
            <a:extLst>
              <a:ext uri="{FF2B5EF4-FFF2-40B4-BE49-F238E27FC236}">
                <a16:creationId xmlns:a16="http://schemas.microsoft.com/office/drawing/2014/main" id="{0C466D18-201F-DA57-B3ED-5C91BBB673E0}"/>
              </a:ext>
            </a:extLst>
          </p:cNvPr>
          <p:cNvSpPr/>
          <p:nvPr/>
        </p:nvSpPr>
        <p:spPr>
          <a:xfrm>
            <a:off x="1163520" y="2712240"/>
            <a:ext cx="415080" cy="159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5" name="Oval 32">
            <a:extLst>
              <a:ext uri="{FF2B5EF4-FFF2-40B4-BE49-F238E27FC236}">
                <a16:creationId xmlns:a16="http://schemas.microsoft.com/office/drawing/2014/main" id="{1F388F1A-36FD-DB00-6B69-8B294402E4CA}"/>
              </a:ext>
            </a:extLst>
          </p:cNvPr>
          <p:cNvSpPr/>
          <p:nvPr/>
        </p:nvSpPr>
        <p:spPr>
          <a:xfrm>
            <a:off x="2507760" y="6591600"/>
            <a:ext cx="416880" cy="159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D1B858-B379-F95D-B11A-48D99A506BC0}"/>
              </a:ext>
            </a:extLst>
          </p:cNvPr>
          <p:cNvSpPr txBox="1"/>
          <p:nvPr/>
        </p:nvSpPr>
        <p:spPr>
          <a:xfrm>
            <a:off x="5016396" y="1008115"/>
            <a:ext cx="4926648" cy="657913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WenQuanYi Micro Hei" pitchFamily="2"/>
                <a:cs typeface="Liberation Sans" pitchFamily="34"/>
              </a:rPr>
              <a:t>צריך לחלק עוגת יום-הולדת בין שני ילדים: 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9999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עמי</a:t>
            </a: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WenQuanYi Micro Hei" pitchFamily="2"/>
                <a:cs typeface="Liberation Sans" pitchFamily="34"/>
              </a:rPr>
              <a:t> ו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תמי</a:t>
            </a: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WenQuanYi Micro Hei" pitchFamily="2"/>
                <a:cs typeface="Liberation Sans" pitchFamily="34"/>
              </a:rPr>
              <a:t>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WenQuanYi Micro Hei" pitchFamily="2"/>
                <a:cs typeface="Liberation Sans" pitchFamily="34"/>
              </a:rPr>
              <a:t>כל ילד מעדיף סוכריות בצבע אחר.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he-IL" sz="4000" b="0" i="0" u="none" strike="noStrike" kern="1200" cap="none">
              <a:ln>
                <a:noFill/>
              </a:ln>
              <a:latin typeface="Liberation Sans" pitchFamily="34"/>
              <a:ea typeface="WenQuanYi Micro Hei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WenQuanYi Micro Hei" pitchFamily="2"/>
                <a:cs typeface="Liberation Sans" pitchFamily="34"/>
              </a:rPr>
              <a:t>אם </a:t>
            </a:r>
            <a:r>
              <a:rPr lang="he-IL" sz="4000" b="1" i="0" u="none" strike="noStrike" kern="1200" cap="none">
                <a:ln>
                  <a:noFill/>
                </a:ln>
                <a:latin typeface="Liberation Sans" pitchFamily="34"/>
                <a:ea typeface="WenQuanYi Micro Hei" pitchFamily="2"/>
                <a:cs typeface="Liberation Sans" pitchFamily="34"/>
              </a:rPr>
              <a:t>אנחנו</a:t>
            </a: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WenQuanYi Micro Hei" pitchFamily="2"/>
                <a:cs typeface="Liberation Sans" pitchFamily="34"/>
              </a:rPr>
              <a:t> נחלק את העוגה בצורה שנראית </a:t>
            </a:r>
            <a:r>
              <a:rPr lang="he-IL" sz="4000" b="1" i="0" u="none" strike="noStrike" kern="1200" cap="none">
                <a:ln>
                  <a:noFill/>
                </a:ln>
                <a:latin typeface="Liberation Sans" pitchFamily="34"/>
                <a:ea typeface="WenQuanYi Micro Hei" pitchFamily="2"/>
                <a:cs typeface="Liberation Sans" pitchFamily="34"/>
              </a:rPr>
              <a:t>לנו</a:t>
            </a: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WenQuanYi Micro Hei" pitchFamily="2"/>
                <a:cs typeface="Liberation Sans" pitchFamily="34"/>
              </a:rPr>
              <a:t> הוגנת – לא בטוח שזה יהיה הוגן בעיניהם!</a:t>
            </a:r>
          </a:p>
        </p:txBody>
      </p:sp>
      <p:sp>
        <p:nvSpPr>
          <p:cNvPr id="17" name="Oval 29">
            <a:extLst>
              <a:ext uri="{FF2B5EF4-FFF2-40B4-BE49-F238E27FC236}">
                <a16:creationId xmlns:a16="http://schemas.microsoft.com/office/drawing/2014/main" id="{01EC0942-90DA-36A7-CDB4-5E7B8A098786}"/>
              </a:ext>
            </a:extLst>
          </p:cNvPr>
          <p:cNvSpPr/>
          <p:nvPr/>
        </p:nvSpPr>
        <p:spPr>
          <a:xfrm>
            <a:off x="1829160" y="2585880"/>
            <a:ext cx="414720" cy="1576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15DCA271-551A-F411-13EB-EDEE366FF124}"/>
              </a:ext>
            </a:extLst>
          </p:cNvPr>
          <p:cNvSpPr/>
          <p:nvPr/>
        </p:nvSpPr>
        <p:spPr>
          <a:xfrm>
            <a:off x="435600" y="4297680"/>
            <a:ext cx="4366440" cy="0"/>
          </a:xfrm>
          <a:prstGeom prst="line">
            <a:avLst/>
          </a:prstGeom>
          <a:noFill/>
          <a:ln w="36720">
            <a:solidFill>
              <a:srgbClr val="000000"/>
            </a:solidFill>
            <a:prstDash val="solid"/>
          </a:ln>
        </p:spPr>
        <p:txBody>
          <a:bodyPr vert="horz" wrap="none" lIns="108360" tIns="63360" rIns="108360" bIns="6336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0">
            <a:extLst>
              <a:ext uri="{FF2B5EF4-FFF2-40B4-BE49-F238E27FC236}">
                <a16:creationId xmlns:a16="http://schemas.microsoft.com/office/drawing/2014/main" id="{4CCE8F18-12E3-76EB-9691-3069023D398E}"/>
              </a:ext>
            </a:extLst>
          </p:cNvPr>
          <p:cNvSpPr/>
          <p:nvPr/>
        </p:nvSpPr>
        <p:spPr>
          <a:xfrm>
            <a:off x="435600" y="1844279"/>
            <a:ext cx="4366440" cy="51094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ECEDD1"/>
          </a:solidFill>
          <a:ln w="25560" cap="sq">
            <a:solidFill>
              <a:srgbClr val="6B766F"/>
            </a:solidFill>
            <a:prstDash val="solid"/>
            <a:miter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4D44769-E1E5-D3CA-023A-578E836E771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12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חלוקת עוגה בין שני ילדים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0C5821BE-295C-B596-A312-91C1FB7734D1}"/>
              </a:ext>
            </a:extLst>
          </p:cNvPr>
          <p:cNvSpPr/>
          <p:nvPr/>
        </p:nvSpPr>
        <p:spPr>
          <a:xfrm>
            <a:off x="1248480" y="4017600"/>
            <a:ext cx="912239" cy="1114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1">
            <a:sp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he-IL" sz="7200" b="1" i="0" u="none" strike="noStrike" cap="none" baseline="0">
                <a:ln>
                  <a:noFill/>
                </a:ln>
                <a:solidFill>
                  <a:srgbClr val="00B050"/>
                </a:solidFill>
                <a:latin typeface="Arial" pitchFamily="34"/>
                <a:ea typeface="WenQuanYi Micro Hei" pitchFamily="2"/>
                <a:cs typeface="WenQuanYi Micro Hei" pitchFamily="2"/>
              </a:rPr>
              <a:t>ת</a:t>
            </a:r>
          </a:p>
        </p:txBody>
      </p:sp>
      <p:sp>
        <p:nvSpPr>
          <p:cNvPr id="5" name="TextBox 10">
            <a:extLst>
              <a:ext uri="{FF2B5EF4-FFF2-40B4-BE49-F238E27FC236}">
                <a16:creationId xmlns:a16="http://schemas.microsoft.com/office/drawing/2014/main" id="{0B990768-754F-6DA6-D4C1-10045C20378D}"/>
              </a:ext>
            </a:extLst>
          </p:cNvPr>
          <p:cNvSpPr/>
          <p:nvPr/>
        </p:nvSpPr>
        <p:spPr>
          <a:xfrm>
            <a:off x="3588120" y="4017600"/>
            <a:ext cx="846719" cy="1114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1">
            <a:sp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he-IL" sz="7200" b="1" i="0" u="none" strike="noStrike" cap="none" baseline="0">
                <a:ln>
                  <a:noFill/>
                </a:ln>
                <a:solidFill>
                  <a:srgbClr val="00B0F0"/>
                </a:solidFill>
                <a:latin typeface="Arial" pitchFamily="34"/>
                <a:ea typeface="WenQuanYi Micro Hei" pitchFamily="2"/>
                <a:cs typeface="WenQuanYi Micro Hei" pitchFamily="2"/>
              </a:rPr>
              <a:t>ע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A2C18286-65B7-9616-B06C-CD506AE26A62}"/>
              </a:ext>
            </a:extLst>
          </p:cNvPr>
          <p:cNvSpPr/>
          <p:nvPr/>
        </p:nvSpPr>
        <p:spPr>
          <a:xfrm>
            <a:off x="4802400" y="3108959"/>
            <a:ext cx="5278320" cy="41148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46800" rIns="90000" bIns="46800" anchor="t" anchorCtr="0" compatLnSpc="1">
            <a:norm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7" name="Oval 7">
            <a:extLst>
              <a:ext uri="{FF2B5EF4-FFF2-40B4-BE49-F238E27FC236}">
                <a16:creationId xmlns:a16="http://schemas.microsoft.com/office/drawing/2014/main" id="{0687FCF9-E623-AF08-2A5A-D656AF8F8FE2}"/>
              </a:ext>
            </a:extLst>
          </p:cNvPr>
          <p:cNvSpPr/>
          <p:nvPr/>
        </p:nvSpPr>
        <p:spPr>
          <a:xfrm>
            <a:off x="3769920" y="2589480"/>
            <a:ext cx="311040" cy="3171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8" name="Oval 13">
            <a:extLst>
              <a:ext uri="{FF2B5EF4-FFF2-40B4-BE49-F238E27FC236}">
                <a16:creationId xmlns:a16="http://schemas.microsoft.com/office/drawing/2014/main" id="{31DFE574-9B1A-9473-FB87-003F89519FD6}"/>
              </a:ext>
            </a:extLst>
          </p:cNvPr>
          <p:cNvSpPr/>
          <p:nvPr/>
        </p:nvSpPr>
        <p:spPr>
          <a:xfrm>
            <a:off x="4080960" y="6478199"/>
            <a:ext cx="30996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9" name="Oval 14">
            <a:extLst>
              <a:ext uri="{FF2B5EF4-FFF2-40B4-BE49-F238E27FC236}">
                <a16:creationId xmlns:a16="http://schemas.microsoft.com/office/drawing/2014/main" id="{F06F5CBB-F427-A912-238D-9A7767D89984}"/>
              </a:ext>
            </a:extLst>
          </p:cNvPr>
          <p:cNvSpPr/>
          <p:nvPr/>
        </p:nvSpPr>
        <p:spPr>
          <a:xfrm>
            <a:off x="4235400" y="1963440"/>
            <a:ext cx="31104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0" name="Oval 15">
            <a:extLst>
              <a:ext uri="{FF2B5EF4-FFF2-40B4-BE49-F238E27FC236}">
                <a16:creationId xmlns:a16="http://schemas.microsoft.com/office/drawing/2014/main" id="{CD9608A2-348F-C914-0539-4478D741E392}"/>
              </a:ext>
            </a:extLst>
          </p:cNvPr>
          <p:cNvSpPr/>
          <p:nvPr/>
        </p:nvSpPr>
        <p:spPr>
          <a:xfrm>
            <a:off x="754199" y="2122560"/>
            <a:ext cx="309600" cy="3168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1" name="Oval 17">
            <a:extLst>
              <a:ext uri="{FF2B5EF4-FFF2-40B4-BE49-F238E27FC236}">
                <a16:creationId xmlns:a16="http://schemas.microsoft.com/office/drawing/2014/main" id="{C2175C5A-37DD-3746-97F0-045FC2E8FAA2}"/>
              </a:ext>
            </a:extLst>
          </p:cNvPr>
          <p:cNvSpPr/>
          <p:nvPr/>
        </p:nvSpPr>
        <p:spPr>
          <a:xfrm>
            <a:off x="1027439" y="6319080"/>
            <a:ext cx="31104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2" name="Oval 23">
            <a:extLst>
              <a:ext uri="{FF2B5EF4-FFF2-40B4-BE49-F238E27FC236}">
                <a16:creationId xmlns:a16="http://schemas.microsoft.com/office/drawing/2014/main" id="{D5820707-C29A-2C54-D6E5-B5C66B0D7CEB}"/>
              </a:ext>
            </a:extLst>
          </p:cNvPr>
          <p:cNvSpPr/>
          <p:nvPr/>
        </p:nvSpPr>
        <p:spPr>
          <a:xfrm>
            <a:off x="3195360" y="2423160"/>
            <a:ext cx="416880" cy="159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3" name="Oval 27">
            <a:extLst>
              <a:ext uri="{FF2B5EF4-FFF2-40B4-BE49-F238E27FC236}">
                <a16:creationId xmlns:a16="http://schemas.microsoft.com/office/drawing/2014/main" id="{842F8C6F-B1C0-81AD-2919-EABAC74F1AA6}"/>
              </a:ext>
            </a:extLst>
          </p:cNvPr>
          <p:cNvSpPr/>
          <p:nvPr/>
        </p:nvSpPr>
        <p:spPr>
          <a:xfrm>
            <a:off x="3834360" y="5598000"/>
            <a:ext cx="416520" cy="1576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4" name="Straight Connector 5">
            <a:extLst>
              <a:ext uri="{FF2B5EF4-FFF2-40B4-BE49-F238E27FC236}">
                <a16:creationId xmlns:a16="http://schemas.microsoft.com/office/drawing/2014/main" id="{F7D5D638-5B43-B85C-C291-2657650FC35D}"/>
              </a:ext>
            </a:extLst>
          </p:cNvPr>
          <p:cNvSpPr/>
          <p:nvPr/>
        </p:nvSpPr>
        <p:spPr>
          <a:xfrm>
            <a:off x="3372480" y="1844279"/>
            <a:ext cx="0" cy="523692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14548" fill="none">
                <a:moveTo>
                  <a:pt x="0" y="0"/>
                </a:moveTo>
                <a:lnTo>
                  <a:pt x="0" y="14548"/>
                </a:lnTo>
              </a:path>
            </a:pathLst>
          </a:custGeom>
          <a:noFill/>
          <a:ln w="63360" cap="sq">
            <a:solidFill>
              <a:srgbClr val="00B0F0"/>
            </a:solidFill>
            <a:prstDash val="solid"/>
            <a:miter/>
          </a:ln>
        </p:spPr>
        <p:txBody>
          <a:bodyPr vert="horz" wrap="square" lIns="90000" tIns="46800" rIns="90000" bIns="46800" anchor="t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5" name="Oval 28">
            <a:extLst>
              <a:ext uri="{FF2B5EF4-FFF2-40B4-BE49-F238E27FC236}">
                <a16:creationId xmlns:a16="http://schemas.microsoft.com/office/drawing/2014/main" id="{6D1A4BE1-712D-7349-B765-F091D385AE02}"/>
              </a:ext>
            </a:extLst>
          </p:cNvPr>
          <p:cNvSpPr/>
          <p:nvPr/>
        </p:nvSpPr>
        <p:spPr>
          <a:xfrm>
            <a:off x="2040479" y="3214440"/>
            <a:ext cx="30960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6" name="Oval 29">
            <a:extLst>
              <a:ext uri="{FF2B5EF4-FFF2-40B4-BE49-F238E27FC236}">
                <a16:creationId xmlns:a16="http://schemas.microsoft.com/office/drawing/2014/main" id="{FB996C46-9074-4421-E7D1-2FA328B6D677}"/>
              </a:ext>
            </a:extLst>
          </p:cNvPr>
          <p:cNvSpPr/>
          <p:nvPr/>
        </p:nvSpPr>
        <p:spPr>
          <a:xfrm>
            <a:off x="1828800" y="2585520"/>
            <a:ext cx="414720" cy="1576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7" name="Oval 30">
            <a:extLst>
              <a:ext uri="{FF2B5EF4-FFF2-40B4-BE49-F238E27FC236}">
                <a16:creationId xmlns:a16="http://schemas.microsoft.com/office/drawing/2014/main" id="{9D73A954-C050-A2D0-9CFC-73511834FABD}"/>
              </a:ext>
            </a:extLst>
          </p:cNvPr>
          <p:cNvSpPr/>
          <p:nvPr/>
        </p:nvSpPr>
        <p:spPr>
          <a:xfrm>
            <a:off x="640440" y="3375360"/>
            <a:ext cx="414720" cy="159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8" name="Oval 31">
            <a:extLst>
              <a:ext uri="{FF2B5EF4-FFF2-40B4-BE49-F238E27FC236}">
                <a16:creationId xmlns:a16="http://schemas.microsoft.com/office/drawing/2014/main" id="{4E2F08DD-620E-3C6C-75B2-D7A8BFFBB230}"/>
              </a:ext>
            </a:extLst>
          </p:cNvPr>
          <p:cNvSpPr/>
          <p:nvPr/>
        </p:nvSpPr>
        <p:spPr>
          <a:xfrm>
            <a:off x="1163520" y="2712240"/>
            <a:ext cx="415080" cy="159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9" name="Oval 32">
            <a:extLst>
              <a:ext uri="{FF2B5EF4-FFF2-40B4-BE49-F238E27FC236}">
                <a16:creationId xmlns:a16="http://schemas.microsoft.com/office/drawing/2014/main" id="{7AB6DCB8-AA7F-4020-57DA-E9305A37D3E8}"/>
              </a:ext>
            </a:extLst>
          </p:cNvPr>
          <p:cNvSpPr/>
          <p:nvPr/>
        </p:nvSpPr>
        <p:spPr>
          <a:xfrm>
            <a:off x="2507760" y="6591600"/>
            <a:ext cx="416880" cy="159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4442C8-4FD2-6FD2-62B2-8DB449A6AE24}"/>
              </a:ext>
            </a:extLst>
          </p:cNvPr>
          <p:cNvSpPr txBox="1"/>
          <p:nvPr/>
        </p:nvSpPr>
        <p:spPr>
          <a:xfrm>
            <a:off x="4896718" y="1371599"/>
            <a:ext cx="5070242" cy="5664905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WenQuanYi Micro Hei" pitchFamily="2"/>
                <a:cs typeface="Liberation Sans" pitchFamily="34"/>
              </a:rPr>
              <a:t>הפתרון: לתת להם לחלק בעצמם!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he-IL" sz="4000" b="0" i="0" u="none" strike="noStrike" kern="1200" cap="none">
              <a:ln>
                <a:noFill/>
              </a:ln>
              <a:solidFill>
                <a:srgbClr val="00B0F0"/>
              </a:solidFill>
              <a:latin typeface="Liberation Sans" pitchFamily="34"/>
              <a:ea typeface="WenQuanYi Micro Hei" pitchFamily="2"/>
              <a:cs typeface="Liberation Sans" pitchFamily="34"/>
            </a:endParaRP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B0F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עמי 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מחלק את העוגה לשני חלקים שוים בעיניו (בשווי 1/2).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B05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תמי 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בוחרת</a:t>
            </a:r>
            <a:r>
              <a:rPr lang="he-IL" sz="4000" b="1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 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את החלק הטוב בעיניה.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B0F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עמי 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מקבל את השאר.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2"/>
                            </p:stCondLst>
                            <p:childTnLst>
                              <p:par>
                                <p:cTn id="8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Class="entr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Class="entr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0">
            <a:extLst>
              <a:ext uri="{FF2B5EF4-FFF2-40B4-BE49-F238E27FC236}">
                <a16:creationId xmlns:a16="http://schemas.microsoft.com/office/drawing/2014/main" id="{C44D3934-2589-81F7-2DD4-B3B5F3241F5C}"/>
              </a:ext>
            </a:extLst>
          </p:cNvPr>
          <p:cNvSpPr/>
          <p:nvPr/>
        </p:nvSpPr>
        <p:spPr>
          <a:xfrm>
            <a:off x="156600" y="361799"/>
            <a:ext cx="2359440" cy="27608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ECEDD1"/>
          </a:solidFill>
          <a:ln w="25560" cap="sq">
            <a:solidFill>
              <a:srgbClr val="6B766F"/>
            </a:solidFill>
            <a:prstDash val="solid"/>
            <a:miter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1821CA-8352-4B9A-23BA-8A6FBFD94D1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12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אלגוריתם “חתוך ובחר”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0C5EE1C8-A9C0-D872-D80E-68D7149E428E}"/>
              </a:ext>
            </a:extLst>
          </p:cNvPr>
          <p:cNvSpPr/>
          <p:nvPr/>
        </p:nvSpPr>
        <p:spPr>
          <a:xfrm>
            <a:off x="386280" y="1536119"/>
            <a:ext cx="912239" cy="1114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1">
            <a:sp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he-IL" sz="7200" b="1" i="0" u="none" strike="noStrike" cap="none" baseline="0">
                <a:ln>
                  <a:noFill/>
                </a:ln>
                <a:solidFill>
                  <a:srgbClr val="00B050"/>
                </a:solidFill>
                <a:latin typeface="Arial" pitchFamily="34"/>
                <a:ea typeface="WenQuanYi Micro Hei" pitchFamily="2"/>
                <a:cs typeface="WenQuanYi Micro Hei" pitchFamily="2"/>
              </a:rPr>
              <a:t>ת</a:t>
            </a:r>
          </a:p>
        </p:txBody>
      </p:sp>
      <p:sp>
        <p:nvSpPr>
          <p:cNvPr id="5" name="TextBox 10">
            <a:extLst>
              <a:ext uri="{FF2B5EF4-FFF2-40B4-BE49-F238E27FC236}">
                <a16:creationId xmlns:a16="http://schemas.microsoft.com/office/drawing/2014/main" id="{F595834D-2FA9-E09C-811A-8EF10C6FF5FE}"/>
              </a:ext>
            </a:extLst>
          </p:cNvPr>
          <p:cNvSpPr/>
          <p:nvPr/>
        </p:nvSpPr>
        <p:spPr>
          <a:xfrm>
            <a:off x="1665719" y="1536119"/>
            <a:ext cx="846719" cy="1114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1">
            <a:sp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he-IL" sz="7200" b="1" i="0" u="none" strike="noStrike" cap="none" baseline="0">
                <a:ln>
                  <a:noFill/>
                </a:ln>
                <a:solidFill>
                  <a:srgbClr val="00B0F0"/>
                </a:solidFill>
                <a:latin typeface="Arial" pitchFamily="34"/>
                <a:ea typeface="WenQuanYi Micro Hei" pitchFamily="2"/>
                <a:cs typeface="WenQuanYi Micro Hei" pitchFamily="2"/>
              </a:rPr>
              <a:t>ע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ED3275C0-6FF9-B8B2-C893-8E53D9A0D60C}"/>
              </a:ext>
            </a:extLst>
          </p:cNvPr>
          <p:cNvSpPr/>
          <p:nvPr/>
        </p:nvSpPr>
        <p:spPr>
          <a:xfrm>
            <a:off x="2194560" y="1188719"/>
            <a:ext cx="7886160" cy="62179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46800" rIns="90000" bIns="46800" anchor="t" anchorCtr="0" compatLnSpc="1">
            <a:norm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7" name="Oval 7">
            <a:extLst>
              <a:ext uri="{FF2B5EF4-FFF2-40B4-BE49-F238E27FC236}">
                <a16:creationId xmlns:a16="http://schemas.microsoft.com/office/drawing/2014/main" id="{BDFDEB37-9AAE-EE4A-C880-67657E951FE5}"/>
              </a:ext>
            </a:extLst>
          </p:cNvPr>
          <p:cNvSpPr/>
          <p:nvPr/>
        </p:nvSpPr>
        <p:spPr>
          <a:xfrm>
            <a:off x="1958400" y="764640"/>
            <a:ext cx="167760" cy="1713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8" name="Oval 13">
            <a:extLst>
              <a:ext uri="{FF2B5EF4-FFF2-40B4-BE49-F238E27FC236}">
                <a16:creationId xmlns:a16="http://schemas.microsoft.com/office/drawing/2014/main" id="{FC961E34-4EB4-93DF-4F89-CBB27C513BA2}"/>
              </a:ext>
            </a:extLst>
          </p:cNvPr>
          <p:cNvSpPr/>
          <p:nvPr/>
        </p:nvSpPr>
        <p:spPr>
          <a:xfrm>
            <a:off x="2126160" y="2865600"/>
            <a:ext cx="167760" cy="1720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9" name="Oval 14">
            <a:extLst>
              <a:ext uri="{FF2B5EF4-FFF2-40B4-BE49-F238E27FC236}">
                <a16:creationId xmlns:a16="http://schemas.microsoft.com/office/drawing/2014/main" id="{B0A7D448-DB19-2710-FF72-CEDBE0E919BC}"/>
              </a:ext>
            </a:extLst>
          </p:cNvPr>
          <p:cNvSpPr/>
          <p:nvPr/>
        </p:nvSpPr>
        <p:spPr>
          <a:xfrm>
            <a:off x="2209680" y="426240"/>
            <a:ext cx="168120" cy="1720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0" name="Oval 15">
            <a:extLst>
              <a:ext uri="{FF2B5EF4-FFF2-40B4-BE49-F238E27FC236}">
                <a16:creationId xmlns:a16="http://schemas.microsoft.com/office/drawing/2014/main" id="{C0BF61B6-5F28-6746-031A-54900C441B25}"/>
              </a:ext>
            </a:extLst>
          </p:cNvPr>
          <p:cNvSpPr/>
          <p:nvPr/>
        </p:nvSpPr>
        <p:spPr>
          <a:xfrm>
            <a:off x="328680" y="512279"/>
            <a:ext cx="167400" cy="171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1" name="Oval 17">
            <a:extLst>
              <a:ext uri="{FF2B5EF4-FFF2-40B4-BE49-F238E27FC236}">
                <a16:creationId xmlns:a16="http://schemas.microsoft.com/office/drawing/2014/main" id="{DBFBF8A0-C372-CE71-C631-8958DC3E8E6E}"/>
              </a:ext>
            </a:extLst>
          </p:cNvPr>
          <p:cNvSpPr/>
          <p:nvPr/>
        </p:nvSpPr>
        <p:spPr>
          <a:xfrm>
            <a:off x="476280" y="2779920"/>
            <a:ext cx="168120" cy="1717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2" name="Oval 23">
            <a:extLst>
              <a:ext uri="{FF2B5EF4-FFF2-40B4-BE49-F238E27FC236}">
                <a16:creationId xmlns:a16="http://schemas.microsoft.com/office/drawing/2014/main" id="{118BCA54-63FF-0872-58F9-7300FD69DA80}"/>
              </a:ext>
            </a:extLst>
          </p:cNvPr>
          <p:cNvSpPr/>
          <p:nvPr/>
        </p:nvSpPr>
        <p:spPr>
          <a:xfrm>
            <a:off x="1647720" y="674640"/>
            <a:ext cx="225360" cy="864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3" name="Oval 27">
            <a:extLst>
              <a:ext uri="{FF2B5EF4-FFF2-40B4-BE49-F238E27FC236}">
                <a16:creationId xmlns:a16="http://schemas.microsoft.com/office/drawing/2014/main" id="{24B6930E-F048-E28F-8206-E9053835DE52}"/>
              </a:ext>
            </a:extLst>
          </p:cNvPr>
          <p:cNvSpPr/>
          <p:nvPr/>
        </p:nvSpPr>
        <p:spPr>
          <a:xfrm>
            <a:off x="1992960" y="2390040"/>
            <a:ext cx="225000" cy="85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4" name="Straight Connector 5">
            <a:extLst>
              <a:ext uri="{FF2B5EF4-FFF2-40B4-BE49-F238E27FC236}">
                <a16:creationId xmlns:a16="http://schemas.microsoft.com/office/drawing/2014/main" id="{534261A5-3B4E-5A39-9689-DA916750A434}"/>
              </a:ext>
            </a:extLst>
          </p:cNvPr>
          <p:cNvSpPr/>
          <p:nvPr/>
        </p:nvSpPr>
        <p:spPr>
          <a:xfrm>
            <a:off x="1743480" y="361799"/>
            <a:ext cx="0" cy="2829961"/>
          </a:xfrm>
          <a:prstGeom prst="line">
            <a:avLst/>
          </a:prstGeom>
          <a:noFill/>
          <a:ln w="63360" cap="sq">
            <a:solidFill>
              <a:srgbClr val="00B0F0"/>
            </a:solidFill>
            <a:prstDash val="solid"/>
            <a:miter/>
          </a:ln>
        </p:spPr>
        <p:txBody>
          <a:bodyPr vert="horz" wrap="square" lIns="90000" tIns="46800" rIns="90000" bIns="46800" anchor="t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5" name="Oval 28">
            <a:extLst>
              <a:ext uri="{FF2B5EF4-FFF2-40B4-BE49-F238E27FC236}">
                <a16:creationId xmlns:a16="http://schemas.microsoft.com/office/drawing/2014/main" id="{F4B978A1-1407-7B25-AE84-7AFDC1DEEEE5}"/>
              </a:ext>
            </a:extLst>
          </p:cNvPr>
          <p:cNvSpPr/>
          <p:nvPr/>
        </p:nvSpPr>
        <p:spPr>
          <a:xfrm>
            <a:off x="1023840" y="1102320"/>
            <a:ext cx="167040" cy="1717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6" name="Oval 29">
            <a:extLst>
              <a:ext uri="{FF2B5EF4-FFF2-40B4-BE49-F238E27FC236}">
                <a16:creationId xmlns:a16="http://schemas.microsoft.com/office/drawing/2014/main" id="{5A346DD4-07B6-2004-D9E5-2F090B13125E}"/>
              </a:ext>
            </a:extLst>
          </p:cNvPr>
          <p:cNvSpPr/>
          <p:nvPr/>
        </p:nvSpPr>
        <p:spPr>
          <a:xfrm>
            <a:off x="911159" y="2298960"/>
            <a:ext cx="223920" cy="85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7" name="Oval 30">
            <a:extLst>
              <a:ext uri="{FF2B5EF4-FFF2-40B4-BE49-F238E27FC236}">
                <a16:creationId xmlns:a16="http://schemas.microsoft.com/office/drawing/2014/main" id="{32575737-23D1-7120-8EAA-4D938C1FB5F6}"/>
              </a:ext>
            </a:extLst>
          </p:cNvPr>
          <p:cNvSpPr/>
          <p:nvPr/>
        </p:nvSpPr>
        <p:spPr>
          <a:xfrm>
            <a:off x="267120" y="1189080"/>
            <a:ext cx="224280" cy="864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8" name="Oval 31">
            <a:extLst>
              <a:ext uri="{FF2B5EF4-FFF2-40B4-BE49-F238E27FC236}">
                <a16:creationId xmlns:a16="http://schemas.microsoft.com/office/drawing/2014/main" id="{732D1CFF-074D-C8EB-1EF9-EB05C33101B9}"/>
              </a:ext>
            </a:extLst>
          </p:cNvPr>
          <p:cNvSpPr/>
          <p:nvPr/>
        </p:nvSpPr>
        <p:spPr>
          <a:xfrm>
            <a:off x="550080" y="830879"/>
            <a:ext cx="224280" cy="860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9" name="Oval 32">
            <a:extLst>
              <a:ext uri="{FF2B5EF4-FFF2-40B4-BE49-F238E27FC236}">
                <a16:creationId xmlns:a16="http://schemas.microsoft.com/office/drawing/2014/main" id="{0D81063A-1518-D937-E430-A5E80F0D1C09}"/>
              </a:ext>
            </a:extLst>
          </p:cNvPr>
          <p:cNvSpPr/>
          <p:nvPr/>
        </p:nvSpPr>
        <p:spPr>
          <a:xfrm>
            <a:off x="1276200" y="2927159"/>
            <a:ext cx="225360" cy="860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99FC8D-0805-39AE-898F-F310B1B6A158}"/>
              </a:ext>
            </a:extLst>
          </p:cNvPr>
          <p:cNvSpPr txBox="1"/>
          <p:nvPr/>
        </p:nvSpPr>
        <p:spPr>
          <a:xfrm>
            <a:off x="1930318" y="1280159"/>
            <a:ext cx="7945201" cy="4338195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1" i="0" u="none" strike="noStrike" kern="1200" cap="none" dirty="0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תכונות: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arenR"/>
              <a:tabLst/>
            </a:pPr>
            <a:r>
              <a:rPr lang="he-IL" sz="3600" b="0" i="0" u="none" strike="noStrike" kern="1200" cap="none" dirty="0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 כל משתתף חושב שהחלק שלו שווה לפחות 1/2   –  חלוקה </a:t>
            </a:r>
            <a:r>
              <a:rPr lang="he-IL" sz="3600" b="1" i="0" u="none" strike="noStrike" kern="1200" cap="none" dirty="0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פרופורציונלית 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(</a:t>
            </a:r>
            <a:r>
              <a:rPr lang="he-IL" sz="3600" b="0" i="0" u="none" strike="noStrike" kern="1200" cap="none" dirty="0" err="1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proportional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).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arenR"/>
              <a:tabLst/>
            </a:pP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CC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כל משתתף חושב שהחלק שלו טוב לפחות כמו כל האחרים – חלוקה    </a:t>
            </a:r>
            <a:r>
              <a:rPr lang="he-IL" sz="3600" b="1" i="0" u="none" strike="noStrike" kern="1200" cap="none" dirty="0">
                <a:ln>
                  <a:noFill/>
                </a:ln>
                <a:solidFill>
                  <a:srgbClr val="66CC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ללא קנאה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CC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 (</a:t>
            </a:r>
            <a:r>
              <a:rPr lang="he-IL" sz="3600" b="0" i="0" u="none" strike="noStrike" kern="1200" cap="none" dirty="0" err="1">
                <a:ln>
                  <a:noFill/>
                </a:ln>
                <a:solidFill>
                  <a:srgbClr val="66CC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envy-free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CC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).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he-IL" sz="3600" b="1" i="0" u="none" strike="noStrike" kern="1200" cap="none" dirty="0">
              <a:ln>
                <a:noFill/>
              </a:ln>
              <a:solidFill>
                <a:srgbClr val="000000"/>
              </a:solidFill>
              <a:latin typeface="Liberation Sans" pitchFamily="34"/>
              <a:ea typeface="WenQuanYi Micro Hei" pitchFamily="2"/>
              <a:cs typeface="Liberation Sans" pitchFamily="34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B3F1BE-BF6A-21C8-5706-AEDC1B68FA14}"/>
              </a:ext>
            </a:extLst>
          </p:cNvPr>
          <p:cNvSpPr txBox="1"/>
          <p:nvPr/>
        </p:nvSpPr>
        <p:spPr>
          <a:xfrm>
            <a:off x="476280" y="5669279"/>
            <a:ext cx="9399240" cy="146303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שאלה: האם אפשר להשיג את אותן </a:t>
            </a:r>
            <a:br>
              <a:rPr lang="en-US" sz="4000" b="1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</a:br>
            <a:r>
              <a:rPr lang="he-IL" sz="4000" b="1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תכונות כשיש יותר משני אנשים?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1" build="p"/>
      <p:bldP spid="21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2C040-7AC4-ADA4-D4D1-3AA0143D377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12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חלוקת עוגה – מודל כללי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C5503133-577C-0F2E-A023-33A08257CFFE}"/>
              </a:ext>
            </a:extLst>
          </p:cNvPr>
          <p:cNvSpPr/>
          <p:nvPr/>
        </p:nvSpPr>
        <p:spPr>
          <a:xfrm>
            <a:off x="2194560" y="1188719"/>
            <a:ext cx="7886160" cy="62179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46800" rIns="90000" bIns="46800" anchor="t" anchorCtr="0" compatLnSpc="1">
            <a:norm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72E56B-3045-8EBD-563C-65C33F02030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57200" y="3841200"/>
            <a:ext cx="9235440" cy="5191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B4E3FE-EE3B-E79C-BBDD-F7A3F21CF388}"/>
              </a:ext>
            </a:extLst>
          </p:cNvPr>
          <p:cNvSpPr txBox="1"/>
          <p:nvPr/>
        </p:nvSpPr>
        <p:spPr>
          <a:xfrm>
            <a:off x="365760" y="4225319"/>
            <a:ext cx="4757400" cy="3466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  <a:hlinkClick r:id="rId4"/>
              </a:rPr>
              <a:t>https://www.madlan.co.il/local/pricesHeatmap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054933-23F0-E072-73D3-A35D78EA10C5}"/>
              </a:ext>
            </a:extLst>
          </p:cNvPr>
          <p:cNvSpPr txBox="1"/>
          <p:nvPr/>
        </p:nvSpPr>
        <p:spPr>
          <a:xfrm>
            <a:off x="0" y="979560"/>
            <a:ext cx="10080720" cy="33814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העוגה </a:t>
            </a:r>
            <a:r>
              <a:rPr lang="en-US" sz="3600" b="1" i="1" u="none" strike="noStrike" kern="1200" cap="none">
                <a:ln>
                  <a:noFill/>
                </a:ln>
                <a:solidFill>
                  <a:srgbClr val="990099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C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היא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קטע </a:t>
            </a:r>
            <a:r>
              <a:rPr lang="he-IL" sz="3600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(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חד ממדי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)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או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מצולע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(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רב ממדי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).</a:t>
            </a:r>
            <a:endParaRPr lang="en-US" sz="3600" b="0" i="0" u="none" strike="noStrike" kern="1200" cap="none">
              <a:ln>
                <a:noFill/>
              </a:ln>
              <a:solidFill>
                <a:srgbClr val="990099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לכל משתתף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i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יש פונקצית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צפיפות ערך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על העוגה:</a:t>
            </a:r>
          </a:p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v</a:t>
            </a:r>
            <a:r>
              <a:rPr lang="en-US" sz="3600" b="0" i="1" u="none" strike="noStrike" kern="1200" cap="none" baseline="-33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: C → R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99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ערך של חתיכת עוגה הוא אינטגרל על צפיפות הערך:</a:t>
            </a:r>
          </a:p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V</a:t>
            </a:r>
            <a:r>
              <a:rPr lang="en-US" sz="3600" b="0" i="1" u="none" strike="noStrike" kern="1200" cap="none" baseline="-33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i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(X) = 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Times New Roman" pitchFamily="18"/>
                <a:cs typeface="Liberation Sans" pitchFamily="34"/>
              </a:rPr>
              <a:t>∫</a:t>
            </a:r>
            <a:r>
              <a:rPr lang="en-US" sz="3600" b="0" i="1" u="none" strike="noStrike" kern="1200" cap="none" baseline="-33000">
                <a:ln>
                  <a:noFill/>
                </a:ln>
                <a:latin typeface="Times New Roman" pitchFamily="18"/>
                <a:ea typeface="Times New Roman" pitchFamily="18"/>
                <a:cs typeface="Liberation Sans" pitchFamily="34"/>
              </a:rPr>
              <a:t>X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Times New Roman" pitchFamily="18"/>
                <a:cs typeface="Liberation Sans" pitchFamily="34"/>
              </a:rPr>
              <a:t> v</a:t>
            </a:r>
            <a:r>
              <a:rPr lang="en-US" sz="3600" b="0" i="1" u="none" strike="noStrike" kern="1200" cap="none" baseline="-33000">
                <a:ln>
                  <a:noFill/>
                </a:ln>
                <a:latin typeface="Times New Roman" pitchFamily="18"/>
                <a:ea typeface="Times New Roman" pitchFamily="18"/>
                <a:cs typeface="Liberation Sans" pitchFamily="34"/>
              </a:rPr>
              <a:t>i</a:t>
            </a:r>
            <a:r>
              <a:rPr lang="en-US" sz="3600" b="0" i="1" u="none" strike="noStrike" kern="1200" cap="none">
                <a:ln>
                  <a:noFill/>
                </a:ln>
                <a:latin typeface="Times New Roman" pitchFamily="18"/>
                <a:ea typeface="Times New Roman" pitchFamily="18"/>
                <a:cs typeface="Liberation Sans" pitchFamily="34"/>
              </a:rPr>
              <a:t>(x) dx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rgbClr val="990099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A07B1-BB6F-3884-2867-9CAAE35BA39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12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חלוקת עוגה ל-</a:t>
            </a:r>
            <a:r>
              <a:rPr lang="he-IL" sz="6000" i="1">
                <a:latin typeface="Times New Roman" pitchFamily="18"/>
                <a:cs typeface="David" pitchFamily="34"/>
              </a:rPr>
              <a:t>n</a:t>
            </a:r>
            <a:r>
              <a:rPr lang="he-IL" sz="6000">
                <a:cs typeface="David" pitchFamily="34"/>
              </a:rPr>
              <a:t> אנשים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BDA4EBA0-DF0D-2A31-3458-651FAFDB68B6}"/>
              </a:ext>
            </a:extLst>
          </p:cNvPr>
          <p:cNvSpPr/>
          <p:nvPr/>
        </p:nvSpPr>
        <p:spPr>
          <a:xfrm>
            <a:off x="2194560" y="1188719"/>
            <a:ext cx="7886160" cy="62179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46800" rIns="90000" bIns="46800" anchor="t" anchorCtr="0" compatLnSpc="1">
            <a:norm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B8CE9C-A8B6-DA2C-D0F9-B6BACF0407D3}"/>
              </a:ext>
            </a:extLst>
          </p:cNvPr>
          <p:cNvSpPr txBox="1"/>
          <p:nvPr/>
        </p:nvSpPr>
        <p:spPr>
          <a:xfrm>
            <a:off x="1483251" y="1005840"/>
            <a:ext cx="8483709" cy="5970052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סימונים: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solidFill>
                  <a:srgbClr val="0000FF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C – העוגה כולה.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solidFill>
                  <a:srgbClr val="0000FF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X</a:t>
            </a:r>
            <a:r>
              <a:rPr lang="he-IL" sz="3600" b="0" i="1" u="none" strike="noStrike" kern="1200" cap="none" baseline="-33000">
                <a:ln>
                  <a:noFill/>
                </a:ln>
                <a:solidFill>
                  <a:srgbClr val="0000FF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i </a:t>
            </a:r>
            <a:r>
              <a:rPr lang="he-IL" sz="3600" b="0" i="1" u="none" strike="noStrike" kern="1200" cap="none" baseline="0">
                <a:ln>
                  <a:noFill/>
                </a:ln>
                <a:solidFill>
                  <a:srgbClr val="0000FF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– הפרוסה שקיבל משתתף i.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solidFill>
                  <a:srgbClr val="0000FF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 V</a:t>
            </a:r>
            <a:r>
              <a:rPr lang="he-IL" sz="3600" b="0" i="1" u="none" strike="noStrike" kern="1200" cap="none" baseline="-33000">
                <a:ln>
                  <a:noFill/>
                </a:ln>
                <a:solidFill>
                  <a:srgbClr val="0000FF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i</a:t>
            </a:r>
            <a:r>
              <a:rPr lang="he-IL" sz="3600" b="0" i="1" u="none" strike="noStrike" kern="1200" cap="none" baseline="0">
                <a:ln>
                  <a:noFill/>
                </a:ln>
                <a:solidFill>
                  <a:srgbClr val="0000FF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 – פונקציית הערך של משתתף i.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תכונות: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1.  חלוקה </a:t>
            </a:r>
            <a:r>
              <a:rPr lang="he-IL" sz="4000" b="1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פרופורציונלית </a:t>
            </a:r>
            <a:r>
              <a:rPr lang="he-IL" sz="32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(proportional)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:</a:t>
            </a:r>
          </a:p>
          <a:p>
            <a:pPr marL="0" marR="0" lvl="0" indent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 For all i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    </a:t>
            </a:r>
            <a:r>
              <a:rPr lang="en-US" sz="3600" b="0" u="none" strike="noStrike" kern="1200" cap="none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: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    V</a:t>
            </a:r>
            <a:r>
              <a:rPr lang="en-US" sz="3600" b="0" i="1" u="none" strike="noStrike" kern="1200" cap="none" baseline="-25000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i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(X</a:t>
            </a:r>
            <a:r>
              <a:rPr lang="en-US" sz="3600" b="0" i="1" u="none" strike="noStrike" kern="1200" cap="none" baseline="-25000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i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) ≥ V</a:t>
            </a:r>
            <a:r>
              <a:rPr lang="en-US" sz="3600" b="0" i="1" u="none" strike="noStrike" kern="1200" cap="none" baseline="-25000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i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(C)/n</a:t>
            </a:r>
            <a:endParaRPr lang="he-IL" sz="3600" b="0" i="1" u="none" strike="noStrike" kern="1200" cap="none">
              <a:ln>
                <a:noFill/>
              </a:ln>
              <a:solidFill>
                <a:srgbClr val="009900"/>
              </a:solidFill>
              <a:latin typeface="Times New Roman" pitchFamily="18"/>
              <a:ea typeface="WenQuanYi Micro Hei" pitchFamily="2"/>
              <a:cs typeface="Liberation Sans" pitchFamily="34"/>
            </a:endParaRP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66CC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2. חלוקה </a:t>
            </a:r>
            <a:r>
              <a:rPr lang="he-IL" sz="4000" b="1" i="0" u="none" strike="noStrike" kern="1200" cap="none">
                <a:ln>
                  <a:noFill/>
                </a:ln>
                <a:solidFill>
                  <a:srgbClr val="66CC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ללא קנאה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66CC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 </a:t>
            </a:r>
            <a:r>
              <a:rPr lang="he-IL" sz="3200" b="0" i="0" u="none" strike="noStrike" kern="1200" cap="none">
                <a:ln>
                  <a:noFill/>
                </a:ln>
                <a:solidFill>
                  <a:srgbClr val="66CC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(envy-free)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66CC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:</a:t>
            </a:r>
          </a:p>
          <a:p>
            <a:pPr marL="0" marR="0" lvl="0" indent="0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>
                <a:ln>
                  <a:noFill/>
                </a:ln>
                <a:solidFill>
                  <a:srgbClr val="66CC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For all i, j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66CC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  </a:t>
            </a:r>
            <a:r>
              <a:rPr lang="en-US" sz="3600" b="0" u="none" strike="noStrike" kern="1200" cap="none">
                <a:ln>
                  <a:noFill/>
                </a:ln>
                <a:solidFill>
                  <a:srgbClr val="66CC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: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66CC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  V</a:t>
            </a:r>
            <a:r>
              <a:rPr lang="en-US" sz="3600" b="0" i="1" u="none" strike="noStrike" kern="1200" cap="none" baseline="-25000">
                <a:ln>
                  <a:noFill/>
                </a:ln>
                <a:solidFill>
                  <a:srgbClr val="66CC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i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66CC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(X</a:t>
            </a:r>
            <a:r>
              <a:rPr lang="en-US" sz="3600" b="0" i="1" u="none" strike="noStrike" kern="1200" cap="none" baseline="-25000">
                <a:ln>
                  <a:noFill/>
                </a:ln>
                <a:solidFill>
                  <a:srgbClr val="66CC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i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66CC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) ≥ V</a:t>
            </a:r>
            <a:r>
              <a:rPr lang="en-US" sz="3600" b="0" i="1" u="none" strike="noStrike" kern="1200" cap="none" baseline="-25000">
                <a:ln>
                  <a:noFill/>
                </a:ln>
                <a:solidFill>
                  <a:srgbClr val="66CC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i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66CC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(X</a:t>
            </a:r>
            <a:r>
              <a:rPr lang="en-US" sz="3600" b="0" i="1" u="none" strike="noStrike" kern="1200" cap="none" baseline="-25000">
                <a:ln>
                  <a:noFill/>
                </a:ln>
                <a:solidFill>
                  <a:srgbClr val="66CC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j</a:t>
            </a:r>
            <a:r>
              <a:rPr lang="en-US" sz="3600" b="0" i="1" u="none" strike="noStrike" kern="1200" cap="none">
                <a:ln>
                  <a:noFill/>
                </a:ln>
                <a:solidFill>
                  <a:srgbClr val="66CC00"/>
                </a:solidFill>
                <a:latin typeface="Times New Roman" pitchFamily="18"/>
                <a:ea typeface="WenQuanYi Micro Hei" pitchFamily="2"/>
                <a:cs typeface="Liberation Sans" pitchFamily="34"/>
              </a:rPr>
              <a:t>)</a:t>
            </a:r>
            <a:endParaRPr lang="he-IL" sz="3600" b="0" i="0" u="none" strike="noStrike" kern="1200" cap="none">
              <a:ln>
                <a:noFill/>
              </a:ln>
              <a:solidFill>
                <a:srgbClr val="66CC00"/>
              </a:solidFill>
              <a:latin typeface="Times New Roman" pitchFamily="18"/>
              <a:ea typeface="WenQuanYi Micro Hei" pitchFamily="2"/>
              <a:cs typeface="Liberation Sans" pitchFamily="34"/>
            </a:endParaRP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חידה: 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00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מה יותר קשה?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0">
            <a:extLst>
              <a:ext uri="{FF2B5EF4-FFF2-40B4-BE49-F238E27FC236}">
                <a16:creationId xmlns:a16="http://schemas.microsoft.com/office/drawing/2014/main" id="{8F0C6B7C-D808-9E21-D69F-6457B901276B}"/>
              </a:ext>
            </a:extLst>
          </p:cNvPr>
          <p:cNvSpPr/>
          <p:nvPr/>
        </p:nvSpPr>
        <p:spPr>
          <a:xfrm>
            <a:off x="435600" y="1844279"/>
            <a:ext cx="4366440" cy="523727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ECEDD1"/>
          </a:solidFill>
          <a:ln w="25560" cap="sq">
            <a:solidFill>
              <a:srgbClr val="6B766F"/>
            </a:solidFill>
            <a:prstDash val="solid"/>
            <a:miter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F1DB831-554F-A664-583E-9AE77064C9A1}"/>
              </a:ext>
            </a:extLst>
          </p:cNvPr>
          <p:cNvSpPr/>
          <p:nvPr/>
        </p:nvSpPr>
        <p:spPr>
          <a:xfrm>
            <a:off x="4802040" y="1874160"/>
            <a:ext cx="5278680" cy="48420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46800" rIns="90000" bIns="46800" anchor="t" anchorCtr="0" compatLnSpc="1">
            <a:norm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4" name="Oval 7">
            <a:extLst>
              <a:ext uri="{FF2B5EF4-FFF2-40B4-BE49-F238E27FC236}">
                <a16:creationId xmlns:a16="http://schemas.microsoft.com/office/drawing/2014/main" id="{12AACD9D-9AEA-4F69-8683-F9BF6184B806}"/>
              </a:ext>
            </a:extLst>
          </p:cNvPr>
          <p:cNvSpPr/>
          <p:nvPr/>
        </p:nvSpPr>
        <p:spPr>
          <a:xfrm>
            <a:off x="3769920" y="2589480"/>
            <a:ext cx="311040" cy="3171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5" name="Oval 13">
            <a:extLst>
              <a:ext uri="{FF2B5EF4-FFF2-40B4-BE49-F238E27FC236}">
                <a16:creationId xmlns:a16="http://schemas.microsoft.com/office/drawing/2014/main" id="{3FC4169F-BFB3-3BCF-D3E2-5D6FE2893BF4}"/>
              </a:ext>
            </a:extLst>
          </p:cNvPr>
          <p:cNvSpPr/>
          <p:nvPr/>
        </p:nvSpPr>
        <p:spPr>
          <a:xfrm>
            <a:off x="4080960" y="6478199"/>
            <a:ext cx="30996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6" name="Oval 14">
            <a:extLst>
              <a:ext uri="{FF2B5EF4-FFF2-40B4-BE49-F238E27FC236}">
                <a16:creationId xmlns:a16="http://schemas.microsoft.com/office/drawing/2014/main" id="{C606665B-E919-53A9-179E-6762CCB41760}"/>
              </a:ext>
            </a:extLst>
          </p:cNvPr>
          <p:cNvSpPr/>
          <p:nvPr/>
        </p:nvSpPr>
        <p:spPr>
          <a:xfrm>
            <a:off x="4235400" y="1963440"/>
            <a:ext cx="31104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EF7F4941-7BFA-3EFD-4123-0F384F77FB02}"/>
              </a:ext>
            </a:extLst>
          </p:cNvPr>
          <p:cNvSpPr/>
          <p:nvPr/>
        </p:nvSpPr>
        <p:spPr>
          <a:xfrm>
            <a:off x="754199" y="2122560"/>
            <a:ext cx="309600" cy="3168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8" name="Oval 16">
            <a:extLst>
              <a:ext uri="{FF2B5EF4-FFF2-40B4-BE49-F238E27FC236}">
                <a16:creationId xmlns:a16="http://schemas.microsoft.com/office/drawing/2014/main" id="{A2329B30-4528-3019-AB07-58647B16390B}"/>
              </a:ext>
            </a:extLst>
          </p:cNvPr>
          <p:cNvSpPr/>
          <p:nvPr/>
        </p:nvSpPr>
        <p:spPr>
          <a:xfrm>
            <a:off x="2040479" y="3214440"/>
            <a:ext cx="30960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9" name="Oval 17">
            <a:extLst>
              <a:ext uri="{FF2B5EF4-FFF2-40B4-BE49-F238E27FC236}">
                <a16:creationId xmlns:a16="http://schemas.microsoft.com/office/drawing/2014/main" id="{515356C4-FCEA-7338-333C-F6368BED06BB}"/>
              </a:ext>
            </a:extLst>
          </p:cNvPr>
          <p:cNvSpPr/>
          <p:nvPr/>
        </p:nvSpPr>
        <p:spPr>
          <a:xfrm>
            <a:off x="1027439" y="6319080"/>
            <a:ext cx="31104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0" name="Oval 18">
            <a:extLst>
              <a:ext uri="{FF2B5EF4-FFF2-40B4-BE49-F238E27FC236}">
                <a16:creationId xmlns:a16="http://schemas.microsoft.com/office/drawing/2014/main" id="{5D307916-7BD7-08D8-28F1-A14B68AC3052}"/>
              </a:ext>
            </a:extLst>
          </p:cNvPr>
          <p:cNvSpPr/>
          <p:nvPr/>
        </p:nvSpPr>
        <p:spPr>
          <a:xfrm>
            <a:off x="1832040" y="5429520"/>
            <a:ext cx="414720" cy="1576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1" name="Oval 23">
            <a:extLst>
              <a:ext uri="{FF2B5EF4-FFF2-40B4-BE49-F238E27FC236}">
                <a16:creationId xmlns:a16="http://schemas.microsoft.com/office/drawing/2014/main" id="{55BA8F25-B795-A600-6F44-4FAD5DE305A0}"/>
              </a:ext>
            </a:extLst>
          </p:cNvPr>
          <p:cNvSpPr/>
          <p:nvPr/>
        </p:nvSpPr>
        <p:spPr>
          <a:xfrm>
            <a:off x="3195360" y="2423160"/>
            <a:ext cx="416880" cy="159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2" name="Oval 24">
            <a:extLst>
              <a:ext uri="{FF2B5EF4-FFF2-40B4-BE49-F238E27FC236}">
                <a16:creationId xmlns:a16="http://schemas.microsoft.com/office/drawing/2014/main" id="{43DC493B-10A4-9974-A709-84A9A6A4168F}"/>
              </a:ext>
            </a:extLst>
          </p:cNvPr>
          <p:cNvSpPr/>
          <p:nvPr/>
        </p:nvSpPr>
        <p:spPr>
          <a:xfrm>
            <a:off x="640440" y="3375360"/>
            <a:ext cx="414720" cy="159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3" name="Oval 25">
            <a:extLst>
              <a:ext uri="{FF2B5EF4-FFF2-40B4-BE49-F238E27FC236}">
                <a16:creationId xmlns:a16="http://schemas.microsoft.com/office/drawing/2014/main" id="{318788EE-2BC7-09EC-76B0-B078E9BDDE9C}"/>
              </a:ext>
            </a:extLst>
          </p:cNvPr>
          <p:cNvSpPr/>
          <p:nvPr/>
        </p:nvSpPr>
        <p:spPr>
          <a:xfrm>
            <a:off x="1163520" y="2712240"/>
            <a:ext cx="415080" cy="159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4" name="Oval 26">
            <a:extLst>
              <a:ext uri="{FF2B5EF4-FFF2-40B4-BE49-F238E27FC236}">
                <a16:creationId xmlns:a16="http://schemas.microsoft.com/office/drawing/2014/main" id="{F1223866-6F79-1F56-C0CB-DDFB76C4D0D8}"/>
              </a:ext>
            </a:extLst>
          </p:cNvPr>
          <p:cNvSpPr/>
          <p:nvPr/>
        </p:nvSpPr>
        <p:spPr>
          <a:xfrm>
            <a:off x="2507760" y="6591600"/>
            <a:ext cx="416880" cy="159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5" name="Oval 27">
            <a:extLst>
              <a:ext uri="{FF2B5EF4-FFF2-40B4-BE49-F238E27FC236}">
                <a16:creationId xmlns:a16="http://schemas.microsoft.com/office/drawing/2014/main" id="{1FDAEBE7-4DED-65C2-D754-3E4969D9EF33}"/>
              </a:ext>
            </a:extLst>
          </p:cNvPr>
          <p:cNvSpPr/>
          <p:nvPr/>
        </p:nvSpPr>
        <p:spPr>
          <a:xfrm>
            <a:off x="3834360" y="5598000"/>
            <a:ext cx="416520" cy="1576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6" name="Straight Connector 5">
            <a:extLst>
              <a:ext uri="{FF2B5EF4-FFF2-40B4-BE49-F238E27FC236}">
                <a16:creationId xmlns:a16="http://schemas.microsoft.com/office/drawing/2014/main" id="{7CB0CF08-A7A3-8098-1F8F-A58856959E44}"/>
              </a:ext>
            </a:extLst>
          </p:cNvPr>
          <p:cNvSpPr/>
          <p:nvPr/>
        </p:nvSpPr>
        <p:spPr>
          <a:xfrm>
            <a:off x="4080960" y="1818000"/>
            <a:ext cx="0" cy="523692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14548" fill="none">
                <a:moveTo>
                  <a:pt x="0" y="0"/>
                </a:moveTo>
                <a:lnTo>
                  <a:pt x="0" y="14548"/>
                </a:lnTo>
              </a:path>
            </a:pathLst>
          </a:custGeom>
          <a:noFill/>
          <a:ln w="63360" cap="sq">
            <a:solidFill>
              <a:srgbClr val="00B0F0"/>
            </a:solidFill>
            <a:custDash>
              <a:ds d="100000" sp="100000"/>
            </a:custDash>
            <a:miter/>
          </a:ln>
        </p:spPr>
        <p:txBody>
          <a:bodyPr vert="horz" wrap="square" lIns="90000" tIns="46800" rIns="90000" bIns="46800" anchor="t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7" name="Oval 21">
            <a:extLst>
              <a:ext uri="{FF2B5EF4-FFF2-40B4-BE49-F238E27FC236}">
                <a16:creationId xmlns:a16="http://schemas.microsoft.com/office/drawing/2014/main" id="{D6A78167-5B5C-0D86-037B-17FFC246F1AA}"/>
              </a:ext>
            </a:extLst>
          </p:cNvPr>
          <p:cNvSpPr/>
          <p:nvPr/>
        </p:nvSpPr>
        <p:spPr>
          <a:xfrm>
            <a:off x="4247279" y="2906640"/>
            <a:ext cx="155880" cy="4759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8" name="Oval 22">
            <a:extLst>
              <a:ext uri="{FF2B5EF4-FFF2-40B4-BE49-F238E27FC236}">
                <a16:creationId xmlns:a16="http://schemas.microsoft.com/office/drawing/2014/main" id="{3EDDD0BB-E15D-6260-FBB0-1B808211A8CD}"/>
              </a:ext>
            </a:extLst>
          </p:cNvPr>
          <p:cNvSpPr/>
          <p:nvPr/>
        </p:nvSpPr>
        <p:spPr>
          <a:xfrm>
            <a:off x="3096000" y="3455640"/>
            <a:ext cx="155520" cy="474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9" name="Oval 28">
            <a:extLst>
              <a:ext uri="{FF2B5EF4-FFF2-40B4-BE49-F238E27FC236}">
                <a16:creationId xmlns:a16="http://schemas.microsoft.com/office/drawing/2014/main" id="{0B5DE249-EB50-9617-8213-20CEA8827750}"/>
              </a:ext>
            </a:extLst>
          </p:cNvPr>
          <p:cNvSpPr/>
          <p:nvPr/>
        </p:nvSpPr>
        <p:spPr>
          <a:xfrm>
            <a:off x="1422719" y="5121719"/>
            <a:ext cx="155880" cy="4762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20" name="Oval 29">
            <a:extLst>
              <a:ext uri="{FF2B5EF4-FFF2-40B4-BE49-F238E27FC236}">
                <a16:creationId xmlns:a16="http://schemas.microsoft.com/office/drawing/2014/main" id="{4FE4EB46-F021-0E9D-D621-016A9C95CF00}"/>
              </a:ext>
            </a:extLst>
          </p:cNvPr>
          <p:cNvSpPr/>
          <p:nvPr/>
        </p:nvSpPr>
        <p:spPr>
          <a:xfrm>
            <a:off x="3600000" y="4953960"/>
            <a:ext cx="155520" cy="4759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21" name="Oval 30">
            <a:extLst>
              <a:ext uri="{FF2B5EF4-FFF2-40B4-BE49-F238E27FC236}">
                <a16:creationId xmlns:a16="http://schemas.microsoft.com/office/drawing/2014/main" id="{46A9ED5B-0E55-951E-16AC-B126806DB6DF}"/>
              </a:ext>
            </a:extLst>
          </p:cNvPr>
          <p:cNvSpPr/>
          <p:nvPr/>
        </p:nvSpPr>
        <p:spPr>
          <a:xfrm>
            <a:off x="1345680" y="2043719"/>
            <a:ext cx="155880" cy="4759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22" name="Oval 31">
            <a:extLst>
              <a:ext uri="{FF2B5EF4-FFF2-40B4-BE49-F238E27FC236}">
                <a16:creationId xmlns:a16="http://schemas.microsoft.com/office/drawing/2014/main" id="{C0FCADB4-A6C0-80CA-5E9E-063D79790AC4}"/>
              </a:ext>
            </a:extLst>
          </p:cNvPr>
          <p:cNvSpPr/>
          <p:nvPr/>
        </p:nvSpPr>
        <p:spPr>
          <a:xfrm>
            <a:off x="2791440" y="5860079"/>
            <a:ext cx="155520" cy="4762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23" name="Straight Connector 33">
            <a:extLst>
              <a:ext uri="{FF2B5EF4-FFF2-40B4-BE49-F238E27FC236}">
                <a16:creationId xmlns:a16="http://schemas.microsoft.com/office/drawing/2014/main" id="{625F1D05-DA35-D3EA-9290-875689B067F9}"/>
              </a:ext>
            </a:extLst>
          </p:cNvPr>
          <p:cNvSpPr/>
          <p:nvPr/>
        </p:nvSpPr>
        <p:spPr>
          <a:xfrm>
            <a:off x="2959199" y="1852919"/>
            <a:ext cx="0" cy="523692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14548" fill="none">
                <a:moveTo>
                  <a:pt x="0" y="0"/>
                </a:moveTo>
                <a:lnTo>
                  <a:pt x="0" y="14548"/>
                </a:lnTo>
              </a:path>
            </a:pathLst>
          </a:custGeom>
          <a:noFill/>
          <a:ln w="63360" cap="sq">
            <a:solidFill>
              <a:srgbClr val="00B050"/>
            </a:solidFill>
            <a:custDash>
              <a:ds d="100000" sp="100000"/>
            </a:custDash>
            <a:miter/>
          </a:ln>
        </p:spPr>
        <p:txBody>
          <a:bodyPr vert="horz" wrap="square" lIns="90000" tIns="46800" rIns="90000" bIns="46800" anchor="t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24" name="Straight Connector 32">
            <a:extLst>
              <a:ext uri="{FF2B5EF4-FFF2-40B4-BE49-F238E27FC236}">
                <a16:creationId xmlns:a16="http://schemas.microsoft.com/office/drawing/2014/main" id="{BCAE0ECF-3051-5174-7175-8C679605671D}"/>
              </a:ext>
            </a:extLst>
          </p:cNvPr>
          <p:cNvSpPr/>
          <p:nvPr/>
        </p:nvSpPr>
        <p:spPr>
          <a:xfrm>
            <a:off x="3414240" y="1852919"/>
            <a:ext cx="0" cy="523692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14548" fill="none">
                <a:moveTo>
                  <a:pt x="0" y="0"/>
                </a:moveTo>
                <a:lnTo>
                  <a:pt x="0" y="14548"/>
                </a:lnTo>
              </a:path>
            </a:pathLst>
          </a:custGeom>
          <a:noFill/>
          <a:ln w="63360" cap="sq">
            <a:solidFill>
              <a:srgbClr val="FF0000"/>
            </a:solidFill>
            <a:custDash>
              <a:ds d="100000" sp="100000"/>
            </a:custDash>
            <a:miter/>
          </a:ln>
        </p:spPr>
        <p:txBody>
          <a:bodyPr vert="horz" wrap="square" lIns="90000" tIns="46800" rIns="90000" bIns="46800" anchor="t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25" name="Straight Connector 42">
            <a:extLst>
              <a:ext uri="{FF2B5EF4-FFF2-40B4-BE49-F238E27FC236}">
                <a16:creationId xmlns:a16="http://schemas.microsoft.com/office/drawing/2014/main" id="{44F3D195-10F0-459A-1763-91FAC88637EE}"/>
              </a:ext>
            </a:extLst>
          </p:cNvPr>
          <p:cNvSpPr/>
          <p:nvPr/>
        </p:nvSpPr>
        <p:spPr>
          <a:xfrm>
            <a:off x="4080960" y="1828440"/>
            <a:ext cx="0" cy="523692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14548" fill="none">
                <a:moveTo>
                  <a:pt x="0" y="0"/>
                </a:moveTo>
                <a:lnTo>
                  <a:pt x="0" y="14548"/>
                </a:lnTo>
              </a:path>
            </a:pathLst>
          </a:custGeom>
          <a:noFill/>
          <a:ln w="63360" cap="sq">
            <a:solidFill>
              <a:srgbClr val="000000"/>
            </a:solidFill>
            <a:prstDash val="solid"/>
            <a:miter/>
          </a:ln>
        </p:spPr>
        <p:txBody>
          <a:bodyPr vert="horz" wrap="square" lIns="90000" tIns="46800" rIns="90000" bIns="46800" anchor="t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26" name="TextBox 43">
            <a:extLst>
              <a:ext uri="{FF2B5EF4-FFF2-40B4-BE49-F238E27FC236}">
                <a16:creationId xmlns:a16="http://schemas.microsoft.com/office/drawing/2014/main" id="{BC050A0D-A2D4-ABE6-B098-4BA778BAC2EE}"/>
              </a:ext>
            </a:extLst>
          </p:cNvPr>
          <p:cNvSpPr/>
          <p:nvPr/>
        </p:nvSpPr>
        <p:spPr>
          <a:xfrm>
            <a:off x="4000680" y="3725279"/>
            <a:ext cx="1070640" cy="6606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1">
            <a:sp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he-IL" sz="4000" b="1" i="0" u="none" strike="noStrike" cap="none" baseline="0">
                <a:ln>
                  <a:noFill/>
                </a:ln>
                <a:solidFill>
                  <a:srgbClr val="00B0F0"/>
                </a:solidFill>
                <a:latin typeface="Arial" pitchFamily="34"/>
                <a:ea typeface="WenQuanYi Micro Hei" pitchFamily="2"/>
                <a:cs typeface="WenQuanYi Micro Hei" pitchFamily="2"/>
              </a:rPr>
              <a:t>רמי</a:t>
            </a:r>
          </a:p>
        </p:txBody>
      </p:sp>
      <p:sp>
        <p:nvSpPr>
          <p:cNvPr id="27" name="TextBox 44">
            <a:extLst>
              <a:ext uri="{FF2B5EF4-FFF2-40B4-BE49-F238E27FC236}">
                <a16:creationId xmlns:a16="http://schemas.microsoft.com/office/drawing/2014/main" id="{0B3CA5C2-EE9D-5D11-25DF-1B86D8137B44}"/>
              </a:ext>
            </a:extLst>
          </p:cNvPr>
          <p:cNvSpPr/>
          <p:nvPr/>
        </p:nvSpPr>
        <p:spPr>
          <a:xfrm>
            <a:off x="2106644" y="4136760"/>
            <a:ext cx="1148400" cy="6606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1">
            <a:sp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he-IL" sz="4000" b="1" i="0" u="none" strike="noStrike" cap="none" baseline="0">
                <a:ln>
                  <a:noFill/>
                </a:ln>
                <a:solidFill>
                  <a:srgbClr val="FF0000"/>
                </a:solidFill>
                <a:latin typeface="Arial" pitchFamily="34"/>
                <a:ea typeface="WenQuanYi Micro Hei" pitchFamily="2"/>
                <a:cs typeface="WenQuanYi Micro Hei" pitchFamily="2"/>
              </a:rPr>
              <a:t>תמי</a:t>
            </a:r>
          </a:p>
        </p:txBody>
      </p:sp>
      <p:sp>
        <p:nvSpPr>
          <p:cNvPr id="28" name="TextBox 45">
            <a:extLst>
              <a:ext uri="{FF2B5EF4-FFF2-40B4-BE49-F238E27FC236}">
                <a16:creationId xmlns:a16="http://schemas.microsoft.com/office/drawing/2014/main" id="{B060980C-4A56-4539-B59A-E8A7980D2C0B}"/>
              </a:ext>
            </a:extLst>
          </p:cNvPr>
          <p:cNvSpPr/>
          <p:nvPr/>
        </p:nvSpPr>
        <p:spPr>
          <a:xfrm>
            <a:off x="451440" y="3534840"/>
            <a:ext cx="1112040" cy="6606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1">
            <a:sp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he-IL" sz="4000" b="1" i="0" u="none" strike="noStrike" cap="none" baseline="0">
                <a:ln>
                  <a:noFill/>
                </a:ln>
                <a:solidFill>
                  <a:srgbClr val="00B050"/>
                </a:solidFill>
                <a:latin typeface="Arial" pitchFamily="34"/>
                <a:ea typeface="WenQuanYi Micro Hei" pitchFamily="2"/>
                <a:cs typeface="WenQuanYi Micro Hei" pitchFamily="2"/>
              </a:rPr>
              <a:t>עמי</a:t>
            </a:r>
          </a:p>
        </p:txBody>
      </p:sp>
      <p:pic>
        <p:nvPicPr>
          <p:cNvPr id="29" name="Picture 3">
            <a:extLst>
              <a:ext uri="{FF2B5EF4-FFF2-40B4-BE49-F238E27FC236}">
                <a16:creationId xmlns:a16="http://schemas.microsoft.com/office/drawing/2014/main" id="{ACB22B91-207D-F95B-FEE6-A7933729BAC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04480" y="344520"/>
            <a:ext cx="994320" cy="1389239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Straight Connector 51">
            <a:extLst>
              <a:ext uri="{FF2B5EF4-FFF2-40B4-BE49-F238E27FC236}">
                <a16:creationId xmlns:a16="http://schemas.microsoft.com/office/drawing/2014/main" id="{7D05BA3D-42DA-F226-7A24-111E96F2D912}"/>
              </a:ext>
            </a:extLst>
          </p:cNvPr>
          <p:cNvSpPr/>
          <p:nvPr/>
        </p:nvSpPr>
        <p:spPr>
          <a:xfrm>
            <a:off x="2161108" y="1866599"/>
            <a:ext cx="0" cy="523692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14548" fill="none">
                <a:moveTo>
                  <a:pt x="0" y="0"/>
                </a:moveTo>
                <a:lnTo>
                  <a:pt x="0" y="14548"/>
                </a:lnTo>
              </a:path>
            </a:pathLst>
          </a:custGeom>
          <a:noFill/>
          <a:ln w="63360" cap="sq">
            <a:solidFill>
              <a:srgbClr val="000000"/>
            </a:solidFill>
            <a:prstDash val="solid"/>
            <a:miter/>
          </a:ln>
        </p:spPr>
        <p:txBody>
          <a:bodyPr vert="horz" wrap="square" lIns="90000" tIns="46800" rIns="90000" bIns="46800" anchor="t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31" name="Title 30">
            <a:extLst>
              <a:ext uri="{FF2B5EF4-FFF2-40B4-BE49-F238E27FC236}">
                <a16:creationId xmlns:a16="http://schemas.microsoft.com/office/drawing/2014/main" id="{C82C0F14-8220-262B-6912-0A7854998F3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2480"/>
            <a:ext cx="1014984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חלוקה פרופורציונלית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772FB1-D748-A2D3-879D-0402BEA3E129}"/>
              </a:ext>
            </a:extLst>
          </p:cNvPr>
          <p:cNvSpPr txBox="1"/>
          <p:nvPr/>
        </p:nvSpPr>
        <p:spPr>
          <a:xfrm>
            <a:off x="5001840" y="1554479"/>
            <a:ext cx="4873679" cy="427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B963948-CCC6-5E1D-4184-4B76BC7200DE}"/>
              </a:ext>
            </a:extLst>
          </p:cNvPr>
          <p:cNvSpPr txBox="1"/>
          <p:nvPr/>
        </p:nvSpPr>
        <p:spPr>
          <a:xfrm>
            <a:off x="4936680" y="1188719"/>
            <a:ext cx="5099760" cy="1860402"/>
          </a:xfrm>
          <a:prstGeom prst="rect">
            <a:avLst/>
          </a:prstGeom>
          <a:noFill/>
          <a:ln w="0">
            <a:solidFill>
              <a:srgbClr val="000000"/>
            </a:solidFill>
            <a:prstDash val="solid"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אלג. “המפחית האחרון” –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Last Diminisher – </a:t>
            </a:r>
            <a:br>
              <a:rPr lang="en-US" sz="4000" b="0" i="0" u="none" strike="noStrike" kern="1200" cap="none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4000" b="0" i="0" u="none" strike="noStrike" kern="1200" cap="none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הוגו שטיינהאוס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1948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E9170D6-F0B9-BE61-02DC-93E271710866}"/>
              </a:ext>
            </a:extLst>
          </p:cNvPr>
          <p:cNvSpPr txBox="1"/>
          <p:nvPr/>
        </p:nvSpPr>
        <p:spPr>
          <a:xfrm>
            <a:off x="4937760" y="3291839"/>
            <a:ext cx="5029200" cy="427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0CC073-F9F4-5A1B-7045-97F6F6C1DA55}"/>
              </a:ext>
            </a:extLst>
          </p:cNvPr>
          <p:cNvSpPr txBox="1"/>
          <p:nvPr/>
        </p:nvSpPr>
        <p:spPr>
          <a:xfrm>
            <a:off x="4882320" y="3017520"/>
            <a:ext cx="5198400" cy="3811256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1" i="0" u="none" strike="noStrike" kern="1200" cap="none">
                <a:ln>
                  <a:noFill/>
                </a:ln>
                <a:solidFill>
                  <a:srgbClr val="00B05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עמי 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מסמן </a:t>
            </a:r>
            <a:r>
              <a:rPr lang="he-IL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Times New Roman" pitchFamily="18"/>
              </a:rPr>
              <a:t>1/</a:t>
            </a:r>
            <a:r>
              <a:rPr lang="he-IL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Times New Roman" pitchFamily="18"/>
              </a:rPr>
              <a:t>n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בעיניו.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אם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תמי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חושבת שזה יותר מדי - היא מפחיתה ל-</a:t>
            </a:r>
            <a:r>
              <a:rPr lang="he-IL" sz="36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Times New Roman" pitchFamily="18"/>
              </a:rPr>
              <a:t>1/</a:t>
            </a:r>
            <a:r>
              <a:rPr lang="he-IL" sz="36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Times New Roman" pitchFamily="18"/>
              </a:rPr>
              <a:t>n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 וכן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00B0F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רמי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וכו’.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האחרון שהפחית מקבל את החלק שסימן.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ממשיכים ברקורסיה.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0F2AF63-0095-E5E2-A98F-A8448355A292}"/>
              </a:ext>
            </a:extLst>
          </p:cNvPr>
          <p:cNvSpPr txBox="1"/>
          <p:nvPr/>
        </p:nvSpPr>
        <p:spPr>
          <a:xfrm>
            <a:off x="-91440" y="7772400"/>
            <a:ext cx="10149840" cy="5461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200" b="0" i="1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הרעיון: מכרז בין השחקנים: מי שמוכן לקבל הכי מעט – זוכה.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Class="entr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Class="entr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6" grpId="0"/>
      <p:bldP spid="27" grpId="0"/>
      <p:bldP spid="28" grpId="0"/>
      <p:bldP spid="36" grpI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4E7935BD-1E74-62E1-121E-54AD3D40805B}"/>
              </a:ext>
            </a:extLst>
          </p:cNvPr>
          <p:cNvSpPr/>
          <p:nvPr/>
        </p:nvSpPr>
        <p:spPr>
          <a:xfrm>
            <a:off x="4802040" y="1874160"/>
            <a:ext cx="5278680" cy="48420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46800" rIns="90000" bIns="46800" anchor="t" anchorCtr="0" compatLnSpc="1">
            <a:norm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2AECA4-3FD5-69DE-7EF7-944F01C866D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48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אלגוריתם המפחית האחרון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9B54F7-54FC-4609-3D03-E1227DF27A85}"/>
              </a:ext>
            </a:extLst>
          </p:cNvPr>
          <p:cNvSpPr txBox="1"/>
          <p:nvPr/>
        </p:nvSpPr>
        <p:spPr>
          <a:xfrm>
            <a:off x="5001840" y="1554479"/>
            <a:ext cx="4873679" cy="427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922D41-1302-FD28-C990-9191B9A046B9}"/>
              </a:ext>
            </a:extLst>
          </p:cNvPr>
          <p:cNvSpPr txBox="1"/>
          <p:nvPr/>
        </p:nvSpPr>
        <p:spPr>
          <a:xfrm>
            <a:off x="1097280" y="1006200"/>
            <a:ext cx="8869680" cy="64918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60143-8E47-5122-230F-0D29F8CD79B9}"/>
              </a:ext>
            </a:extLst>
          </p:cNvPr>
          <p:cNvSpPr txBox="1"/>
          <p:nvPr/>
        </p:nvSpPr>
        <p:spPr>
          <a:xfrm>
            <a:off x="113570" y="831915"/>
            <a:ext cx="9967055" cy="682810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1" i="0" u="none" strike="noStrike" kern="1200" cap="none" dirty="0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משפט</a:t>
            </a:r>
            <a:r>
              <a:rPr lang="he-IL" sz="4000" b="0" i="0" u="none" strike="noStrike" kern="1200" cap="none" dirty="0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אלגוריתם “המפחית האחרון” נותן  חלוקה פרופורציונלית - כל שחקן המשחק לפי הכללים מקבל לפחות </a:t>
            </a:r>
            <a:r>
              <a:rPr lang="en-US" sz="4000" dirty="0"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1/n</a:t>
            </a:r>
            <a:r>
              <a:rPr lang="he-IL" sz="4000" b="0" i="0" u="none" strike="noStrike" kern="1200" cap="none" dirty="0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מערך העוגה בעיניו.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1" i="0" u="none" strike="noStrike" kern="1200" cap="none" dirty="0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הוכחה</a:t>
            </a:r>
            <a:r>
              <a:rPr lang="he-IL" sz="4000" b="0" i="0" u="none" strike="noStrike" kern="1200" cap="none" dirty="0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 נניח שערך העוגה כולה הוא </a:t>
            </a:r>
            <a:r>
              <a:rPr lang="he-IL" sz="4000" b="0" i="1" u="none" strike="noStrike" kern="1200" cap="none" dirty="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n</a:t>
            </a:r>
            <a:r>
              <a:rPr lang="he-IL" sz="4000" b="0" i="0" u="none" strike="noStrike" kern="1200" cap="none" dirty="0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 נוכיח שכל שחקן מקבל חלק ששווה בעיניו לפחות 1. נוכיח באינדוקציה על </a:t>
            </a:r>
            <a:r>
              <a:rPr lang="he-IL" sz="4000" b="0" i="1" u="none" strike="noStrike" kern="1200" cap="none" dirty="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n</a:t>
            </a:r>
            <a:r>
              <a:rPr lang="he-IL" sz="4000" b="0" i="0" u="none" strike="noStrike" kern="1200" cap="none" dirty="0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 </a:t>
            </a:r>
            <a:br>
              <a:rPr lang="he-IL" sz="4000" b="0" i="0" u="none" strike="noStrike" kern="1200" cap="none" dirty="0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600" b="1" i="1" u="none" strike="noStrike" kern="1200" cap="none" dirty="0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בסיס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שחקן אחד מקבל </a:t>
            </a:r>
            <a:r>
              <a:rPr lang="he-IL" sz="3600" b="0" i="0" u="none" strike="noStrike" kern="1200" cap="none" dirty="0" err="1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הכל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 </a:t>
            </a:r>
            <a:br>
              <a:rPr lang="he-IL" sz="3600" b="0" i="0" u="none" strike="noStrike" kern="1200" cap="none" dirty="0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600" b="1" i="1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צעד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נניח ל-</a:t>
            </a:r>
            <a:r>
              <a:rPr lang="en-US" sz="3600" b="0" i="1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n-1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שחקנים. עכשיו יש </a:t>
            </a:r>
            <a:r>
              <a:rPr lang="he-IL" sz="3600" b="0" i="1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n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 אחד מקבל חלק ששווה בעיניו 1. נשארים </a:t>
            </a:r>
            <a:r>
              <a:rPr lang="en-US" sz="3600" i="1" dirty="0">
                <a:solidFill>
                  <a:srgbClr val="660066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n-1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שחקנים. עבורם, החלק שנמסר שווה לכל היותר 1. לכן, החלק שנשאר שווה בעיניהם לפחות </a:t>
            </a:r>
            <a:r>
              <a:rPr lang="en-US" sz="3600" i="1" dirty="0">
                <a:solidFill>
                  <a:srgbClr val="660066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n-1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 לפי הנחת האינדוקציה, כל אחד מקבל לפחות 1.    ***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6375170B-A632-AF76-EE12-006FEF5354F9}"/>
              </a:ext>
            </a:extLst>
          </p:cNvPr>
          <p:cNvSpPr/>
          <p:nvPr/>
        </p:nvSpPr>
        <p:spPr>
          <a:xfrm>
            <a:off x="4802040" y="1874160"/>
            <a:ext cx="5278680" cy="48420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46800" rIns="90000" bIns="46800" anchor="t" anchorCtr="0" compatLnSpc="1">
            <a:norm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16F626D-B1BC-06DD-9E8B-58D2D832525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48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אלגוריתם המפחית האחרון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6D49F4-3288-8EEE-F4E9-4532023164F0}"/>
              </a:ext>
            </a:extLst>
          </p:cNvPr>
          <p:cNvSpPr txBox="1"/>
          <p:nvPr/>
        </p:nvSpPr>
        <p:spPr>
          <a:xfrm>
            <a:off x="5001840" y="1554479"/>
            <a:ext cx="4873679" cy="427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FA07C0-9C4F-3599-52A8-E3BED0397B31}"/>
              </a:ext>
            </a:extLst>
          </p:cNvPr>
          <p:cNvSpPr txBox="1"/>
          <p:nvPr/>
        </p:nvSpPr>
        <p:spPr>
          <a:xfrm>
            <a:off x="1097280" y="1006200"/>
            <a:ext cx="8869680" cy="64918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995878-D782-95D3-5BEA-F6239E029503}"/>
              </a:ext>
            </a:extLst>
          </p:cNvPr>
          <p:cNvSpPr txBox="1"/>
          <p:nvPr/>
        </p:nvSpPr>
        <p:spPr>
          <a:xfrm>
            <a:off x="113664" y="1059840"/>
            <a:ext cx="9967055" cy="6585862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משפט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אלגוריתם “המפחית האחרון” משתמש ב-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O(n^2)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שאילתות.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הוכחה</a:t>
            </a: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 בכל סיבוב שחקן אחד יוצא – </a:t>
            </a:r>
            <a:r>
              <a:rPr lang="he-IL" sz="40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n</a:t>
            </a: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סיבובים.       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בכל סיבוב צריך לשאול כל שחקן שאילתה אחת.     </a:t>
            </a:r>
          </a:p>
          <a:p>
            <a:pPr lvl="0" algn="r" rtl="1" hangingPunct="0"/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סה”כ </a:t>
            </a:r>
            <a:r>
              <a:rPr lang="en-US" sz="4000">
                <a:solidFill>
                  <a:srgbClr val="0099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O(n^2)</a:t>
            </a: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שאילתות.    ***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he-IL" sz="4000" b="0" i="0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CE18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עבור כלכלנים – זה מספיק.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אבל מדעני-מחשב שואלים: </a:t>
            </a:r>
            <a:br>
              <a:rPr lang="he-IL" sz="40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40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    </a:t>
            </a:r>
            <a:r>
              <a:rPr lang="he-IL" sz="4000" b="0" i="1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האם יש אלגוריתם מהיר יותר?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0">
            <a:extLst>
              <a:ext uri="{FF2B5EF4-FFF2-40B4-BE49-F238E27FC236}">
                <a16:creationId xmlns:a16="http://schemas.microsoft.com/office/drawing/2014/main" id="{2318FB6A-DAE2-0B47-A1D3-E48D5FBB38FF}"/>
              </a:ext>
            </a:extLst>
          </p:cNvPr>
          <p:cNvSpPr/>
          <p:nvPr/>
        </p:nvSpPr>
        <p:spPr>
          <a:xfrm>
            <a:off x="435600" y="1844279"/>
            <a:ext cx="4366440" cy="523727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ECEDD1"/>
          </a:solidFill>
          <a:ln w="25560" cap="sq">
            <a:solidFill>
              <a:srgbClr val="6B766F"/>
            </a:solidFill>
            <a:prstDash val="solid"/>
            <a:miter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86FEA91-A296-3A74-335F-C16A86FCAEE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-91440" y="0"/>
            <a:ext cx="10172160" cy="114588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חלוקה פרופורציונלית מהירה</a:t>
            </a:r>
          </a:p>
        </p:txBody>
      </p:sp>
      <p:sp>
        <p:nvSpPr>
          <p:cNvPr id="4" name="Oval 7">
            <a:extLst>
              <a:ext uri="{FF2B5EF4-FFF2-40B4-BE49-F238E27FC236}">
                <a16:creationId xmlns:a16="http://schemas.microsoft.com/office/drawing/2014/main" id="{74DD0B77-0236-933D-C242-3611736BCD0F}"/>
              </a:ext>
            </a:extLst>
          </p:cNvPr>
          <p:cNvSpPr/>
          <p:nvPr/>
        </p:nvSpPr>
        <p:spPr>
          <a:xfrm>
            <a:off x="3769920" y="2589480"/>
            <a:ext cx="311040" cy="3171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5" name="Oval 13">
            <a:extLst>
              <a:ext uri="{FF2B5EF4-FFF2-40B4-BE49-F238E27FC236}">
                <a16:creationId xmlns:a16="http://schemas.microsoft.com/office/drawing/2014/main" id="{78EC8D24-26FF-8351-5FE3-648A2A515E06}"/>
              </a:ext>
            </a:extLst>
          </p:cNvPr>
          <p:cNvSpPr/>
          <p:nvPr/>
        </p:nvSpPr>
        <p:spPr>
          <a:xfrm>
            <a:off x="4080960" y="6478199"/>
            <a:ext cx="30996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6" name="Oval 14">
            <a:extLst>
              <a:ext uri="{FF2B5EF4-FFF2-40B4-BE49-F238E27FC236}">
                <a16:creationId xmlns:a16="http://schemas.microsoft.com/office/drawing/2014/main" id="{0BCA8D38-B495-3A31-FDAB-F2BCCCA26452}"/>
              </a:ext>
            </a:extLst>
          </p:cNvPr>
          <p:cNvSpPr/>
          <p:nvPr/>
        </p:nvSpPr>
        <p:spPr>
          <a:xfrm>
            <a:off x="4235400" y="1963440"/>
            <a:ext cx="31104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1965CF79-F8B5-B9E8-BAA8-43D88CF3909F}"/>
              </a:ext>
            </a:extLst>
          </p:cNvPr>
          <p:cNvSpPr/>
          <p:nvPr/>
        </p:nvSpPr>
        <p:spPr>
          <a:xfrm>
            <a:off x="754199" y="2122560"/>
            <a:ext cx="309600" cy="3168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8" name="Oval 16">
            <a:extLst>
              <a:ext uri="{FF2B5EF4-FFF2-40B4-BE49-F238E27FC236}">
                <a16:creationId xmlns:a16="http://schemas.microsoft.com/office/drawing/2014/main" id="{4DDB39C8-C069-33D1-8590-C74B3AF0CD1F}"/>
              </a:ext>
            </a:extLst>
          </p:cNvPr>
          <p:cNvSpPr/>
          <p:nvPr/>
        </p:nvSpPr>
        <p:spPr>
          <a:xfrm>
            <a:off x="2040479" y="3214440"/>
            <a:ext cx="30960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9" name="Oval 17">
            <a:extLst>
              <a:ext uri="{FF2B5EF4-FFF2-40B4-BE49-F238E27FC236}">
                <a16:creationId xmlns:a16="http://schemas.microsoft.com/office/drawing/2014/main" id="{5722C64D-3DCA-6313-3CDC-EEAB935DF919}"/>
              </a:ext>
            </a:extLst>
          </p:cNvPr>
          <p:cNvSpPr/>
          <p:nvPr/>
        </p:nvSpPr>
        <p:spPr>
          <a:xfrm>
            <a:off x="1027439" y="6319080"/>
            <a:ext cx="31104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0" name="Oval 18">
            <a:extLst>
              <a:ext uri="{FF2B5EF4-FFF2-40B4-BE49-F238E27FC236}">
                <a16:creationId xmlns:a16="http://schemas.microsoft.com/office/drawing/2014/main" id="{12A3DC72-A4D1-CE94-DCA3-AB6908506699}"/>
              </a:ext>
            </a:extLst>
          </p:cNvPr>
          <p:cNvSpPr/>
          <p:nvPr/>
        </p:nvSpPr>
        <p:spPr>
          <a:xfrm>
            <a:off x="1832040" y="5429520"/>
            <a:ext cx="414720" cy="1576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1" name="Oval 23">
            <a:extLst>
              <a:ext uri="{FF2B5EF4-FFF2-40B4-BE49-F238E27FC236}">
                <a16:creationId xmlns:a16="http://schemas.microsoft.com/office/drawing/2014/main" id="{67F63607-1DAA-F219-A545-66EC360B3834}"/>
              </a:ext>
            </a:extLst>
          </p:cNvPr>
          <p:cNvSpPr/>
          <p:nvPr/>
        </p:nvSpPr>
        <p:spPr>
          <a:xfrm>
            <a:off x="3195360" y="2423160"/>
            <a:ext cx="416880" cy="159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2" name="Oval 24">
            <a:extLst>
              <a:ext uri="{FF2B5EF4-FFF2-40B4-BE49-F238E27FC236}">
                <a16:creationId xmlns:a16="http://schemas.microsoft.com/office/drawing/2014/main" id="{D445F23B-4F95-6E50-8B89-6D28F8B11F26}"/>
              </a:ext>
            </a:extLst>
          </p:cNvPr>
          <p:cNvSpPr/>
          <p:nvPr/>
        </p:nvSpPr>
        <p:spPr>
          <a:xfrm>
            <a:off x="640440" y="3375360"/>
            <a:ext cx="414720" cy="159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3" name="Oval 25">
            <a:extLst>
              <a:ext uri="{FF2B5EF4-FFF2-40B4-BE49-F238E27FC236}">
                <a16:creationId xmlns:a16="http://schemas.microsoft.com/office/drawing/2014/main" id="{B1573713-6AF3-832D-15AD-B130B8C3F66C}"/>
              </a:ext>
            </a:extLst>
          </p:cNvPr>
          <p:cNvSpPr/>
          <p:nvPr/>
        </p:nvSpPr>
        <p:spPr>
          <a:xfrm>
            <a:off x="1163520" y="2712240"/>
            <a:ext cx="415080" cy="159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4" name="Oval 26">
            <a:extLst>
              <a:ext uri="{FF2B5EF4-FFF2-40B4-BE49-F238E27FC236}">
                <a16:creationId xmlns:a16="http://schemas.microsoft.com/office/drawing/2014/main" id="{BF378626-45F8-D1BF-EC31-4C1C5A4EC023}"/>
              </a:ext>
            </a:extLst>
          </p:cNvPr>
          <p:cNvSpPr/>
          <p:nvPr/>
        </p:nvSpPr>
        <p:spPr>
          <a:xfrm>
            <a:off x="2507760" y="6591600"/>
            <a:ext cx="416880" cy="159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5" name="Oval 27">
            <a:extLst>
              <a:ext uri="{FF2B5EF4-FFF2-40B4-BE49-F238E27FC236}">
                <a16:creationId xmlns:a16="http://schemas.microsoft.com/office/drawing/2014/main" id="{F7E199A6-41BD-A70C-3A5B-E009AF76A959}"/>
              </a:ext>
            </a:extLst>
          </p:cNvPr>
          <p:cNvSpPr/>
          <p:nvPr/>
        </p:nvSpPr>
        <p:spPr>
          <a:xfrm>
            <a:off x="3834360" y="5598000"/>
            <a:ext cx="416520" cy="1576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6" name="Straight Connector 5">
            <a:extLst>
              <a:ext uri="{FF2B5EF4-FFF2-40B4-BE49-F238E27FC236}">
                <a16:creationId xmlns:a16="http://schemas.microsoft.com/office/drawing/2014/main" id="{E24D5C2E-52DA-0B1B-9F06-F2238D6D0704}"/>
              </a:ext>
            </a:extLst>
          </p:cNvPr>
          <p:cNvSpPr/>
          <p:nvPr/>
        </p:nvSpPr>
        <p:spPr>
          <a:xfrm>
            <a:off x="3372480" y="1844279"/>
            <a:ext cx="0" cy="523692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14548" fill="none">
                <a:moveTo>
                  <a:pt x="0" y="0"/>
                </a:moveTo>
                <a:lnTo>
                  <a:pt x="0" y="14548"/>
                </a:lnTo>
              </a:path>
            </a:pathLst>
          </a:custGeom>
          <a:noFill/>
          <a:ln w="63360" cap="sq">
            <a:solidFill>
              <a:srgbClr val="00B0F0"/>
            </a:solidFill>
            <a:custDash>
              <a:ds d="100000" sp="100000"/>
            </a:custDash>
            <a:miter/>
          </a:ln>
        </p:spPr>
        <p:txBody>
          <a:bodyPr vert="horz" wrap="square" lIns="90000" tIns="46800" rIns="90000" bIns="46800" anchor="t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7" name="Oval 21">
            <a:extLst>
              <a:ext uri="{FF2B5EF4-FFF2-40B4-BE49-F238E27FC236}">
                <a16:creationId xmlns:a16="http://schemas.microsoft.com/office/drawing/2014/main" id="{EAA37725-0C10-B878-BF1E-9F3221926076}"/>
              </a:ext>
            </a:extLst>
          </p:cNvPr>
          <p:cNvSpPr/>
          <p:nvPr/>
        </p:nvSpPr>
        <p:spPr>
          <a:xfrm>
            <a:off x="4247279" y="2906640"/>
            <a:ext cx="155880" cy="4759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8" name="Oval 22">
            <a:extLst>
              <a:ext uri="{FF2B5EF4-FFF2-40B4-BE49-F238E27FC236}">
                <a16:creationId xmlns:a16="http://schemas.microsoft.com/office/drawing/2014/main" id="{EBDB6539-45B5-B058-A153-ECF1B1E26D9A}"/>
              </a:ext>
            </a:extLst>
          </p:cNvPr>
          <p:cNvSpPr/>
          <p:nvPr/>
        </p:nvSpPr>
        <p:spPr>
          <a:xfrm>
            <a:off x="3096000" y="3455640"/>
            <a:ext cx="155520" cy="474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9" name="Oval 28">
            <a:extLst>
              <a:ext uri="{FF2B5EF4-FFF2-40B4-BE49-F238E27FC236}">
                <a16:creationId xmlns:a16="http://schemas.microsoft.com/office/drawing/2014/main" id="{CA2F2B1D-5732-F07B-530E-910A9F9B41F2}"/>
              </a:ext>
            </a:extLst>
          </p:cNvPr>
          <p:cNvSpPr/>
          <p:nvPr/>
        </p:nvSpPr>
        <p:spPr>
          <a:xfrm>
            <a:off x="1422719" y="5121719"/>
            <a:ext cx="155880" cy="4762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0" name="Oval 29">
            <a:extLst>
              <a:ext uri="{FF2B5EF4-FFF2-40B4-BE49-F238E27FC236}">
                <a16:creationId xmlns:a16="http://schemas.microsoft.com/office/drawing/2014/main" id="{31C4E98F-E199-4D75-973D-D5E7D636BC35}"/>
              </a:ext>
            </a:extLst>
          </p:cNvPr>
          <p:cNvSpPr/>
          <p:nvPr/>
        </p:nvSpPr>
        <p:spPr>
          <a:xfrm>
            <a:off x="3600000" y="4953960"/>
            <a:ext cx="155520" cy="4759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1" name="Oval 30">
            <a:extLst>
              <a:ext uri="{FF2B5EF4-FFF2-40B4-BE49-F238E27FC236}">
                <a16:creationId xmlns:a16="http://schemas.microsoft.com/office/drawing/2014/main" id="{A203E6F9-FDE0-4453-CEF9-48AAF5F91B1F}"/>
              </a:ext>
            </a:extLst>
          </p:cNvPr>
          <p:cNvSpPr/>
          <p:nvPr/>
        </p:nvSpPr>
        <p:spPr>
          <a:xfrm>
            <a:off x="1345680" y="2043719"/>
            <a:ext cx="155880" cy="4759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2" name="Oval 31">
            <a:extLst>
              <a:ext uri="{FF2B5EF4-FFF2-40B4-BE49-F238E27FC236}">
                <a16:creationId xmlns:a16="http://schemas.microsoft.com/office/drawing/2014/main" id="{A1873C1B-65EB-9BD1-CE4E-B0710859C153}"/>
              </a:ext>
            </a:extLst>
          </p:cNvPr>
          <p:cNvSpPr/>
          <p:nvPr/>
        </p:nvSpPr>
        <p:spPr>
          <a:xfrm>
            <a:off x="2791440" y="5860079"/>
            <a:ext cx="155520" cy="4762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3" name="Straight Connector 33">
            <a:extLst>
              <a:ext uri="{FF2B5EF4-FFF2-40B4-BE49-F238E27FC236}">
                <a16:creationId xmlns:a16="http://schemas.microsoft.com/office/drawing/2014/main" id="{55320D8E-BC82-FE5E-16D5-B8CCACDF9248}"/>
              </a:ext>
            </a:extLst>
          </p:cNvPr>
          <p:cNvSpPr/>
          <p:nvPr/>
        </p:nvSpPr>
        <p:spPr>
          <a:xfrm>
            <a:off x="2403000" y="1818000"/>
            <a:ext cx="0" cy="523692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14548" fill="none">
                <a:moveTo>
                  <a:pt x="0" y="0"/>
                </a:moveTo>
                <a:lnTo>
                  <a:pt x="0" y="14548"/>
                </a:lnTo>
              </a:path>
            </a:pathLst>
          </a:custGeom>
          <a:noFill/>
          <a:ln w="63360" cap="sq">
            <a:solidFill>
              <a:srgbClr val="00B050"/>
            </a:solidFill>
            <a:custDash>
              <a:ds d="100000" sp="100000"/>
            </a:custDash>
            <a:miter/>
          </a:ln>
        </p:spPr>
        <p:txBody>
          <a:bodyPr vert="horz" wrap="square" lIns="90000" tIns="46800" rIns="90000" bIns="46800" anchor="t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4" name="Oval 34">
            <a:extLst>
              <a:ext uri="{FF2B5EF4-FFF2-40B4-BE49-F238E27FC236}">
                <a16:creationId xmlns:a16="http://schemas.microsoft.com/office/drawing/2014/main" id="{BC16C347-3769-C743-FBEE-A7BFE6064085}"/>
              </a:ext>
            </a:extLst>
          </p:cNvPr>
          <p:cNvSpPr/>
          <p:nvPr/>
        </p:nvSpPr>
        <p:spPr>
          <a:xfrm>
            <a:off x="535320" y="2724480"/>
            <a:ext cx="311760" cy="3168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030A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5" name="Oval 35">
            <a:extLst>
              <a:ext uri="{FF2B5EF4-FFF2-40B4-BE49-F238E27FC236}">
                <a16:creationId xmlns:a16="http://schemas.microsoft.com/office/drawing/2014/main" id="{C16BB86F-A778-5796-B414-0271FC2E402E}"/>
              </a:ext>
            </a:extLst>
          </p:cNvPr>
          <p:cNvSpPr/>
          <p:nvPr/>
        </p:nvSpPr>
        <p:spPr>
          <a:xfrm>
            <a:off x="754199" y="3959640"/>
            <a:ext cx="311760" cy="3168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030A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6" name="Oval 39">
            <a:extLst>
              <a:ext uri="{FF2B5EF4-FFF2-40B4-BE49-F238E27FC236}">
                <a16:creationId xmlns:a16="http://schemas.microsoft.com/office/drawing/2014/main" id="{E8B65AC2-F522-71A1-B480-8CEE37196CC8}"/>
              </a:ext>
            </a:extLst>
          </p:cNvPr>
          <p:cNvSpPr/>
          <p:nvPr/>
        </p:nvSpPr>
        <p:spPr>
          <a:xfrm>
            <a:off x="2559960" y="4637160"/>
            <a:ext cx="311760" cy="3168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030A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7" name="Oval 36">
            <a:extLst>
              <a:ext uri="{FF2B5EF4-FFF2-40B4-BE49-F238E27FC236}">
                <a16:creationId xmlns:a16="http://schemas.microsoft.com/office/drawing/2014/main" id="{2EC097D8-E2F6-B199-951E-A60A8F6F0E9D}"/>
              </a:ext>
            </a:extLst>
          </p:cNvPr>
          <p:cNvSpPr/>
          <p:nvPr/>
        </p:nvSpPr>
        <p:spPr>
          <a:xfrm>
            <a:off x="909720" y="5034600"/>
            <a:ext cx="311760" cy="3168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030A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8" name="Oval 37">
            <a:extLst>
              <a:ext uri="{FF2B5EF4-FFF2-40B4-BE49-F238E27FC236}">
                <a16:creationId xmlns:a16="http://schemas.microsoft.com/office/drawing/2014/main" id="{249FACF2-D9D0-43B6-E310-B36AFC6B4C79}"/>
              </a:ext>
            </a:extLst>
          </p:cNvPr>
          <p:cNvSpPr/>
          <p:nvPr/>
        </p:nvSpPr>
        <p:spPr>
          <a:xfrm>
            <a:off x="1781280" y="2381760"/>
            <a:ext cx="311760" cy="3168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030A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9" name="Oval 38">
            <a:extLst>
              <a:ext uri="{FF2B5EF4-FFF2-40B4-BE49-F238E27FC236}">
                <a16:creationId xmlns:a16="http://schemas.microsoft.com/office/drawing/2014/main" id="{E4A9216B-87A9-6DBC-7518-D85BF076BC86}"/>
              </a:ext>
            </a:extLst>
          </p:cNvPr>
          <p:cNvSpPr/>
          <p:nvPr/>
        </p:nvSpPr>
        <p:spPr>
          <a:xfrm>
            <a:off x="1882800" y="3816720"/>
            <a:ext cx="311760" cy="3168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030A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30" name="Straight Connector 32">
            <a:extLst>
              <a:ext uri="{FF2B5EF4-FFF2-40B4-BE49-F238E27FC236}">
                <a16:creationId xmlns:a16="http://schemas.microsoft.com/office/drawing/2014/main" id="{C23F2F6B-A7F2-9442-8FE9-569F80238F15}"/>
              </a:ext>
            </a:extLst>
          </p:cNvPr>
          <p:cNvSpPr/>
          <p:nvPr/>
        </p:nvSpPr>
        <p:spPr>
          <a:xfrm>
            <a:off x="3034440" y="1852919"/>
            <a:ext cx="0" cy="523692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14548" fill="none">
                <a:moveTo>
                  <a:pt x="0" y="0"/>
                </a:moveTo>
                <a:lnTo>
                  <a:pt x="0" y="14548"/>
                </a:lnTo>
              </a:path>
            </a:pathLst>
          </a:custGeom>
          <a:noFill/>
          <a:ln w="63360" cap="sq">
            <a:solidFill>
              <a:srgbClr val="FF0000"/>
            </a:solidFill>
            <a:custDash>
              <a:ds d="100000" sp="100000"/>
            </a:custDash>
            <a:miter/>
          </a:ln>
        </p:spPr>
        <p:txBody>
          <a:bodyPr vert="horz" wrap="square" lIns="90000" tIns="46800" rIns="90000" bIns="46800" anchor="t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31" name="Straight Connector 40">
            <a:extLst>
              <a:ext uri="{FF2B5EF4-FFF2-40B4-BE49-F238E27FC236}">
                <a16:creationId xmlns:a16="http://schemas.microsoft.com/office/drawing/2014/main" id="{8286FE4E-FD62-D952-DA35-7736EA6478A5}"/>
              </a:ext>
            </a:extLst>
          </p:cNvPr>
          <p:cNvSpPr/>
          <p:nvPr/>
        </p:nvSpPr>
        <p:spPr>
          <a:xfrm>
            <a:off x="1700999" y="1844279"/>
            <a:ext cx="0" cy="523692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14548" fill="none">
                <a:moveTo>
                  <a:pt x="0" y="0"/>
                </a:moveTo>
                <a:lnTo>
                  <a:pt x="0" y="14548"/>
                </a:lnTo>
              </a:path>
            </a:pathLst>
          </a:custGeom>
          <a:noFill/>
          <a:ln w="63360" cap="sq">
            <a:solidFill>
              <a:srgbClr val="7030A0"/>
            </a:solidFill>
            <a:custDash>
              <a:ds d="100000" sp="100000"/>
            </a:custDash>
            <a:miter/>
          </a:ln>
        </p:spPr>
        <p:txBody>
          <a:bodyPr vert="horz" wrap="square" lIns="90000" tIns="46800" rIns="90000" bIns="46800" anchor="t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32" name="Straight Connector 42">
            <a:extLst>
              <a:ext uri="{FF2B5EF4-FFF2-40B4-BE49-F238E27FC236}">
                <a16:creationId xmlns:a16="http://schemas.microsoft.com/office/drawing/2014/main" id="{1949CB1E-C1EB-1364-ADE3-B0073CD6ABE8}"/>
              </a:ext>
            </a:extLst>
          </p:cNvPr>
          <p:cNvSpPr/>
          <p:nvPr/>
        </p:nvSpPr>
        <p:spPr>
          <a:xfrm>
            <a:off x="2694960" y="1844279"/>
            <a:ext cx="0" cy="523692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h="14548" fill="none">
                <a:moveTo>
                  <a:pt x="0" y="0"/>
                </a:moveTo>
                <a:lnTo>
                  <a:pt x="0" y="14548"/>
                </a:lnTo>
              </a:path>
            </a:pathLst>
          </a:custGeom>
          <a:noFill/>
          <a:ln w="63360" cap="sq">
            <a:solidFill>
              <a:srgbClr val="000000"/>
            </a:solidFill>
            <a:prstDash val="solid"/>
            <a:miter/>
          </a:ln>
        </p:spPr>
        <p:txBody>
          <a:bodyPr vert="horz" wrap="square" lIns="90000" tIns="46800" rIns="90000" bIns="46800" anchor="t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pic>
        <p:nvPicPr>
          <p:cNvPr id="33" name="Picture 2" descr="F:\Dropbox\papers\BISFAI\z__even.jpg">
            <a:extLst>
              <a:ext uri="{FF2B5EF4-FFF2-40B4-BE49-F238E27FC236}">
                <a16:creationId xmlns:a16="http://schemas.microsoft.com/office/drawing/2014/main" id="{0E6EAD25-AEA1-B425-A55F-9ABD6CE38176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74960" y="887040"/>
            <a:ext cx="653040" cy="9309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Picture 3" descr="F:\Dropbox\papers\BISFAI\paz.jpg">
            <a:extLst>
              <a:ext uri="{FF2B5EF4-FFF2-40B4-BE49-F238E27FC236}">
                <a16:creationId xmlns:a16="http://schemas.microsoft.com/office/drawing/2014/main" id="{615CAAD8-B7EF-151D-CB48-35DBD33E4C7A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047959" y="904680"/>
            <a:ext cx="626760" cy="896040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TextBox 43">
            <a:extLst>
              <a:ext uri="{FF2B5EF4-FFF2-40B4-BE49-F238E27FC236}">
                <a16:creationId xmlns:a16="http://schemas.microsoft.com/office/drawing/2014/main" id="{1F9EB2F4-FE7A-4089-CA18-66CF91E0CFC6}"/>
              </a:ext>
            </a:extLst>
          </p:cNvPr>
          <p:cNvSpPr/>
          <p:nvPr/>
        </p:nvSpPr>
        <p:spPr>
          <a:xfrm>
            <a:off x="3397320" y="3818160"/>
            <a:ext cx="1088640" cy="7034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00B0F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רמי</a:t>
            </a:r>
          </a:p>
        </p:txBody>
      </p:sp>
      <p:sp>
        <p:nvSpPr>
          <p:cNvPr id="36" name="TextBox 44">
            <a:extLst>
              <a:ext uri="{FF2B5EF4-FFF2-40B4-BE49-F238E27FC236}">
                <a16:creationId xmlns:a16="http://schemas.microsoft.com/office/drawing/2014/main" id="{15B8D9AA-FA88-805A-E083-A7C30CD54730}"/>
              </a:ext>
            </a:extLst>
          </p:cNvPr>
          <p:cNvSpPr/>
          <p:nvPr/>
        </p:nvSpPr>
        <p:spPr>
          <a:xfrm>
            <a:off x="3358800" y="4423679"/>
            <a:ext cx="1172520" cy="7034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תמי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E289B8BD-80FE-A8E4-CC08-9D195A1BCD30}"/>
              </a:ext>
            </a:extLst>
          </p:cNvPr>
          <p:cNvSpPr/>
          <p:nvPr/>
        </p:nvSpPr>
        <p:spPr>
          <a:xfrm>
            <a:off x="752040" y="3534840"/>
            <a:ext cx="1135800" cy="7034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00B05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עמי</a:t>
            </a:r>
          </a:p>
        </p:txBody>
      </p:sp>
      <p:sp>
        <p:nvSpPr>
          <p:cNvPr id="38" name="TextBox 46">
            <a:extLst>
              <a:ext uri="{FF2B5EF4-FFF2-40B4-BE49-F238E27FC236}">
                <a16:creationId xmlns:a16="http://schemas.microsoft.com/office/drawing/2014/main" id="{EF24C128-8639-BA17-F2DC-0E0208541918}"/>
              </a:ext>
            </a:extLst>
          </p:cNvPr>
          <p:cNvSpPr/>
          <p:nvPr/>
        </p:nvSpPr>
        <p:spPr>
          <a:xfrm>
            <a:off x="722520" y="4107240"/>
            <a:ext cx="1247040" cy="7034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7030A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צומי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CF6D2B-7B81-C7C3-CE63-C5FD9DF18E95}"/>
              </a:ext>
            </a:extLst>
          </p:cNvPr>
          <p:cNvSpPr txBox="1"/>
          <p:nvPr/>
        </p:nvSpPr>
        <p:spPr>
          <a:xfrm>
            <a:off x="4758838" y="2997720"/>
            <a:ext cx="5391001" cy="415353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1">
              <a:lnSpc>
                <a:spcPct val="100000"/>
              </a:lnSpc>
              <a:spcBef>
                <a:spcPts val="899"/>
              </a:spcBef>
              <a:spcAft>
                <a:spcPts val="0"/>
              </a:spcAft>
              <a:buClr>
                <a:srgbClr val="93A299"/>
              </a:buClr>
              <a:buSzPct val="100000"/>
              <a:buFont typeface="Arial" pitchFamily="34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כל שחקן מחלק לשני חלקים בשווי 1/2</a:t>
            </a:r>
            <a:r>
              <a:rPr lang="he-IL" sz="3600"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 ב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עיניו.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899"/>
              </a:spcBef>
              <a:spcAft>
                <a:spcPts val="0"/>
              </a:spcAft>
              <a:buClr>
                <a:srgbClr val="93A299"/>
              </a:buClr>
              <a:buSzPct val="100000"/>
              <a:buFont typeface="Arial" pitchFamily="34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חותכים את העוגה בחציון של הקוים.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899"/>
              </a:spcBef>
              <a:spcAft>
                <a:spcPts val="0"/>
              </a:spcAft>
              <a:buClr>
                <a:srgbClr val="93A299"/>
              </a:buClr>
              <a:buSzPct val="100000"/>
              <a:buFont typeface="Arial" pitchFamily="34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שולחים כל שחקן לחצי שמכיל את הקו שלו.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899"/>
              </a:spcBef>
              <a:spcAft>
                <a:spcPts val="0"/>
              </a:spcAft>
              <a:buClr>
                <a:srgbClr val="93A299"/>
              </a:buClr>
              <a:buSzPct val="100000"/>
              <a:buFont typeface="Arial" pitchFamily="34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מחלקים כל חצי ברקורסיה.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272772-55E5-D529-6212-DD451CD1B8B7}"/>
              </a:ext>
            </a:extLst>
          </p:cNvPr>
          <p:cNvSpPr txBox="1"/>
          <p:nvPr/>
        </p:nvSpPr>
        <p:spPr>
          <a:xfrm>
            <a:off x="4802040" y="1188719"/>
            <a:ext cx="5234400" cy="1807919"/>
          </a:xfrm>
          <a:prstGeom prst="rect">
            <a:avLst/>
          </a:prstGeom>
          <a:noFill/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אלגוריתם אבן-פז – 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en-US" sz="3600" b="0" i="0" u="none" strike="noStrike" kern="1200" cap="none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Even-Paz -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600" b="0" i="0" u="none" strike="noStrike" kern="1200" cap="none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שמעון אבן ועזריה פז,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84’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Class="exit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0">
            <a:extLst>
              <a:ext uri="{FF2B5EF4-FFF2-40B4-BE49-F238E27FC236}">
                <a16:creationId xmlns:a16="http://schemas.microsoft.com/office/drawing/2014/main" id="{816E0219-47A8-8EED-3C06-E2C6824C8D1D}"/>
              </a:ext>
            </a:extLst>
          </p:cNvPr>
          <p:cNvSpPr/>
          <p:nvPr/>
        </p:nvSpPr>
        <p:spPr>
          <a:xfrm>
            <a:off x="435600" y="1844279"/>
            <a:ext cx="4366440" cy="523727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ECEDD1"/>
          </a:solidFill>
          <a:ln w="25560" cap="sq">
            <a:solidFill>
              <a:srgbClr val="6B766F"/>
            </a:solidFill>
            <a:prstDash val="solid"/>
            <a:miter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D73EED-9914-758E-8AE4-48F9F6DDCD2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73080" y="0"/>
            <a:ext cx="9107640" cy="114588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אלגוריתם אבן-פז</a:t>
            </a:r>
          </a:p>
        </p:txBody>
      </p:sp>
      <p:sp>
        <p:nvSpPr>
          <p:cNvPr id="4" name="Oval 7">
            <a:extLst>
              <a:ext uri="{FF2B5EF4-FFF2-40B4-BE49-F238E27FC236}">
                <a16:creationId xmlns:a16="http://schemas.microsoft.com/office/drawing/2014/main" id="{BC71D3C0-1235-7D51-BD23-B252015A950A}"/>
              </a:ext>
            </a:extLst>
          </p:cNvPr>
          <p:cNvSpPr/>
          <p:nvPr/>
        </p:nvSpPr>
        <p:spPr>
          <a:xfrm>
            <a:off x="3769920" y="2589480"/>
            <a:ext cx="311040" cy="3171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5" name="Oval 13">
            <a:extLst>
              <a:ext uri="{FF2B5EF4-FFF2-40B4-BE49-F238E27FC236}">
                <a16:creationId xmlns:a16="http://schemas.microsoft.com/office/drawing/2014/main" id="{56DF9E8E-BBE5-A506-9345-63EE749B5F22}"/>
              </a:ext>
            </a:extLst>
          </p:cNvPr>
          <p:cNvSpPr/>
          <p:nvPr/>
        </p:nvSpPr>
        <p:spPr>
          <a:xfrm>
            <a:off x="4080960" y="6478199"/>
            <a:ext cx="30996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6" name="Oval 14">
            <a:extLst>
              <a:ext uri="{FF2B5EF4-FFF2-40B4-BE49-F238E27FC236}">
                <a16:creationId xmlns:a16="http://schemas.microsoft.com/office/drawing/2014/main" id="{1D5067C3-814F-D4D4-7BD7-1089E341CB1B}"/>
              </a:ext>
            </a:extLst>
          </p:cNvPr>
          <p:cNvSpPr/>
          <p:nvPr/>
        </p:nvSpPr>
        <p:spPr>
          <a:xfrm>
            <a:off x="4235400" y="1963440"/>
            <a:ext cx="31104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8849C57F-82AA-B097-7164-C4E57812073F}"/>
              </a:ext>
            </a:extLst>
          </p:cNvPr>
          <p:cNvSpPr/>
          <p:nvPr/>
        </p:nvSpPr>
        <p:spPr>
          <a:xfrm>
            <a:off x="754199" y="2122560"/>
            <a:ext cx="309600" cy="3168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8" name="Oval 16">
            <a:extLst>
              <a:ext uri="{FF2B5EF4-FFF2-40B4-BE49-F238E27FC236}">
                <a16:creationId xmlns:a16="http://schemas.microsoft.com/office/drawing/2014/main" id="{B8393777-8B52-79FC-C1DD-6497F11A5975}"/>
              </a:ext>
            </a:extLst>
          </p:cNvPr>
          <p:cNvSpPr/>
          <p:nvPr/>
        </p:nvSpPr>
        <p:spPr>
          <a:xfrm>
            <a:off x="2040479" y="3214440"/>
            <a:ext cx="30960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9" name="Oval 17">
            <a:extLst>
              <a:ext uri="{FF2B5EF4-FFF2-40B4-BE49-F238E27FC236}">
                <a16:creationId xmlns:a16="http://schemas.microsoft.com/office/drawing/2014/main" id="{2A6E6146-E752-7EA5-D8B6-C502D11B91FA}"/>
              </a:ext>
            </a:extLst>
          </p:cNvPr>
          <p:cNvSpPr/>
          <p:nvPr/>
        </p:nvSpPr>
        <p:spPr>
          <a:xfrm>
            <a:off x="1027439" y="6319080"/>
            <a:ext cx="31104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0" name="Oval 18">
            <a:extLst>
              <a:ext uri="{FF2B5EF4-FFF2-40B4-BE49-F238E27FC236}">
                <a16:creationId xmlns:a16="http://schemas.microsoft.com/office/drawing/2014/main" id="{E30B7FC5-00EA-71D2-BB3D-78FD043B3CBF}"/>
              </a:ext>
            </a:extLst>
          </p:cNvPr>
          <p:cNvSpPr/>
          <p:nvPr/>
        </p:nvSpPr>
        <p:spPr>
          <a:xfrm>
            <a:off x="1832040" y="5429520"/>
            <a:ext cx="414720" cy="1576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1" name="Oval 23">
            <a:extLst>
              <a:ext uri="{FF2B5EF4-FFF2-40B4-BE49-F238E27FC236}">
                <a16:creationId xmlns:a16="http://schemas.microsoft.com/office/drawing/2014/main" id="{8BF09DFB-6578-62BA-0031-9E0AEF9BEEA3}"/>
              </a:ext>
            </a:extLst>
          </p:cNvPr>
          <p:cNvSpPr/>
          <p:nvPr/>
        </p:nvSpPr>
        <p:spPr>
          <a:xfrm>
            <a:off x="3195360" y="2423160"/>
            <a:ext cx="416880" cy="159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2" name="Oval 24">
            <a:extLst>
              <a:ext uri="{FF2B5EF4-FFF2-40B4-BE49-F238E27FC236}">
                <a16:creationId xmlns:a16="http://schemas.microsoft.com/office/drawing/2014/main" id="{C6D3AEE5-4EFA-3B2B-9D48-4401F3D03D8E}"/>
              </a:ext>
            </a:extLst>
          </p:cNvPr>
          <p:cNvSpPr/>
          <p:nvPr/>
        </p:nvSpPr>
        <p:spPr>
          <a:xfrm>
            <a:off x="640440" y="3375360"/>
            <a:ext cx="414720" cy="159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3" name="Oval 25">
            <a:extLst>
              <a:ext uri="{FF2B5EF4-FFF2-40B4-BE49-F238E27FC236}">
                <a16:creationId xmlns:a16="http://schemas.microsoft.com/office/drawing/2014/main" id="{E02CC9F4-4E10-BBE5-09B6-47ED5D73C948}"/>
              </a:ext>
            </a:extLst>
          </p:cNvPr>
          <p:cNvSpPr/>
          <p:nvPr/>
        </p:nvSpPr>
        <p:spPr>
          <a:xfrm>
            <a:off x="1163520" y="2712240"/>
            <a:ext cx="415080" cy="159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4" name="Oval 26">
            <a:extLst>
              <a:ext uri="{FF2B5EF4-FFF2-40B4-BE49-F238E27FC236}">
                <a16:creationId xmlns:a16="http://schemas.microsoft.com/office/drawing/2014/main" id="{874AF145-A9BE-ADE3-F3E1-0EC60FC29A45}"/>
              </a:ext>
            </a:extLst>
          </p:cNvPr>
          <p:cNvSpPr/>
          <p:nvPr/>
        </p:nvSpPr>
        <p:spPr>
          <a:xfrm>
            <a:off x="2507760" y="6591600"/>
            <a:ext cx="416880" cy="159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5" name="Oval 27">
            <a:extLst>
              <a:ext uri="{FF2B5EF4-FFF2-40B4-BE49-F238E27FC236}">
                <a16:creationId xmlns:a16="http://schemas.microsoft.com/office/drawing/2014/main" id="{5EC565C3-3FD1-2D83-23F2-3E2795342287}"/>
              </a:ext>
            </a:extLst>
          </p:cNvPr>
          <p:cNvSpPr/>
          <p:nvPr/>
        </p:nvSpPr>
        <p:spPr>
          <a:xfrm>
            <a:off x="3834360" y="5598000"/>
            <a:ext cx="416520" cy="1576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6" name="Straight Connector 5">
            <a:extLst>
              <a:ext uri="{FF2B5EF4-FFF2-40B4-BE49-F238E27FC236}">
                <a16:creationId xmlns:a16="http://schemas.microsoft.com/office/drawing/2014/main" id="{79107A06-7634-6AAE-DD1C-462E72130B03}"/>
              </a:ext>
            </a:extLst>
          </p:cNvPr>
          <p:cNvSpPr/>
          <p:nvPr/>
        </p:nvSpPr>
        <p:spPr>
          <a:xfrm>
            <a:off x="3372480" y="1844279"/>
            <a:ext cx="0" cy="5237281"/>
          </a:xfrm>
          <a:prstGeom prst="line">
            <a:avLst/>
          </a:prstGeom>
          <a:noFill/>
          <a:ln w="63360" cap="sq">
            <a:solidFill>
              <a:srgbClr val="00B0F0"/>
            </a:solidFill>
            <a:custDash>
              <a:ds d="100000" sp="100000"/>
            </a:custDash>
            <a:miter/>
          </a:ln>
        </p:spPr>
        <p:txBody>
          <a:bodyPr vert="horz" wrap="square" lIns="90000" tIns="46800" rIns="90000" bIns="46800" anchor="t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7" name="Oval 21">
            <a:extLst>
              <a:ext uri="{FF2B5EF4-FFF2-40B4-BE49-F238E27FC236}">
                <a16:creationId xmlns:a16="http://schemas.microsoft.com/office/drawing/2014/main" id="{A987C5F3-821D-4FD7-105E-4114B5B50F1B}"/>
              </a:ext>
            </a:extLst>
          </p:cNvPr>
          <p:cNvSpPr/>
          <p:nvPr/>
        </p:nvSpPr>
        <p:spPr>
          <a:xfrm>
            <a:off x="4247279" y="2906640"/>
            <a:ext cx="155880" cy="4759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8" name="Oval 22">
            <a:extLst>
              <a:ext uri="{FF2B5EF4-FFF2-40B4-BE49-F238E27FC236}">
                <a16:creationId xmlns:a16="http://schemas.microsoft.com/office/drawing/2014/main" id="{F2F4187A-AE4F-039F-8ECF-51627DB09E1D}"/>
              </a:ext>
            </a:extLst>
          </p:cNvPr>
          <p:cNvSpPr/>
          <p:nvPr/>
        </p:nvSpPr>
        <p:spPr>
          <a:xfrm>
            <a:off x="3096000" y="3455640"/>
            <a:ext cx="155520" cy="474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9" name="Oval 28">
            <a:extLst>
              <a:ext uri="{FF2B5EF4-FFF2-40B4-BE49-F238E27FC236}">
                <a16:creationId xmlns:a16="http://schemas.microsoft.com/office/drawing/2014/main" id="{EE097771-F081-52FB-6E72-A5164ED3835B}"/>
              </a:ext>
            </a:extLst>
          </p:cNvPr>
          <p:cNvSpPr/>
          <p:nvPr/>
        </p:nvSpPr>
        <p:spPr>
          <a:xfrm>
            <a:off x="1422719" y="5121719"/>
            <a:ext cx="155880" cy="4762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0" name="Oval 29">
            <a:extLst>
              <a:ext uri="{FF2B5EF4-FFF2-40B4-BE49-F238E27FC236}">
                <a16:creationId xmlns:a16="http://schemas.microsoft.com/office/drawing/2014/main" id="{E850D268-BA4A-2E8D-0DA6-61433F7DD443}"/>
              </a:ext>
            </a:extLst>
          </p:cNvPr>
          <p:cNvSpPr/>
          <p:nvPr/>
        </p:nvSpPr>
        <p:spPr>
          <a:xfrm>
            <a:off x="3600000" y="4953960"/>
            <a:ext cx="155520" cy="4759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1" name="Oval 30">
            <a:extLst>
              <a:ext uri="{FF2B5EF4-FFF2-40B4-BE49-F238E27FC236}">
                <a16:creationId xmlns:a16="http://schemas.microsoft.com/office/drawing/2014/main" id="{520D074B-5693-2D26-CC59-656BA31D4F44}"/>
              </a:ext>
            </a:extLst>
          </p:cNvPr>
          <p:cNvSpPr/>
          <p:nvPr/>
        </p:nvSpPr>
        <p:spPr>
          <a:xfrm>
            <a:off x="1345680" y="2043719"/>
            <a:ext cx="155880" cy="4759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2" name="Oval 31">
            <a:extLst>
              <a:ext uri="{FF2B5EF4-FFF2-40B4-BE49-F238E27FC236}">
                <a16:creationId xmlns:a16="http://schemas.microsoft.com/office/drawing/2014/main" id="{4E052A53-59D9-708B-5E5D-252F3536D4D2}"/>
              </a:ext>
            </a:extLst>
          </p:cNvPr>
          <p:cNvSpPr/>
          <p:nvPr/>
        </p:nvSpPr>
        <p:spPr>
          <a:xfrm>
            <a:off x="2791440" y="5860079"/>
            <a:ext cx="155520" cy="4762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3" name="Straight Connector 33">
            <a:extLst>
              <a:ext uri="{FF2B5EF4-FFF2-40B4-BE49-F238E27FC236}">
                <a16:creationId xmlns:a16="http://schemas.microsoft.com/office/drawing/2014/main" id="{DFB6DECE-B383-97C9-3A1A-D78B561A556C}"/>
              </a:ext>
            </a:extLst>
          </p:cNvPr>
          <p:cNvSpPr/>
          <p:nvPr/>
        </p:nvSpPr>
        <p:spPr>
          <a:xfrm>
            <a:off x="2403000" y="1818000"/>
            <a:ext cx="0" cy="5237280"/>
          </a:xfrm>
          <a:prstGeom prst="line">
            <a:avLst/>
          </a:prstGeom>
          <a:noFill/>
          <a:ln w="63360" cap="sq">
            <a:solidFill>
              <a:srgbClr val="00B050"/>
            </a:solidFill>
            <a:custDash>
              <a:ds d="100000" sp="100000"/>
            </a:custDash>
            <a:miter/>
          </a:ln>
        </p:spPr>
        <p:txBody>
          <a:bodyPr vert="horz" wrap="square" lIns="90000" tIns="46800" rIns="90000" bIns="46800" anchor="t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4" name="Oval 34">
            <a:extLst>
              <a:ext uri="{FF2B5EF4-FFF2-40B4-BE49-F238E27FC236}">
                <a16:creationId xmlns:a16="http://schemas.microsoft.com/office/drawing/2014/main" id="{25715EC6-7068-32FC-D3DA-5E3B7F1433D5}"/>
              </a:ext>
            </a:extLst>
          </p:cNvPr>
          <p:cNvSpPr/>
          <p:nvPr/>
        </p:nvSpPr>
        <p:spPr>
          <a:xfrm>
            <a:off x="535320" y="2724480"/>
            <a:ext cx="311760" cy="3168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030A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5" name="Oval 35">
            <a:extLst>
              <a:ext uri="{FF2B5EF4-FFF2-40B4-BE49-F238E27FC236}">
                <a16:creationId xmlns:a16="http://schemas.microsoft.com/office/drawing/2014/main" id="{BB37C864-7D6F-8605-3995-7E4A34CEE811}"/>
              </a:ext>
            </a:extLst>
          </p:cNvPr>
          <p:cNvSpPr/>
          <p:nvPr/>
        </p:nvSpPr>
        <p:spPr>
          <a:xfrm>
            <a:off x="754199" y="3959640"/>
            <a:ext cx="311760" cy="3168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030A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6" name="Oval 39">
            <a:extLst>
              <a:ext uri="{FF2B5EF4-FFF2-40B4-BE49-F238E27FC236}">
                <a16:creationId xmlns:a16="http://schemas.microsoft.com/office/drawing/2014/main" id="{AC69BB06-CA8E-28EE-6441-AFA0C0B020EE}"/>
              </a:ext>
            </a:extLst>
          </p:cNvPr>
          <p:cNvSpPr/>
          <p:nvPr/>
        </p:nvSpPr>
        <p:spPr>
          <a:xfrm>
            <a:off x="2559960" y="4637160"/>
            <a:ext cx="311760" cy="3168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030A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7" name="Oval 36">
            <a:extLst>
              <a:ext uri="{FF2B5EF4-FFF2-40B4-BE49-F238E27FC236}">
                <a16:creationId xmlns:a16="http://schemas.microsoft.com/office/drawing/2014/main" id="{07B10341-44E2-4648-2B2F-85671A3225F0}"/>
              </a:ext>
            </a:extLst>
          </p:cNvPr>
          <p:cNvSpPr/>
          <p:nvPr/>
        </p:nvSpPr>
        <p:spPr>
          <a:xfrm>
            <a:off x="909720" y="5034600"/>
            <a:ext cx="311760" cy="3168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030A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8" name="Oval 37">
            <a:extLst>
              <a:ext uri="{FF2B5EF4-FFF2-40B4-BE49-F238E27FC236}">
                <a16:creationId xmlns:a16="http://schemas.microsoft.com/office/drawing/2014/main" id="{385AD57D-533D-2091-4164-9A7D21EAD8F4}"/>
              </a:ext>
            </a:extLst>
          </p:cNvPr>
          <p:cNvSpPr/>
          <p:nvPr/>
        </p:nvSpPr>
        <p:spPr>
          <a:xfrm>
            <a:off x="1781280" y="2381760"/>
            <a:ext cx="311760" cy="3168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030A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9" name="Oval 38">
            <a:extLst>
              <a:ext uri="{FF2B5EF4-FFF2-40B4-BE49-F238E27FC236}">
                <a16:creationId xmlns:a16="http://schemas.microsoft.com/office/drawing/2014/main" id="{44427E9F-F166-4EA9-F8D0-2DFE8F10C0F4}"/>
              </a:ext>
            </a:extLst>
          </p:cNvPr>
          <p:cNvSpPr/>
          <p:nvPr/>
        </p:nvSpPr>
        <p:spPr>
          <a:xfrm>
            <a:off x="1882800" y="3816720"/>
            <a:ext cx="311760" cy="3168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030A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30" name="Straight Connector 32">
            <a:extLst>
              <a:ext uri="{FF2B5EF4-FFF2-40B4-BE49-F238E27FC236}">
                <a16:creationId xmlns:a16="http://schemas.microsoft.com/office/drawing/2014/main" id="{485C35C4-4BDF-8EDB-E270-5C27CEE3F731}"/>
              </a:ext>
            </a:extLst>
          </p:cNvPr>
          <p:cNvSpPr/>
          <p:nvPr/>
        </p:nvSpPr>
        <p:spPr>
          <a:xfrm>
            <a:off x="3034440" y="1852919"/>
            <a:ext cx="0" cy="5237281"/>
          </a:xfrm>
          <a:prstGeom prst="line">
            <a:avLst/>
          </a:prstGeom>
          <a:noFill/>
          <a:ln w="63360" cap="sq">
            <a:solidFill>
              <a:srgbClr val="FF0000"/>
            </a:solidFill>
            <a:custDash>
              <a:ds d="100000" sp="100000"/>
            </a:custDash>
            <a:miter/>
          </a:ln>
        </p:spPr>
        <p:txBody>
          <a:bodyPr vert="horz" wrap="square" lIns="90000" tIns="46800" rIns="90000" bIns="46800" anchor="t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31" name="Straight Connector 40">
            <a:extLst>
              <a:ext uri="{FF2B5EF4-FFF2-40B4-BE49-F238E27FC236}">
                <a16:creationId xmlns:a16="http://schemas.microsoft.com/office/drawing/2014/main" id="{FDBF5900-F039-4472-90F8-5A7794DECBE7}"/>
              </a:ext>
            </a:extLst>
          </p:cNvPr>
          <p:cNvSpPr/>
          <p:nvPr/>
        </p:nvSpPr>
        <p:spPr>
          <a:xfrm>
            <a:off x="1700999" y="1844279"/>
            <a:ext cx="0" cy="5237281"/>
          </a:xfrm>
          <a:prstGeom prst="line">
            <a:avLst/>
          </a:prstGeom>
          <a:noFill/>
          <a:ln w="63360" cap="sq">
            <a:solidFill>
              <a:srgbClr val="7030A0"/>
            </a:solidFill>
            <a:custDash>
              <a:ds d="100000" sp="100000"/>
            </a:custDash>
            <a:miter/>
          </a:ln>
        </p:spPr>
        <p:txBody>
          <a:bodyPr vert="horz" wrap="square" lIns="90000" tIns="46800" rIns="90000" bIns="46800" anchor="t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32" name="Straight Connector 42">
            <a:extLst>
              <a:ext uri="{FF2B5EF4-FFF2-40B4-BE49-F238E27FC236}">
                <a16:creationId xmlns:a16="http://schemas.microsoft.com/office/drawing/2014/main" id="{C27BCDC1-D2DE-C39B-BCF8-62420AD96E5A}"/>
              </a:ext>
            </a:extLst>
          </p:cNvPr>
          <p:cNvSpPr/>
          <p:nvPr/>
        </p:nvSpPr>
        <p:spPr>
          <a:xfrm>
            <a:off x="2694960" y="1844279"/>
            <a:ext cx="0" cy="5237281"/>
          </a:xfrm>
          <a:prstGeom prst="line">
            <a:avLst/>
          </a:prstGeom>
          <a:noFill/>
          <a:ln w="63360" cap="sq">
            <a:solidFill>
              <a:srgbClr val="000000"/>
            </a:solidFill>
            <a:prstDash val="solid"/>
            <a:miter/>
          </a:ln>
        </p:spPr>
        <p:txBody>
          <a:bodyPr vert="horz" wrap="square" lIns="90000" tIns="46800" rIns="90000" bIns="46800" anchor="t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33" name="TextBox 43">
            <a:extLst>
              <a:ext uri="{FF2B5EF4-FFF2-40B4-BE49-F238E27FC236}">
                <a16:creationId xmlns:a16="http://schemas.microsoft.com/office/drawing/2014/main" id="{9948FDCA-A702-E61F-1596-4A849A85892B}"/>
              </a:ext>
            </a:extLst>
          </p:cNvPr>
          <p:cNvSpPr/>
          <p:nvPr/>
        </p:nvSpPr>
        <p:spPr>
          <a:xfrm>
            <a:off x="3397320" y="3818160"/>
            <a:ext cx="1088640" cy="7034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00B0F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רמי</a:t>
            </a:r>
          </a:p>
        </p:txBody>
      </p:sp>
      <p:sp>
        <p:nvSpPr>
          <p:cNvPr id="34" name="TextBox 44">
            <a:extLst>
              <a:ext uri="{FF2B5EF4-FFF2-40B4-BE49-F238E27FC236}">
                <a16:creationId xmlns:a16="http://schemas.microsoft.com/office/drawing/2014/main" id="{DA2029DC-303D-05A2-F3E0-DD4859C37C6A}"/>
              </a:ext>
            </a:extLst>
          </p:cNvPr>
          <p:cNvSpPr/>
          <p:nvPr/>
        </p:nvSpPr>
        <p:spPr>
          <a:xfrm>
            <a:off x="3358800" y="4423679"/>
            <a:ext cx="1172520" cy="7034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תמי</a:t>
            </a:r>
          </a:p>
        </p:txBody>
      </p:sp>
      <p:sp>
        <p:nvSpPr>
          <p:cNvPr id="35" name="TextBox 45">
            <a:extLst>
              <a:ext uri="{FF2B5EF4-FFF2-40B4-BE49-F238E27FC236}">
                <a16:creationId xmlns:a16="http://schemas.microsoft.com/office/drawing/2014/main" id="{A404F748-4FE2-9026-E0B8-8BD34D7FC332}"/>
              </a:ext>
            </a:extLst>
          </p:cNvPr>
          <p:cNvSpPr/>
          <p:nvPr/>
        </p:nvSpPr>
        <p:spPr>
          <a:xfrm>
            <a:off x="752040" y="3534840"/>
            <a:ext cx="1135800" cy="7034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00B05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עמי</a:t>
            </a:r>
          </a:p>
        </p:txBody>
      </p:sp>
      <p:sp>
        <p:nvSpPr>
          <p:cNvPr id="36" name="TextBox 46">
            <a:extLst>
              <a:ext uri="{FF2B5EF4-FFF2-40B4-BE49-F238E27FC236}">
                <a16:creationId xmlns:a16="http://schemas.microsoft.com/office/drawing/2014/main" id="{9AC7C47F-8F5B-518A-DD6E-69261423C165}"/>
              </a:ext>
            </a:extLst>
          </p:cNvPr>
          <p:cNvSpPr/>
          <p:nvPr/>
        </p:nvSpPr>
        <p:spPr>
          <a:xfrm>
            <a:off x="722520" y="4107240"/>
            <a:ext cx="1247040" cy="7034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7030A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צומי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930C33-E117-E411-47F8-4A675479C983}"/>
              </a:ext>
            </a:extLst>
          </p:cNvPr>
          <p:cNvSpPr txBox="1"/>
          <p:nvPr/>
        </p:nvSpPr>
        <p:spPr>
          <a:xfrm>
            <a:off x="4845600" y="1280159"/>
            <a:ext cx="5121360" cy="5861689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1">
              <a:lnSpc>
                <a:spcPct val="100000"/>
              </a:lnSpc>
              <a:spcBef>
                <a:spcPts val="899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FF0000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מה עושים כש-n איזוגי?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899"/>
              </a:spcBef>
              <a:spcAft>
                <a:spcPts val="0"/>
              </a:spcAft>
              <a:buClr>
                <a:srgbClr val="93A299"/>
              </a:buClr>
              <a:buSzPct val="100000"/>
              <a:buFont typeface="Arial" pitchFamily="34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כל שחקן מחלק לשני חלקים ביחס של: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899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(n-1)/2  :   (n+1)/2</a:t>
            </a:r>
            <a:endParaRPr lang="he-IL" sz="3600" b="0" i="0" u="none" strike="noStrike" kern="1200" cap="none">
              <a:ln>
                <a:noFill/>
              </a:ln>
              <a:solidFill>
                <a:srgbClr val="564B3C"/>
              </a:solidFill>
              <a:latin typeface="Liberation Sans" pitchFamily="34"/>
              <a:ea typeface="WenQuanYi Micro Hei" pitchFamily="2"/>
              <a:cs typeface="Liberation Sans" pitchFamily="34"/>
            </a:endParaRPr>
          </a:p>
          <a:p>
            <a:pPr marL="0" marR="0" lvl="0" indent="0" algn="r" rtl="1" hangingPunct="1">
              <a:lnSpc>
                <a:spcPct val="100000"/>
              </a:lnSpc>
              <a:spcBef>
                <a:spcPts val="899"/>
              </a:spcBef>
              <a:spcAft>
                <a:spcPts val="0"/>
              </a:spcAft>
              <a:buClr>
                <a:srgbClr val="93A299"/>
              </a:buClr>
              <a:buSzPct val="100000"/>
              <a:buFont typeface="Arial" pitchFamily="34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חותכים את העוגה כך שבצד אחד יהיו </a:t>
            </a:r>
            <a:br>
              <a:rPr lang="he-IL" sz="3600" b="0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</a:br>
            <a:r>
              <a:rPr lang="en-US" sz="3600" b="0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(n-1)/2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 קוים ובצד שני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(n+1)/2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 קוים.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899"/>
              </a:spcBef>
              <a:spcAft>
                <a:spcPts val="0"/>
              </a:spcAft>
              <a:buClr>
                <a:srgbClr val="93A299"/>
              </a:buClr>
              <a:buSzPct val="100000"/>
              <a:buFont typeface="Arial" pitchFamily="34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564B3C"/>
                </a:solidFill>
                <a:latin typeface="Liberation Sans" pitchFamily="34"/>
                <a:ea typeface="WenQuanYi Micro Hei" pitchFamily="2"/>
                <a:cs typeface="Liberation Sans" pitchFamily="34"/>
              </a:rPr>
              <a:t>שולחים כל שחקן לחצי שמכיל את הקו שלו.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F98EDA11-2744-2BA1-9DE9-69C1DF679622}"/>
              </a:ext>
            </a:extLst>
          </p:cNvPr>
          <p:cNvSpPr/>
          <p:nvPr/>
        </p:nvSpPr>
        <p:spPr>
          <a:xfrm>
            <a:off x="4802040" y="1874160"/>
            <a:ext cx="5278680" cy="48420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46800" rIns="90000" bIns="46800" anchor="t" anchorCtr="0" compatLnSpc="1">
            <a:norm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24B935-ABD4-227B-A32B-9169E3565B7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13760" y="9612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אלגוריתם אבן-פז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4E30BB-2D6F-5A36-8632-092840E02069}"/>
              </a:ext>
            </a:extLst>
          </p:cNvPr>
          <p:cNvSpPr txBox="1"/>
          <p:nvPr/>
        </p:nvSpPr>
        <p:spPr>
          <a:xfrm>
            <a:off x="5001840" y="1554479"/>
            <a:ext cx="4873679" cy="427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79CEA2-2EF1-2B94-3B55-013694CAC303}"/>
              </a:ext>
            </a:extLst>
          </p:cNvPr>
          <p:cNvSpPr txBox="1"/>
          <p:nvPr/>
        </p:nvSpPr>
        <p:spPr>
          <a:xfrm>
            <a:off x="1097280" y="1006200"/>
            <a:ext cx="8869680" cy="64918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97C30B-6AA7-1D5C-FAAE-9A26731B871B}"/>
              </a:ext>
            </a:extLst>
          </p:cNvPr>
          <p:cNvSpPr txBox="1"/>
          <p:nvPr/>
        </p:nvSpPr>
        <p:spPr>
          <a:xfrm>
            <a:off x="-38520" y="861796"/>
            <a:ext cx="10080720" cy="683432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1" i="0" u="none" strike="noStrike" kern="1200" cap="none" dirty="0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משפט</a:t>
            </a:r>
            <a:r>
              <a:rPr lang="he-IL" sz="4000" b="0" i="0" u="none" strike="noStrike" kern="1200" cap="none" dirty="0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אלגוריתם אבן-פז נותן חלוקה פרופורציונלית - כל שחקן המשחק לפי הכללים מקבל לפחות </a:t>
            </a:r>
            <a:r>
              <a:rPr lang="he-IL" sz="4000" b="0" i="0" u="none" strike="noStrike" kern="1200" cap="none" dirty="0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Noto Sans CJK SC Regular" pitchFamily="2"/>
                <a:cs typeface="Times New Roman" pitchFamily="18"/>
              </a:rPr>
              <a:t>1</a:t>
            </a:r>
            <a:r>
              <a:rPr lang="he-IL" sz="4000" b="0" i="0" u="none" strike="noStrike" kern="1200" cap="none" dirty="0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חלקי </a:t>
            </a:r>
            <a:r>
              <a:rPr lang="he-IL" sz="4000" b="0" i="1" u="none" strike="noStrike" kern="1200" cap="none" dirty="0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n</a:t>
            </a:r>
            <a:r>
              <a:rPr lang="he-IL" sz="4000" b="0" i="0" u="none" strike="noStrike" kern="1200" cap="none" dirty="0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מערך העוגה בעיניו.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1" i="0" u="none" strike="noStrike" kern="1200" cap="none" dirty="0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הוכחה</a:t>
            </a:r>
            <a:r>
              <a:rPr lang="he-IL" sz="4000" b="0" i="0" u="none" strike="noStrike" kern="1200" cap="none" dirty="0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 נניח שערך העוגה כולה הוא </a:t>
            </a:r>
            <a:r>
              <a:rPr lang="he-IL" sz="4000" b="0" i="1" u="none" strike="noStrike" kern="1200" cap="none" dirty="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n</a:t>
            </a:r>
            <a:r>
              <a:rPr lang="he-IL" sz="4000" b="0" i="0" u="none" strike="noStrike" kern="1200" cap="none" dirty="0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 נוכיח שכל שחקן מקבל חלק ששווה בעיניו לפחות </a:t>
            </a:r>
            <a:r>
              <a:rPr lang="he-IL" sz="4000" b="0" i="0" u="none" strike="noStrike" kern="1200" cap="none" dirty="0">
                <a:ln>
                  <a:noFill/>
                </a:ln>
                <a:latin typeface="Times New Roman" pitchFamily="18"/>
                <a:ea typeface="Noto Sans CJK SC Regular" pitchFamily="2"/>
                <a:cs typeface="Times New Roman" pitchFamily="18"/>
              </a:rPr>
              <a:t>1</a:t>
            </a:r>
            <a:r>
              <a:rPr lang="he-IL" sz="4000" b="0" i="0" u="none" strike="noStrike" kern="1200" cap="none" dirty="0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 נוכיח באינדוקציה על </a:t>
            </a:r>
            <a:r>
              <a:rPr lang="he-IL" sz="4000" b="0" i="1" u="none" strike="noStrike" kern="1200" cap="none" dirty="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n</a:t>
            </a:r>
            <a:r>
              <a:rPr lang="he-IL" sz="4000" b="0" i="0" u="none" strike="noStrike" kern="1200" cap="none" dirty="0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 </a:t>
            </a:r>
            <a:br>
              <a:rPr lang="he-IL" sz="4000" b="0" i="0" u="none" strike="noStrike" kern="1200" cap="none" dirty="0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600" b="0" i="1" u="none" strike="noStrike" kern="1200" cap="none" dirty="0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בסיס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שחקן אחד מקבל </a:t>
            </a:r>
            <a:r>
              <a:rPr lang="he-IL" sz="3600" b="0" i="0" u="none" strike="noStrike" kern="1200" cap="none" dirty="0" err="1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הכל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000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1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צעד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נניח שנכון לכל מספר שחקנים עד </a:t>
            </a:r>
            <a:r>
              <a:rPr lang="en-US" sz="3600" b="0" i="1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n-1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 עכשיו יש </a:t>
            </a:r>
            <a:r>
              <a:rPr lang="he-IL" sz="3600" b="0" i="1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n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 כל מי שמשחק לפי הכללים, מגיע לחלק ששווה בעיניו לפחות </a:t>
            </a:r>
            <a:r>
              <a:rPr lang="he-IL" sz="3600" b="0" i="1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k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ויש בו </a:t>
            </a:r>
            <a:r>
              <a:rPr lang="he-IL" sz="3600" b="0" i="1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k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שחקנים, כאשר </a:t>
            </a:r>
            <a:r>
              <a:rPr lang="he-IL" sz="3600" b="0" i="1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k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הוא </a:t>
            </a:r>
            <a:r>
              <a:rPr lang="en-US" sz="3600" b="0" i="1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n/2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או </a:t>
            </a:r>
            <a:r>
              <a:rPr lang="en-US" sz="3600" b="0" i="0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Times New Roman" pitchFamily="18"/>
                <a:ea typeface="Noto Sans CJK SC Regular" pitchFamily="2"/>
                <a:cs typeface="Times New Roman" pitchFamily="18"/>
              </a:rPr>
              <a:t>(n+1)/2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או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660066"/>
                </a:solidFill>
                <a:latin typeface="Times New Roman" pitchFamily="18"/>
                <a:ea typeface="Noto Sans CJK SC Regular" pitchFamily="2"/>
                <a:cs typeface="Times New Roman" pitchFamily="18"/>
              </a:rPr>
              <a:t>(n-1)/2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66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 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לפי הנחת האינדוקציה, כל אחד מקבל לפחות 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Times New Roman" pitchFamily="18"/>
                <a:ea typeface="Noto Sans CJK SC Regular" pitchFamily="2"/>
                <a:cs typeface="Times New Roman" pitchFamily="18"/>
              </a:rPr>
              <a:t>1</a:t>
            </a:r>
            <a:r>
              <a:rPr lang="he-IL" sz="3600" b="0" i="0" u="none" strike="noStrike" kern="1200" cap="none" dirty="0">
                <a:ln>
                  <a:noFill/>
                </a:ln>
                <a:solidFill>
                  <a:srgbClr val="66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    ***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89A0E699-B89A-2CFA-EBF8-4C8DF803EE29}"/>
              </a:ext>
            </a:extLst>
          </p:cNvPr>
          <p:cNvSpPr/>
          <p:nvPr/>
        </p:nvSpPr>
        <p:spPr>
          <a:xfrm>
            <a:off x="4802040" y="1874160"/>
            <a:ext cx="5278680" cy="48420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46800" rIns="90000" bIns="46800" anchor="t" anchorCtr="0" compatLnSpc="1">
            <a:norm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C659CF3-325F-2904-3277-058135D2AB3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182880"/>
            <a:ext cx="9897840" cy="8233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אלגוריתם אבן-פז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2C8395-4867-D0B5-71AC-9CAFBB9A509E}"/>
              </a:ext>
            </a:extLst>
          </p:cNvPr>
          <p:cNvSpPr txBox="1"/>
          <p:nvPr/>
        </p:nvSpPr>
        <p:spPr>
          <a:xfrm>
            <a:off x="5001840" y="1554479"/>
            <a:ext cx="4873679" cy="427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176A20-2F66-90B6-E1CC-73663F6F69D6}"/>
              </a:ext>
            </a:extLst>
          </p:cNvPr>
          <p:cNvSpPr txBox="1"/>
          <p:nvPr/>
        </p:nvSpPr>
        <p:spPr>
          <a:xfrm>
            <a:off x="1097280" y="1006200"/>
            <a:ext cx="8869680" cy="64918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46EF17-C4E7-B08B-5A82-15912488D248}"/>
              </a:ext>
            </a:extLst>
          </p:cNvPr>
          <p:cNvSpPr txBox="1"/>
          <p:nvPr/>
        </p:nvSpPr>
        <p:spPr>
          <a:xfrm>
            <a:off x="113665" y="1006200"/>
            <a:ext cx="9967055" cy="4818583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משפט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אלגוריתם אבן-פז משתמש </a:t>
            </a:r>
            <a:br>
              <a:rPr lang="he-IL" sz="40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40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ב-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O(n log n)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 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שאילתות.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הוכחה</a:t>
            </a: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: נעגל את </a:t>
            </a:r>
            <a:r>
              <a:rPr lang="he-IL" sz="4000" b="0" i="1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n</a:t>
            </a: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למעלה לחזקה הקרובה של 2. הגדלנו אותו בפחות מ-2.  עכשיו, בכל סיבוב, גודל הקבוצות קטֵן פי 2. לכן מספר הסיבובים הוא לכל היותר </a:t>
            </a:r>
            <a:r>
              <a:rPr lang="en-US" sz="40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log</a:t>
            </a:r>
            <a:r>
              <a:rPr lang="en-US" sz="4000" b="0" i="0" u="none" strike="noStrike" kern="1200" cap="none" baseline="-25000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2</a:t>
            </a:r>
            <a:r>
              <a:rPr lang="en-US" sz="4000" b="0" i="0" u="none" strike="noStrike" kern="1200" cap="none">
                <a:ln>
                  <a:noFill/>
                </a:ln>
                <a:latin typeface="Times New Roman" pitchFamily="18"/>
                <a:ea typeface="Noto Sans CJK SC Regular" pitchFamily="2"/>
                <a:cs typeface="Liberation Sans" pitchFamily="34"/>
              </a:rPr>
              <a:t>(2n)</a:t>
            </a: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   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בכל סיבוב, שואלים כל שחקן שאילתה אחת.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לכן הסיבוכיות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O(n log n)</a:t>
            </a: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24959AA3-6EA3-2024-D09E-45DEE5B56945}"/>
              </a:ext>
            </a:extLst>
          </p:cNvPr>
          <p:cNvSpPr/>
          <p:nvPr/>
        </p:nvSpPr>
        <p:spPr>
          <a:xfrm>
            <a:off x="4802040" y="1874160"/>
            <a:ext cx="5278680" cy="48420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46800" rIns="90000" bIns="46800" anchor="t" anchorCtr="0" compatLnSpc="1">
            <a:norm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C112F2-706B-6ECC-FEC9-D020AA8202E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-91440" y="182880"/>
            <a:ext cx="10515600" cy="8233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חלוקה פרופורציונלית מהירה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9C718F-1637-AB32-E553-3CBE94BB15A3}"/>
              </a:ext>
            </a:extLst>
          </p:cNvPr>
          <p:cNvSpPr txBox="1"/>
          <p:nvPr/>
        </p:nvSpPr>
        <p:spPr>
          <a:xfrm>
            <a:off x="5001840" y="1554479"/>
            <a:ext cx="4873679" cy="427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7F63DB-6637-0C91-84F5-BDD8785983C6}"/>
              </a:ext>
            </a:extLst>
          </p:cNvPr>
          <p:cNvSpPr txBox="1"/>
          <p:nvPr/>
        </p:nvSpPr>
        <p:spPr>
          <a:xfrm>
            <a:off x="182880" y="1006200"/>
            <a:ext cx="9784080" cy="64918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1FD912-279D-F9C1-50FE-E44B1ACFAAB6}"/>
              </a:ext>
            </a:extLst>
          </p:cNvPr>
          <p:cNvSpPr txBox="1"/>
          <p:nvPr/>
        </p:nvSpPr>
        <p:spPr>
          <a:xfrm>
            <a:off x="113665" y="944150"/>
            <a:ext cx="9967055" cy="6581374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6666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נניח שמותר לשאול את השחקנים שאילתות משני סוגים: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6666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הערכה (Eval) –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6666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חישוב ערך של פרוסה נתונה;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6666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סימון (Mark) 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6666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– סימון פרוסה עם ערך נתון.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he-IL" sz="4000" b="1" i="0" u="none" strike="noStrike" kern="1200" cap="none">
              <a:ln>
                <a:noFill/>
              </a:ln>
              <a:solidFill>
                <a:srgbClr val="990066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99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משפט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99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כל אלגוריתם לחלוקה פרופורציונלית צריך לפחות </a:t>
            </a:r>
            <a:r>
              <a:rPr lang="en-US" sz="4000" b="0" i="1" u="none" strike="noStrike" kern="1200" cap="none">
                <a:ln>
                  <a:noFill/>
                </a:ln>
                <a:solidFill>
                  <a:srgbClr val="990066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n </a:t>
            </a:r>
            <a:r>
              <a:rPr lang="en-US" sz="4000" b="0" u="none" strike="noStrike" kern="1200" cap="none">
                <a:ln>
                  <a:noFill/>
                </a:ln>
                <a:solidFill>
                  <a:srgbClr val="990066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log </a:t>
            </a:r>
            <a:r>
              <a:rPr lang="en-US" sz="4000" b="0" i="1" u="none" strike="noStrike" kern="1200" cap="none">
                <a:ln>
                  <a:noFill/>
                </a:ln>
                <a:solidFill>
                  <a:srgbClr val="990066"/>
                </a:solidFill>
                <a:latin typeface="Times New Roman" pitchFamily="18"/>
                <a:ea typeface="Noto Sans CJK SC Regular" pitchFamily="2"/>
                <a:cs typeface="Liberation Sans" pitchFamily="34"/>
              </a:rPr>
              <a:t>n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99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שאילתות מסוג זה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200" b="0" i="0" u="none" strike="noStrike" kern="1200" cap="none">
                <a:ln>
                  <a:noFill/>
                </a:ln>
                <a:solidFill>
                  <a:srgbClr val="99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(Edmonds 2006, Woeginger 2007)</a:t>
            </a:r>
            <a:endParaRPr lang="he-IL" sz="4000" b="0" i="0" u="none" strike="noStrike" kern="1200" cap="none">
              <a:ln>
                <a:noFill/>
              </a:ln>
              <a:solidFill>
                <a:srgbClr val="990066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he-IL" sz="4000" b="0" i="0" u="none" strike="noStrike" kern="1200" cap="none">
              <a:ln>
                <a:noFill/>
              </a:ln>
              <a:solidFill>
                <a:srgbClr val="990066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99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מסקנה: אלגוריתם אבן-פז – הכי מהיר שאפשר.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3_0">
            <a:extLst>
              <a:ext uri="{FF2B5EF4-FFF2-40B4-BE49-F238E27FC236}">
                <a16:creationId xmlns:a16="http://schemas.microsoft.com/office/drawing/2014/main" id="{8FEA1D74-2132-D2BC-BE0C-29FA8035F98C}"/>
              </a:ext>
            </a:extLst>
          </p:cNvPr>
          <p:cNvSpPr/>
          <p:nvPr/>
        </p:nvSpPr>
        <p:spPr>
          <a:xfrm>
            <a:off x="4802040" y="1874160"/>
            <a:ext cx="5278680" cy="48420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46800" rIns="90000" bIns="46800" anchor="t" anchorCtr="0" compatLnSpc="1">
            <a:norm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DE93361-1A45-6A7A-1B96-1F58012615C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-91440" y="91080"/>
            <a:ext cx="10172160" cy="8233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אלגוריתם אבן-פז על נתוני אמת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F8AE03-440C-4961-E750-01A75BB0985C}"/>
              </a:ext>
            </a:extLst>
          </p:cNvPr>
          <p:cNvSpPr txBox="1"/>
          <p:nvPr/>
        </p:nvSpPr>
        <p:spPr>
          <a:xfrm>
            <a:off x="5001840" y="1554479"/>
            <a:ext cx="4873679" cy="427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DD0E8-ED3A-C8B3-40CB-7BCDDE5C6555}"/>
              </a:ext>
            </a:extLst>
          </p:cNvPr>
          <p:cNvSpPr txBox="1"/>
          <p:nvPr/>
        </p:nvSpPr>
        <p:spPr>
          <a:xfrm>
            <a:off x="182880" y="1006200"/>
            <a:ext cx="9784080" cy="64918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70942-40CD-9045-8CB2-97F337FF6A0D}"/>
              </a:ext>
            </a:extLst>
          </p:cNvPr>
          <p:cNvSpPr txBox="1"/>
          <p:nvPr/>
        </p:nvSpPr>
        <p:spPr>
          <a:xfrm>
            <a:off x="365760" y="1097280"/>
            <a:ext cx="9235440" cy="42732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86EFEF-4034-3F17-E087-8B67D8C2333C}"/>
              </a:ext>
            </a:extLst>
          </p:cNvPr>
          <p:cNvSpPr txBox="1"/>
          <p:nvPr/>
        </p:nvSpPr>
        <p:spPr>
          <a:xfrm>
            <a:off x="365760" y="914400"/>
            <a:ext cx="9235440" cy="2922039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מחקר של איתי שטכמן (סטודנט לתואר שני) וד"ר ריקה גונן השווה את הביצועים של אלגוריתם אבן-פז לשיטות החלוקה המקובלות, שהן מכירה והערכת שמאי, על ערכי קרקע בישראל (מאתר מדל"ן) ובניו זילנד. </a:t>
            </a:r>
            <a: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  </a:t>
            </a: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נבדקו מדדים רבים, למשל, הערך הנמוך ביותר של משתתף. </a:t>
            </a:r>
            <a:r>
              <a:rPr lang="en-US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 </a:t>
            </a:r>
            <a:r>
              <a:rPr lang="he-IL" sz="32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אבן-פז ניצח: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EE50AF-32F9-3B75-4E8A-092B2C7F5773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48280" y="3709440"/>
            <a:ext cx="8961480" cy="35805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0">
            <a:extLst>
              <a:ext uri="{FF2B5EF4-FFF2-40B4-BE49-F238E27FC236}">
                <a16:creationId xmlns:a16="http://schemas.microsoft.com/office/drawing/2014/main" id="{8188BCDD-552E-A0CD-4B91-9C2F58459FC2}"/>
              </a:ext>
            </a:extLst>
          </p:cNvPr>
          <p:cNvSpPr/>
          <p:nvPr/>
        </p:nvSpPr>
        <p:spPr>
          <a:xfrm>
            <a:off x="182880" y="1141200"/>
            <a:ext cx="4366440" cy="523727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ECEDD1"/>
          </a:solidFill>
          <a:ln w="25560" cap="sq">
            <a:solidFill>
              <a:srgbClr val="6B766F"/>
            </a:solidFill>
            <a:prstDash val="solid"/>
            <a:miter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3" name="Oval 7">
            <a:extLst>
              <a:ext uri="{FF2B5EF4-FFF2-40B4-BE49-F238E27FC236}">
                <a16:creationId xmlns:a16="http://schemas.microsoft.com/office/drawing/2014/main" id="{D3B842A2-CD08-362F-8828-C26B613B0AE8}"/>
              </a:ext>
            </a:extLst>
          </p:cNvPr>
          <p:cNvSpPr/>
          <p:nvPr/>
        </p:nvSpPr>
        <p:spPr>
          <a:xfrm>
            <a:off x="3517200" y="1886400"/>
            <a:ext cx="311040" cy="3171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4" name="Oval 13">
            <a:extLst>
              <a:ext uri="{FF2B5EF4-FFF2-40B4-BE49-F238E27FC236}">
                <a16:creationId xmlns:a16="http://schemas.microsoft.com/office/drawing/2014/main" id="{C389EDBB-B3C0-6DC0-B27F-1476145D2171}"/>
              </a:ext>
            </a:extLst>
          </p:cNvPr>
          <p:cNvSpPr/>
          <p:nvPr/>
        </p:nvSpPr>
        <p:spPr>
          <a:xfrm>
            <a:off x="3828239" y="5775119"/>
            <a:ext cx="30996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5" name="Oval 14">
            <a:extLst>
              <a:ext uri="{FF2B5EF4-FFF2-40B4-BE49-F238E27FC236}">
                <a16:creationId xmlns:a16="http://schemas.microsoft.com/office/drawing/2014/main" id="{D641B26D-5CEC-AB2C-B893-9CD2AC026404}"/>
              </a:ext>
            </a:extLst>
          </p:cNvPr>
          <p:cNvSpPr/>
          <p:nvPr/>
        </p:nvSpPr>
        <p:spPr>
          <a:xfrm>
            <a:off x="3982680" y="1260360"/>
            <a:ext cx="31104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6" name="Oval 15">
            <a:extLst>
              <a:ext uri="{FF2B5EF4-FFF2-40B4-BE49-F238E27FC236}">
                <a16:creationId xmlns:a16="http://schemas.microsoft.com/office/drawing/2014/main" id="{36154C17-85B0-7184-2C15-C100BC4433C8}"/>
              </a:ext>
            </a:extLst>
          </p:cNvPr>
          <p:cNvSpPr/>
          <p:nvPr/>
        </p:nvSpPr>
        <p:spPr>
          <a:xfrm>
            <a:off x="501480" y="1419480"/>
            <a:ext cx="309600" cy="3168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7" name="Oval 16">
            <a:extLst>
              <a:ext uri="{FF2B5EF4-FFF2-40B4-BE49-F238E27FC236}">
                <a16:creationId xmlns:a16="http://schemas.microsoft.com/office/drawing/2014/main" id="{43FFBA85-39D5-1449-73A4-CCAD3DD2CD93}"/>
              </a:ext>
            </a:extLst>
          </p:cNvPr>
          <p:cNvSpPr/>
          <p:nvPr/>
        </p:nvSpPr>
        <p:spPr>
          <a:xfrm>
            <a:off x="1787760" y="2511360"/>
            <a:ext cx="30960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8" name="Oval 17">
            <a:extLst>
              <a:ext uri="{FF2B5EF4-FFF2-40B4-BE49-F238E27FC236}">
                <a16:creationId xmlns:a16="http://schemas.microsoft.com/office/drawing/2014/main" id="{D56700DA-0966-03CD-ACA4-B0F171A5991F}"/>
              </a:ext>
            </a:extLst>
          </p:cNvPr>
          <p:cNvSpPr/>
          <p:nvPr/>
        </p:nvSpPr>
        <p:spPr>
          <a:xfrm>
            <a:off x="774719" y="5616000"/>
            <a:ext cx="311040" cy="318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F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9" name="Oval 18">
            <a:extLst>
              <a:ext uri="{FF2B5EF4-FFF2-40B4-BE49-F238E27FC236}">
                <a16:creationId xmlns:a16="http://schemas.microsoft.com/office/drawing/2014/main" id="{116AD8F5-7692-5829-7F8E-9FAA1CA586F6}"/>
              </a:ext>
            </a:extLst>
          </p:cNvPr>
          <p:cNvSpPr/>
          <p:nvPr/>
        </p:nvSpPr>
        <p:spPr>
          <a:xfrm>
            <a:off x="1579319" y="4726440"/>
            <a:ext cx="414720" cy="1576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0" name="Oval 23">
            <a:extLst>
              <a:ext uri="{FF2B5EF4-FFF2-40B4-BE49-F238E27FC236}">
                <a16:creationId xmlns:a16="http://schemas.microsoft.com/office/drawing/2014/main" id="{009714F0-23E5-1023-3875-8CBE66EFFA1F}"/>
              </a:ext>
            </a:extLst>
          </p:cNvPr>
          <p:cNvSpPr/>
          <p:nvPr/>
        </p:nvSpPr>
        <p:spPr>
          <a:xfrm>
            <a:off x="2942640" y="1720080"/>
            <a:ext cx="416880" cy="159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1" name="Oval 24">
            <a:extLst>
              <a:ext uri="{FF2B5EF4-FFF2-40B4-BE49-F238E27FC236}">
                <a16:creationId xmlns:a16="http://schemas.microsoft.com/office/drawing/2014/main" id="{5F90FE1A-3E1C-78F1-98B3-19489BAFE88A}"/>
              </a:ext>
            </a:extLst>
          </p:cNvPr>
          <p:cNvSpPr/>
          <p:nvPr/>
        </p:nvSpPr>
        <p:spPr>
          <a:xfrm>
            <a:off x="387720" y="2672280"/>
            <a:ext cx="414720" cy="159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2" name="Oval 25">
            <a:extLst>
              <a:ext uri="{FF2B5EF4-FFF2-40B4-BE49-F238E27FC236}">
                <a16:creationId xmlns:a16="http://schemas.microsoft.com/office/drawing/2014/main" id="{08C03DCE-F9AD-C19F-5B4C-162CD281F5C2}"/>
              </a:ext>
            </a:extLst>
          </p:cNvPr>
          <p:cNvSpPr/>
          <p:nvPr/>
        </p:nvSpPr>
        <p:spPr>
          <a:xfrm>
            <a:off x="910799" y="2009160"/>
            <a:ext cx="415080" cy="159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3" name="Oval 26">
            <a:extLst>
              <a:ext uri="{FF2B5EF4-FFF2-40B4-BE49-F238E27FC236}">
                <a16:creationId xmlns:a16="http://schemas.microsoft.com/office/drawing/2014/main" id="{DCEC3314-F1CF-1075-DC38-29D097E2E476}"/>
              </a:ext>
            </a:extLst>
          </p:cNvPr>
          <p:cNvSpPr/>
          <p:nvPr/>
        </p:nvSpPr>
        <p:spPr>
          <a:xfrm>
            <a:off x="2255039" y="5888520"/>
            <a:ext cx="416880" cy="159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4" name="Oval 27">
            <a:extLst>
              <a:ext uri="{FF2B5EF4-FFF2-40B4-BE49-F238E27FC236}">
                <a16:creationId xmlns:a16="http://schemas.microsoft.com/office/drawing/2014/main" id="{AFE51ADF-AF32-9B34-9DD8-8B3F3ED614FA}"/>
              </a:ext>
            </a:extLst>
          </p:cNvPr>
          <p:cNvSpPr/>
          <p:nvPr/>
        </p:nvSpPr>
        <p:spPr>
          <a:xfrm>
            <a:off x="3581640" y="4894920"/>
            <a:ext cx="416520" cy="1576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00B05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5" name="Straight Connector 5">
            <a:extLst>
              <a:ext uri="{FF2B5EF4-FFF2-40B4-BE49-F238E27FC236}">
                <a16:creationId xmlns:a16="http://schemas.microsoft.com/office/drawing/2014/main" id="{99E1AC70-9093-0932-4EDB-C0E20341EFA5}"/>
              </a:ext>
            </a:extLst>
          </p:cNvPr>
          <p:cNvSpPr/>
          <p:nvPr/>
        </p:nvSpPr>
        <p:spPr>
          <a:xfrm>
            <a:off x="3828239" y="1114920"/>
            <a:ext cx="0" cy="5237280"/>
          </a:xfrm>
          <a:prstGeom prst="line">
            <a:avLst/>
          </a:prstGeom>
          <a:noFill/>
          <a:ln w="63360" cap="sq">
            <a:solidFill>
              <a:srgbClr val="00B0F0"/>
            </a:solidFill>
            <a:custDash>
              <a:ds d="100000" sp="100000"/>
            </a:custDash>
            <a:miter/>
          </a:ln>
        </p:spPr>
        <p:txBody>
          <a:bodyPr vert="horz" wrap="square" lIns="90000" tIns="46800" rIns="90000" bIns="46800" anchor="t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6" name="Oval 21">
            <a:extLst>
              <a:ext uri="{FF2B5EF4-FFF2-40B4-BE49-F238E27FC236}">
                <a16:creationId xmlns:a16="http://schemas.microsoft.com/office/drawing/2014/main" id="{0335C8EB-46B2-2379-6BF3-20157A74F2FF}"/>
              </a:ext>
            </a:extLst>
          </p:cNvPr>
          <p:cNvSpPr/>
          <p:nvPr/>
        </p:nvSpPr>
        <p:spPr>
          <a:xfrm>
            <a:off x="3994560" y="2203560"/>
            <a:ext cx="155880" cy="4759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7" name="Oval 22">
            <a:extLst>
              <a:ext uri="{FF2B5EF4-FFF2-40B4-BE49-F238E27FC236}">
                <a16:creationId xmlns:a16="http://schemas.microsoft.com/office/drawing/2014/main" id="{2815D747-7CAE-5450-7A28-B42D2E3E89E4}"/>
              </a:ext>
            </a:extLst>
          </p:cNvPr>
          <p:cNvSpPr/>
          <p:nvPr/>
        </p:nvSpPr>
        <p:spPr>
          <a:xfrm>
            <a:off x="2843280" y="2752560"/>
            <a:ext cx="155520" cy="474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8" name="Oval 28">
            <a:extLst>
              <a:ext uri="{FF2B5EF4-FFF2-40B4-BE49-F238E27FC236}">
                <a16:creationId xmlns:a16="http://schemas.microsoft.com/office/drawing/2014/main" id="{B99F96AD-A199-7CBD-E7BB-84650A8C62C9}"/>
              </a:ext>
            </a:extLst>
          </p:cNvPr>
          <p:cNvSpPr/>
          <p:nvPr/>
        </p:nvSpPr>
        <p:spPr>
          <a:xfrm>
            <a:off x="1170000" y="4418640"/>
            <a:ext cx="155880" cy="4762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19" name="Oval 29">
            <a:extLst>
              <a:ext uri="{FF2B5EF4-FFF2-40B4-BE49-F238E27FC236}">
                <a16:creationId xmlns:a16="http://schemas.microsoft.com/office/drawing/2014/main" id="{E449E144-9ACD-8799-1A6A-8A8897FBEA47}"/>
              </a:ext>
            </a:extLst>
          </p:cNvPr>
          <p:cNvSpPr/>
          <p:nvPr/>
        </p:nvSpPr>
        <p:spPr>
          <a:xfrm>
            <a:off x="3347279" y="4250880"/>
            <a:ext cx="155520" cy="4759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20" name="Oval 30">
            <a:extLst>
              <a:ext uri="{FF2B5EF4-FFF2-40B4-BE49-F238E27FC236}">
                <a16:creationId xmlns:a16="http://schemas.microsoft.com/office/drawing/2014/main" id="{0D6C81BC-298B-C77B-6EA4-80D9CC6823F6}"/>
              </a:ext>
            </a:extLst>
          </p:cNvPr>
          <p:cNvSpPr/>
          <p:nvPr/>
        </p:nvSpPr>
        <p:spPr>
          <a:xfrm>
            <a:off x="1092959" y="1340640"/>
            <a:ext cx="155880" cy="4759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21" name="Oval 31">
            <a:extLst>
              <a:ext uri="{FF2B5EF4-FFF2-40B4-BE49-F238E27FC236}">
                <a16:creationId xmlns:a16="http://schemas.microsoft.com/office/drawing/2014/main" id="{6BB12A28-0851-04F8-49B9-3690F5F924EA}"/>
              </a:ext>
            </a:extLst>
          </p:cNvPr>
          <p:cNvSpPr/>
          <p:nvPr/>
        </p:nvSpPr>
        <p:spPr>
          <a:xfrm>
            <a:off x="2538720" y="5157000"/>
            <a:ext cx="155520" cy="4762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FF0000"/>
          </a:solidFill>
          <a:ln>
            <a:noFill/>
            <a:prstDash val="solid"/>
          </a:ln>
        </p:spPr>
        <p:txBody>
          <a:bodyPr vert="horz" wrap="square" lIns="90000" tIns="46800" rIns="90000" bIns="46800" anchor="ctr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22" name="Straight Connector 42">
            <a:extLst>
              <a:ext uri="{FF2B5EF4-FFF2-40B4-BE49-F238E27FC236}">
                <a16:creationId xmlns:a16="http://schemas.microsoft.com/office/drawing/2014/main" id="{8034D5D7-6FC8-BE86-F37B-7303D47451A4}"/>
              </a:ext>
            </a:extLst>
          </p:cNvPr>
          <p:cNvSpPr/>
          <p:nvPr/>
        </p:nvSpPr>
        <p:spPr>
          <a:xfrm>
            <a:off x="3828239" y="1125360"/>
            <a:ext cx="0" cy="5237280"/>
          </a:xfrm>
          <a:prstGeom prst="line">
            <a:avLst/>
          </a:prstGeom>
          <a:noFill/>
          <a:ln w="63360" cap="sq">
            <a:solidFill>
              <a:srgbClr val="000000"/>
            </a:solidFill>
            <a:prstDash val="solid"/>
            <a:miter/>
          </a:ln>
        </p:spPr>
        <p:txBody>
          <a:bodyPr vert="horz" wrap="square" lIns="90000" tIns="46800" rIns="90000" bIns="46800" anchor="t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23" name="TextBox 43">
            <a:extLst>
              <a:ext uri="{FF2B5EF4-FFF2-40B4-BE49-F238E27FC236}">
                <a16:creationId xmlns:a16="http://schemas.microsoft.com/office/drawing/2014/main" id="{B2B4ED7A-0C05-4766-F3F9-0146A026E601}"/>
              </a:ext>
            </a:extLst>
          </p:cNvPr>
          <p:cNvSpPr/>
          <p:nvPr/>
        </p:nvSpPr>
        <p:spPr>
          <a:xfrm>
            <a:off x="3747960" y="3022200"/>
            <a:ext cx="1070640" cy="6606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1">
            <a:sp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he-IL" sz="4000" b="1" i="0" u="none" strike="noStrike" cap="none" baseline="0">
                <a:ln>
                  <a:noFill/>
                </a:ln>
                <a:solidFill>
                  <a:srgbClr val="00B0F0"/>
                </a:solidFill>
                <a:latin typeface="Arial" pitchFamily="34"/>
                <a:ea typeface="WenQuanYi Micro Hei" pitchFamily="2"/>
                <a:cs typeface="WenQuanYi Micro Hei" pitchFamily="2"/>
              </a:rPr>
              <a:t>רמי</a:t>
            </a:r>
          </a:p>
        </p:txBody>
      </p:sp>
      <p:sp>
        <p:nvSpPr>
          <p:cNvPr id="24" name="TextBox 44">
            <a:extLst>
              <a:ext uri="{FF2B5EF4-FFF2-40B4-BE49-F238E27FC236}">
                <a16:creationId xmlns:a16="http://schemas.microsoft.com/office/drawing/2014/main" id="{AD3548FB-FC97-0CCF-4896-0F5C0890D02A}"/>
              </a:ext>
            </a:extLst>
          </p:cNvPr>
          <p:cNvSpPr/>
          <p:nvPr/>
        </p:nvSpPr>
        <p:spPr>
          <a:xfrm>
            <a:off x="2546280" y="3433679"/>
            <a:ext cx="1148400" cy="6606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1">
            <a:sp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he-IL" sz="4000" b="1" i="0" u="none" strike="noStrike" cap="none" baseline="0">
                <a:ln>
                  <a:noFill/>
                </a:ln>
                <a:solidFill>
                  <a:srgbClr val="FF0000"/>
                </a:solidFill>
                <a:latin typeface="Arial" pitchFamily="34"/>
                <a:ea typeface="WenQuanYi Micro Hei" pitchFamily="2"/>
                <a:cs typeface="WenQuanYi Micro Hei" pitchFamily="2"/>
              </a:rPr>
              <a:t>תמי</a:t>
            </a:r>
          </a:p>
        </p:txBody>
      </p:sp>
      <p:sp>
        <p:nvSpPr>
          <p:cNvPr id="25" name="TextBox 45">
            <a:extLst>
              <a:ext uri="{FF2B5EF4-FFF2-40B4-BE49-F238E27FC236}">
                <a16:creationId xmlns:a16="http://schemas.microsoft.com/office/drawing/2014/main" id="{9C3C9CA1-5DF7-2776-D6B7-45C834E31803}"/>
              </a:ext>
            </a:extLst>
          </p:cNvPr>
          <p:cNvSpPr/>
          <p:nvPr/>
        </p:nvSpPr>
        <p:spPr>
          <a:xfrm>
            <a:off x="198720" y="2831760"/>
            <a:ext cx="1112040" cy="6606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none" lIns="90000" tIns="46800" rIns="90000" bIns="46800" anchor="t" anchorCtr="0" compatLnSpc="1">
            <a:sp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he-IL" sz="4000" b="1" i="0" u="none" strike="noStrike" cap="none" baseline="0">
                <a:ln>
                  <a:noFill/>
                </a:ln>
                <a:solidFill>
                  <a:srgbClr val="00B050"/>
                </a:solidFill>
                <a:latin typeface="Arial" pitchFamily="34"/>
                <a:ea typeface="WenQuanYi Micro Hei" pitchFamily="2"/>
                <a:cs typeface="WenQuanYi Micro Hei" pitchFamily="2"/>
              </a:rPr>
              <a:t>עמי</a:t>
            </a:r>
          </a:p>
        </p:txBody>
      </p:sp>
      <p:sp>
        <p:nvSpPr>
          <p:cNvPr id="26" name="Straight Connector 51">
            <a:extLst>
              <a:ext uri="{FF2B5EF4-FFF2-40B4-BE49-F238E27FC236}">
                <a16:creationId xmlns:a16="http://schemas.microsoft.com/office/drawing/2014/main" id="{28C8486B-1035-02F4-2AA9-07F953ACBA90}"/>
              </a:ext>
            </a:extLst>
          </p:cNvPr>
          <p:cNvSpPr/>
          <p:nvPr/>
        </p:nvSpPr>
        <p:spPr>
          <a:xfrm>
            <a:off x="2651760" y="1141200"/>
            <a:ext cx="0" cy="5237280"/>
          </a:xfrm>
          <a:prstGeom prst="line">
            <a:avLst/>
          </a:prstGeom>
          <a:noFill/>
          <a:ln w="63360" cap="sq">
            <a:solidFill>
              <a:srgbClr val="000000"/>
            </a:solidFill>
            <a:prstDash val="solid"/>
            <a:miter/>
          </a:ln>
        </p:spPr>
        <p:txBody>
          <a:bodyPr vert="horz" wrap="square" lIns="90000" tIns="46800" rIns="90000" bIns="46800" anchor="t" anchorCtr="0" compatLnSpc="1">
            <a:noAutofit/>
          </a:bodyPr>
          <a:lstStyle/>
          <a:p>
            <a:pPr marL="0" marR="0" lvl="0" indent="0" algn="l" rtl="0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>
              <a:ln>
                <a:noFill/>
              </a:ln>
              <a:solidFill>
                <a:srgbClr val="FFFFFF"/>
              </a:solidFill>
              <a:latin typeface="Arial" pitchFamily="34"/>
              <a:ea typeface="WenQuanYi Micro Hei" pitchFamily="2"/>
              <a:cs typeface="WenQuanYi Micro Hei" pitchFamily="2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A8A58C-DAA3-E6B5-D454-DA120DA86352}"/>
              </a:ext>
            </a:extLst>
          </p:cNvPr>
          <p:cNvSpPr txBox="1"/>
          <p:nvPr/>
        </p:nvSpPr>
        <p:spPr>
          <a:xfrm>
            <a:off x="4636798" y="1188719"/>
            <a:ext cx="5238722" cy="3983996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האלגוריתמים שראינו לא מבטיחים שהחלוקה תהיה ללא קנאה.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קנאה זה דבר מעצבן – ולא רק בני אדם -</a:t>
            </a:r>
          </a:p>
          <a:p>
            <a:pPr marL="0" marR="0" lvl="0" indent="0" algn="r" rtl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200" b="0" i="0" u="sng" strike="noStrike" kern="1200" cap="none" spc="0" baseline="0">
                <a:ln>
                  <a:noFill/>
                </a:ln>
                <a:solidFill>
                  <a:srgbClr val="CCCC00"/>
                </a:solidFill>
                <a:uFillTx/>
                <a:latin typeface="Liberation Sans" pitchFamily="34"/>
                <a:ea typeface="Noto Sans CJK SC Regular" pitchFamily="2"/>
                <a:cs typeface="Liberation Sans" pitchFamily="34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https://www.youtube.com/results?search_query=monkey+envy+experiment</a:t>
            </a:r>
          </a:p>
        </p:txBody>
      </p:sp>
      <p:sp>
        <p:nvSpPr>
          <p:cNvPr id="28" name="Title 27">
            <a:extLst>
              <a:ext uri="{FF2B5EF4-FFF2-40B4-BE49-F238E27FC236}">
                <a16:creationId xmlns:a16="http://schemas.microsoft.com/office/drawing/2014/main" id="{EBE9CADA-D521-55F7-48EA-E4FA858DB84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42840"/>
            <a:ext cx="9966960" cy="963720"/>
          </a:xfrm>
        </p:spPr>
        <p:txBody>
          <a:bodyPr vert="horz" wrap="square" lIns="91440" tIns="45720" rIns="91440" bIns="45720" anchorCtr="0">
            <a:noAutofit/>
          </a:bodyPr>
          <a:lstStyle/>
          <a:p>
            <a:pPr lvl="0" algn="r" rtl="1" hangingPunct="1"/>
            <a:r>
              <a:rPr lang="he-IL" sz="6000">
                <a:cs typeface="David" pitchFamily="34"/>
              </a:rPr>
              <a:t>קנאה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B3F5EF-EACE-636D-231C-2EB23953DB0A}"/>
              </a:ext>
            </a:extLst>
          </p:cNvPr>
          <p:cNvSpPr txBox="1"/>
          <p:nvPr/>
        </p:nvSpPr>
        <p:spPr>
          <a:xfrm>
            <a:off x="1920239" y="6471720"/>
            <a:ext cx="8160480" cy="7520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990066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אז איך מוצאים חלוקה ללא קנאה?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x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3437</TotalTime>
  <Words>1149</Words>
  <Application>Microsoft Office PowerPoint</Application>
  <PresentationFormat>Custom</PresentationFormat>
  <Paragraphs>175</Paragraphs>
  <Slides>21</Slides>
  <Notes>21</Notes>
  <HiddenSlides>1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Aptos</vt:lpstr>
      <vt:lpstr>Arial</vt:lpstr>
      <vt:lpstr>David</vt:lpstr>
      <vt:lpstr>Guttman Stam</vt:lpstr>
      <vt:lpstr>Liberation Sans</vt:lpstr>
      <vt:lpstr>Liberation Serif</vt:lpstr>
      <vt:lpstr>StarSymbol</vt:lpstr>
      <vt:lpstr>Times New Roman</vt:lpstr>
      <vt:lpstr>tx</vt:lpstr>
      <vt:lpstr>Default</vt:lpstr>
      <vt:lpstr>חלוקה הוגנת של קרקע Fair Division of Land אראל סגל-הלוי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חלוקת עוגה בין שני ילדים</vt:lpstr>
      <vt:lpstr>חלוקת עוגה בין שני ילדים</vt:lpstr>
      <vt:lpstr>אלגוריתם “חתוך ובחר”</vt:lpstr>
      <vt:lpstr>חלוקת עוגה – מודל כללי</vt:lpstr>
      <vt:lpstr>חלוקת עוגה ל-n אנשים</vt:lpstr>
      <vt:lpstr>חלוקה פרופורציונלית</vt:lpstr>
      <vt:lpstr>אלגוריתם המפחית האחרון</vt:lpstr>
      <vt:lpstr>אלגוריתם המפחית האחרון</vt:lpstr>
      <vt:lpstr>חלוקה פרופורציונלית מהירה</vt:lpstr>
      <vt:lpstr>אלגוריתם אבן-פז</vt:lpstr>
      <vt:lpstr>אלגוריתם אבן-פז</vt:lpstr>
      <vt:lpstr>אלגוריתם אבן-פז</vt:lpstr>
      <vt:lpstr>חלוקה פרופורציונלית מהירה</vt:lpstr>
      <vt:lpstr>אלגוריתם אבן-פז על נתוני אמת</vt:lpstr>
      <vt:lpstr>קנאה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שקופית 1</dc:title>
  <dc:creator>user</dc:creator>
  <cp:lastModifiedBy>Erel Segal-Halevi</cp:lastModifiedBy>
  <cp:revision>314</cp:revision>
  <dcterms:modified xsi:type="dcterms:W3CDTF">2026-10-18T13:40:20Z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12.0000</vt:lpwstr>
  </property>
  <property fmtid="{D5CDD505-2E9C-101B-9397-08002B2CF9AE}" pid="3" name="HiddenSlides">
    <vt:r8>0</vt:r8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r8>0</vt:r8>
  </property>
  <property fmtid="{D5CDD505-2E9C-101B-9397-08002B2CF9AE}" pid="7" name="Notes">
    <vt:r8>19</vt:r8>
  </property>
  <property fmtid="{D5CDD505-2E9C-101B-9397-08002B2CF9AE}" pid="8" name="PresentationFormat">
    <vt:lpwstr>מותאם אישית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r8>19</vt:r8>
  </property>
</Properties>
</file>